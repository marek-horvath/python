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9829800" y="68580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2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20" dirty="0"/>
          </a:p>
        </p:txBody>
      </p:sp>
      <p:sp>
        <p:nvSpPr>
          <p:cNvPr id="5" name="Text 3"/>
          <p:cNvSpPr/>
          <p:nvPr/>
        </p:nvSpPr>
        <p:spPr>
          <a:xfrm>
            <a:off x="749808" y="2066544"/>
            <a:ext cx="9921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GUI a event-driven programovanie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786384" y="3273552"/>
            <a:ext cx="8503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Keď poradie programu určuje používateľ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749808" y="5212080"/>
            <a:ext cx="224028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680192" y="6254496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24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Dva modely toku programu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713232" y="1883664"/>
            <a:ext cx="5010912" cy="0"/>
          </a:xfrm>
          <a:prstGeom prst="line">
            <a:avLst/>
          </a:prstGeom>
          <a:noFill/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Terminálový program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49808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input()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spracovanie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print()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koniec</a:t>
            </a:r>
            <a:endParaRPr lang="en-US" sz="1620" dirty="0"/>
          </a:p>
        </p:txBody>
      </p:sp>
      <p:sp>
        <p:nvSpPr>
          <p:cNvPr id="12" name="Shape 10"/>
          <p:cNvSpPr/>
          <p:nvPr/>
        </p:nvSpPr>
        <p:spPr>
          <a:xfrm>
            <a:off x="6373368" y="1883664"/>
            <a:ext cx="5010912" cy="0"/>
          </a:xfrm>
          <a:prstGeom prst="line">
            <a:avLst/>
          </a:prstGeom>
          <a:noFill/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139696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aplikácia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6409944" y="2688336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čaká na event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spustí callback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zmení stav alebo UI</a:t>
            </a:r>
            <a:endParaRPr lang="en-US" sz="1620" dirty="0"/>
          </a:p>
          <a:p>
            <a:pPr marL="228600" indent="-228600">
              <a:buSzPct val="100000"/>
              <a:buChar char="•"/>
            </a:pPr>
            <a:r>
              <a:rPr lang="en-US" sz="162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čaká znova</a:t>
            </a:r>
            <a:endParaRPr lang="en-US" sz="1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Event loop drží aplikáciu pri živote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vytvoriť okno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a update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Najmenšie funkčné okno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root.title("Text Analyzer")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root.geometry("520x280")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 mainloop() už nepíšeme sekvenčný program. Nasledujúce kroky spúšťajú eventy používateľa alebo systému.</a:t>
            </a:r>
            <a:endParaRPr lang="en-US" sz="17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Widget je objekt. Callback je funkcia, ktorú event loop zavolá neskôr.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Tento rozdiel je základom čitateľného GUI kódu.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command potrebuje funkciu, nie jej výsledok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command=analyze odovzdá funkciu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command=analyze() ju spustí už pri tvorbe tlačidla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dostane kontrolu až po kliknutí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print("Analyze clicked")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text="Analyzovať",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command=analyze,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Prvý krok Text Analyzeru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ttk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= ttk.Label(root, text="Zadajte text")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text="Analyzovať", command=analyze)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status.grid(row=0, column=0, sticky="w")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button.grid(row=1, column=0, pady=12)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ttk poskytuje systémovo ladené widgety. V príkladoch používame grid pre formulárové rozloženie.</a:t>
            </a:r>
            <a:endParaRPr lang="en-US" sz="17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grid vyjadruje vzťahy, nie súradnice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Button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2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Result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row 3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Vstup, callback, výstup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= ttk.Entry(root, width=48)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ttk.Label(root)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entry.get()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result.config(text=f"Počet znakov: {len(text)}")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entry.grid(row=1, column=0)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result.grid(row=3, column=0, sticky="w")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číta aktuálny stav widgetu a aktualizuje iný widget. Toto je jednoduchá forma toku stavu v GUI.</a:t>
            </a:r>
            <a:endParaRPr lang="en-US" sz="15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Enter je tiež event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 callback nemá argument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bind handler dostane event objekt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spoločná funkcia zabráni duplicite logiky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on_return(event: tk.Event) -&gt; None: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analyze()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entry.bind("&lt;Return&gt;", on_return)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tlačidlo stále používa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command=analyze</a:t>
            </a:r>
            <a:endParaRPr lang="en-US" sz="15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749808" y="1481328"/>
            <a:ext cx="10287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GUI callback nemá obsahovať celú aplikačnú logiku.</a:t>
            </a:r>
            <a:endParaRPr lang="en-US" sz="3300" dirty="0"/>
          </a:p>
        </p:txBody>
      </p:sp>
      <p:sp>
        <p:nvSpPr>
          <p:cNvPr id="9" name="Shape 7"/>
          <p:cNvSpPr/>
          <p:nvPr/>
        </p:nvSpPr>
        <p:spPr>
          <a:xfrm>
            <a:off x="768096" y="3438144"/>
            <a:ext cx="1280160" cy="91440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3858768"/>
            <a:ext cx="90068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 vieme logiku zavolať bez okna, vieme ju aj testovať a znovu použiť.</a:t>
            </a:r>
            <a:endParaRPr lang="en-US" sz="2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Čistá analýza textu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TextStats: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characters: int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words: int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lines: int</a:t>
            </a:r>
            <a:endParaRPr lang="en-US" sz="1380" dirty="0"/>
          </a:p>
          <a:p>
            <a:pPr algn="l" indent="0" marL="0">
              <a:buNone/>
            </a:pP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380" dirty="0"/>
          </a:p>
          <a:p>
            <a:pPr algn="l" indent="0" marL="0">
              <a:buNone/>
            </a:pPr>
            <a:r>
              <a:rPr lang="en-US" sz="138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TextStats(len(text), len(text.split()), text.count("\n") + 1 if text else 0)</a:t>
            </a:r>
            <a:endParaRPr lang="en-US" sz="138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Táto funkcia nepozná Entry, Label ani messagebox. GUI ju iba zavolá a zobrazí výsledok.</a:t>
            </a:r>
            <a:endParaRPr lang="en-US" sz="172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Callback iba koordinuje UI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stats = analyze_text(entry.get())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text=f"Slová: {stats.words}; riadky: {stats.lines}"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Oddelenie nie je MVC tutorial. Je to praktický spôsob, ako zmenšiť callback a overiť dôležitú logiku.</a:t>
            </a:r>
            <a:endParaRPr lang="en-US" sz="17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Validácia pri hranici používateľa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messagebox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entry.get().strip()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text: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messagebox.showerror("Chyba", "Zadajte text.")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result.config(text=str(analyze_text(text)))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Používateľský vstup môže byť prázdny alebo neplatný. Pred ďalším spracovaním ho validujeme na hranici UI.</a:t>
            </a:r>
            <a:endParaRPr lang="en-US" sz="17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Dialog je rozšírenie pracovného toku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 nie je chyba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cesta k súboru môže zlyhať pri čítaní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Path z prednášky 02 ostáva užitočný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filedialog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pathlib import Path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open_file()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filename = filedialog.askopenfilename(filetypes=[("Text", "*.txt")])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filename: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Path(filename).read_text(encoding="utf-8")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show_stats(analyze_text(text))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Prečo okno zamrzne?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Čo sa počas sleep() deje s event loopom?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2423160"/>
            <a:ext cx="7863840" cy="347472"/>
          </a:xfrm>
          <a:prstGeom prst="rect">
            <a:avLst/>
          </a:prstGeom>
          <a:solidFill>
            <a:srgbClr val="E7EEF4"/>
          </a:solidFill>
          <a:ln w="12700">
            <a:solidFill>
              <a:srgbClr val="E7EEF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2542032"/>
            <a:ext cx="7132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3" name="Text 11"/>
          <p:cNvSpPr/>
          <p:nvPr/>
        </p:nvSpPr>
        <p:spPr>
          <a:xfrm>
            <a:off x="896112" y="29718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on_click() -&gt; None: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time.sleep(5)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status.config(text="Done")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915400" y="2834640"/>
            <a:ext cx="2011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6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Blokujúci callback zastaví event loop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kliknutie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sleep / dlhá operácia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žiadny ďalší event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after naplánuje ďalší krok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datetime import datetime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update_clock()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status.config(text=datetime.now().strftime("%H:%M:%S"))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root.after(1000, update_clock)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update_clock()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vráti kontrolu event loopu. Nie je to náhrada pre CPU náročnú prácu, ale správny základ pre časované UI aktualizácie.</a:t>
            </a:r>
            <a:endParaRPr lang="en-US" sz="17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Entry je krátky vstup, Text je dokument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749808" y="1920240"/>
            <a:ext cx="416052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sa číta cez get()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potrebuje rozsah od 1.0 po end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 analyzátor dokumentu je Text prirodzenejší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5413248" y="1792224"/>
            <a:ext cx="5925312" cy="416052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1792224"/>
            <a:ext cx="5925312" cy="329184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41848" y="1901952"/>
            <a:ext cx="5394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1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10" dirty="0"/>
          </a:p>
        </p:txBody>
      </p:sp>
      <p:sp>
        <p:nvSpPr>
          <p:cNvPr id="13" name="Text 11"/>
          <p:cNvSpPr/>
          <p:nvPr/>
        </p:nvSpPr>
        <p:spPr>
          <a:xfrm>
            <a:off x="5641848" y="2331720"/>
            <a:ext cx="5340096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 = tk.Text(root, width=58, height=10)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editor.grid(row=1, column=0)</a:t>
            </a:r>
            <a:endParaRPr lang="en-US" sz="1520" dirty="0"/>
          </a:p>
          <a:p>
            <a:pPr algn="l" indent="0" marL="0">
              <a:buNone/>
            </a:pP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analyze_editor() -&gt; None: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editor.get("1.0", "end-1c")</a:t>
            </a:r>
            <a:endParaRPr lang="en-US" sz="1520" dirty="0"/>
          </a:p>
          <a:p>
            <a:pPr algn="l" indent="0" marL="0">
              <a:buNone/>
            </a:pPr>
            <a:r>
              <a:rPr lang="en-US" sz="152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show_stats(analyze_text(text))</a:t>
            </a:r>
            <a:endParaRPr lang="en-US" sz="152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StringVar je pozorovateľný stav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tk.StringVar(value="Bez súboru")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textvariable=filename)</a:t>
            </a:r>
            <a:endParaRPr lang="en-US" sz="1600" dirty="0"/>
          </a:p>
          <a:p>
            <a:pPr algn="l" indent="0" marL="0">
              <a:buNone/>
            </a:pP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set_file(path: Path) -&gt; None: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filename.set(path.name)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StringVar nie je povinný pre každý widget. Pomáha tam, kde má stav viac pozorovateľov alebo väzieb.</a:t>
            </a:r>
            <a:endParaRPr lang="en-US" sz="172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Súbor môže zlyhať aj po výbere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try: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 = Path(filename).read_text(encoding="utf-8")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except OSError as error: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messagebox.showerror(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"Čítanie súboru", str(error)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editor.delete("1.0", "end")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editor.insert("1.0", text)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Výber súboru neznamená, že ho vieme prečítať. Ošetrujeme chybu priamo pri I/O operácii.</a:t>
            </a:r>
            <a:endParaRPr lang="en-US" sz="1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Canvas reaguje na súradnice eventu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9494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kliknutie myšou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23240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0672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1645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event.x / event.y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04418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318504" y="2834640"/>
            <a:ext cx="2400300" cy="1042416"/>
          </a:xfrm>
          <a:prstGeom prst="rect">
            <a:avLst/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2823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85596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30284" y="2834640"/>
            <a:ext cx="2400300" cy="1042416"/>
          </a:xfrm>
          <a:prstGeom prst="rect">
            <a:avLst/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40012" y="3063240"/>
            <a:ext cx="218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nakreslený objekt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Jednoduchý Canvas event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903720" cy="4069080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828800"/>
            <a:ext cx="6903720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1947672"/>
            <a:ext cx="6309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77824" y="2359152"/>
            <a:ext cx="6382512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= tk.Canvas(root, width=360, height=180)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draw_circle(event: tk.Event) -&gt; None: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 = event.x, event.y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canvas.create_oval(x - 8, y - 8, x + 8, y + 8, fill="#1877B9")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canvas.bind("&lt;Button-1&gt;", draw_circle)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936992" y="1883664"/>
            <a:ext cx="0" cy="3639312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2084832"/>
            <a:ext cx="2816352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objekt nesie kontext udalosti. Ten istý callback môže reagovať na kliknutia na rôznych miestach.</a:t>
            </a:r>
            <a:endParaRPr lang="en-US" sz="172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10896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80" b="1" spc="5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880" dirty="0"/>
          </a:p>
        </p:txBody>
      </p:sp>
      <p:sp>
        <p:nvSpPr>
          <p:cNvPr id="4" name="Text 2"/>
          <p:cNvSpPr/>
          <p:nvPr/>
        </p:nvSpPr>
        <p:spPr>
          <a:xfrm>
            <a:off x="9829800" y="310896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8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88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71632" y="6501384"/>
            <a:ext cx="8046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24</a:t>
            </a:r>
            <a:endParaRPr lang="en-US" sz="780" dirty="0"/>
          </a:p>
        </p:txBody>
      </p:sp>
      <p:sp>
        <p:nvSpPr>
          <p:cNvPr id="8" name="Text 6"/>
          <p:cNvSpPr/>
          <p:nvPr/>
        </p:nvSpPr>
        <p:spPr>
          <a:xfrm>
            <a:off x="658368" y="914400"/>
            <a:ext cx="10881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850" b="1" dirty="0">
                <a:solidFill>
                  <a:srgbClr val="16324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Text Analyzer ako malá aplikácia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658368" y="1755648"/>
            <a:ext cx="10899648" cy="4096512"/>
          </a:xfrm>
          <a:prstGeom prst="rect">
            <a:avLst/>
          </a:prstGeom>
          <a:solidFill>
            <a:srgbClr val="17212B"/>
          </a:solidFill>
          <a:ln w="12700">
            <a:solidFill>
              <a:srgbClr val="24324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1755648"/>
            <a:ext cx="10899648" cy="347472"/>
          </a:xfrm>
          <a:prstGeom prst="rect">
            <a:avLst/>
          </a:prstGeom>
          <a:solidFill>
            <a:srgbClr val="223044"/>
          </a:solidFill>
          <a:ln w="12700">
            <a:solidFill>
              <a:srgbClr val="2230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1874520"/>
            <a:ext cx="9966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20" b="1" spc="35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</a:t>
            </a:r>
            <a:endParaRPr lang="en-US" sz="820" dirty="0"/>
          </a:p>
        </p:txBody>
      </p:sp>
      <p:sp>
        <p:nvSpPr>
          <p:cNvPr id="12" name="Text 10"/>
          <p:cNvSpPr/>
          <p:nvPr/>
        </p:nvSpPr>
        <p:spPr>
          <a:xfrm>
            <a:off x="896112" y="2304288"/>
            <a:ext cx="9921240" cy="3127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ui.py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vytvorí widgety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spracuje eventy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zobrazí výsledok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analysis.py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TextStats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analyze_text()</a:t>
            </a:r>
            <a:endParaRPr lang="en-US" sz="1500" dirty="0"/>
          </a:p>
          <a:p>
            <a:pPr algn="l" indent="0" marL="0">
              <a:buNone/>
            </a:pP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files.py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načíta text cez Path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68096" y="6053328"/>
            <a:ext cx="9921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2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GUI, logika a prístup k súborom majú odlišné dôvody na zmenu. Aj malý program získa jasnejšie hranice.</a:t>
            </a:r>
            <a:endParaRPr lang="en-US" sz="15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 a event-driven programovanie</dc:title>
  <dc:subject>Programovanie v Pythone</dc:subject>
  <dc:creator>TUKE FEI</dc:creator>
  <cp:lastModifiedBy>TUKE FEI</cp:lastModifiedBy>
  <cp:revision>1</cp:revision>
  <dcterms:created xsi:type="dcterms:W3CDTF">2026-09-15T21:51:33Z</dcterms:created>
  <dcterms:modified xsi:type="dcterms:W3CDTF">2026-09-15T21:51:33Z</dcterms:modified>
</cp:coreProperties>
</file>