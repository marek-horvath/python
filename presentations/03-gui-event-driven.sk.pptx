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a event-driven programovanie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čaká na používateľa, nie na ďalší riadok kódu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Cieľ prednášky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porozumieť event loopu a callbackom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postaviť malé Tkinter/ttk okno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oddeliť UI od aplikačnej logiky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použiť udalosti, dialógy a Canvas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Lineárny program a GUI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Terminál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 → spracovanie → output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poradie krokov určuje program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 skončí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používateľ si vyberá ďalšiu akciu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kliknutie, kláves, výber súboru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aplikácia zostáva otvorená</a:t>
            </a:r>
            <a:endParaRPr lang="en-US" sz="1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Terminálový program má pevné poradie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 = input("Meno: 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print(f"Ahoj {name}")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Tento program vie, čo bude nasledovať. GUI to vedieť nemôže.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loop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Najdôležitejší model celej prednášky.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Ako GUI reaguje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vytvorenie okna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mainloop()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udalosť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Pojmy, ktoré potrebujeme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widget: prvok rozhrania, napríklad Button alebo Entry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event: kliknutie, stlačenie klávesu alebo zmena hodnoty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callback: funkcia zavolaná po udalosti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state: údaje, ktoré si aplikácia pamätá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Prvé okno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tkinter as tk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= tk.Tk()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root.title("Moja aplikácia")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root.mainloop()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mainloop() neukončuje program. Odovzdá riadenie event loopu.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Widgety a callbacky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Tkinter je nástroj na vysvetlenie modelu, nie jediný GUI framework.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Label a Button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ttk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= ttk.Label(root, text="Ahoj")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label.pack()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ttk.Button(root, text="Klikni")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button.pack()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ttk poskytuje themed widgety. V príkladoch ho používame tam, kde je vhodný.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 odovzdávame, nevoláme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say_hello()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print("Ahoj")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text="Klikni",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command=say_hello,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command=say_hello odovzdá funkciu. command=say_hello() ju zavolá hneď pri tvorbe tlačidla.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Otázka: kedy sa funkcia zavolá?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694944" y="1709928"/>
            <a:ext cx="9235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Porovnajte tieto dva zápisy ešte pred spustením.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58368" y="2423160"/>
            <a:ext cx="7863840" cy="3154680"/>
          </a:xfrm>
          <a:prstGeom prst="roundRect">
            <a:avLst>
              <a:gd name="adj" fmla="val 1739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6112" y="2651760"/>
            <a:ext cx="7132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896112" y="2990088"/>
            <a:ext cx="71323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command=save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1821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command=save()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915400" y="288036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Najprv si odpoveď zdôvodnite. Potom kód spustite.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 aktualizuje UI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say_hello()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label.config(text="Ahoj!")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 = ttk.Label(root, text="Čakám")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 = ttk.Button(root, text="Pozdraviť", command=say_hello)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Udalosť spustí callback; callback zmení stav alebo widget; UI zobrazí nový výsledok.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Vstup, layout a stav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Malý formulár už ukáže všetky základné vzťahy.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a výsledok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 = ttk.Entry(root)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ttk.Label(root, text="")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greet()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 = entry.get().strip()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result.config(text=f"Ahoj, {name}!")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z Entry čítame v momente udalosti, nie pri jeho vytvorení.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grid() pre formulár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31520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Meno: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319272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93592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739896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181344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55664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F3F6F8"/>
          </a:solidFill>
          <a:ln w="12700">
            <a:solidFill>
              <a:srgbClr val="D8E0E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01968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Email: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9043416" y="3209544"/>
            <a:ext cx="182880" cy="292608"/>
          </a:xfrm>
          <a:prstGeom prst="chevron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317736" y="2834640"/>
            <a:ext cx="2450592" cy="1042416"/>
          </a:xfrm>
          <a:prstGeom prst="roundRect">
            <a:avLst>
              <a:gd name="adj" fmla="val 4386"/>
            </a:avLst>
          </a:prstGeom>
          <a:solidFill>
            <a:srgbClr val="EAF3F7"/>
          </a:solidFill>
          <a:ln w="12700">
            <a:solidFill>
              <a:srgbClr val="9DCC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64040" y="3063240"/>
            <a:ext cx="21579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Uložiť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Základ grid layoutu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ttk.Label(root, text="Meno:").grid(row=0, column=0, padx=8, pady=8)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entry.grid(row=0, column=1, padx=8, pady=8)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button.grid(row=1, column=1, sticky="e")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 jednom kontajneri nemiešajte pack() a grid().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Stav aplikácie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v Entry je stav rozhrania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selected_file je stav vybraného vstupu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výsledok analýzy je aplikačný stav</a:t>
            </a:r>
            <a:endParaRPr lang="en-US" sz="1800" dirty="0"/>
          </a:p>
          <a:p>
            <a:pPr marL="228600" indent="-228600">
              <a:buSzPct val="100000"/>
              <a:buChar char="•"/>
            </a:pPr>
            <a:r>
              <a:rPr lang="en-US" sz="18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StringVar a BooleanVar sú pomocné prepojenia, nie povinnosť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Events a dialógy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Tlačidlo nie je jediný zdroj udalosti.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Enter spustí tú istú akciu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submit(event=None)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greet()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button.config(command=submit)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entry.bind("&lt;Return&gt;", submit)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Handler z bind dostane event argument. Default None dovolí použiť tú istú funkciu aj pre command.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Súborový dialóg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filedialog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filename = filedialog.askopenfilename(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filetypes=[("Text files", "*.txt")],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filename: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print(filename)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Cancel nie je chyba. Používateľ jednoducho nevybral súbor.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Analyzer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zmysluplne prepája Prednášku 02 a Prednášku 03.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Logika mimo callbacku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dataclasses import dataclass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TextStats: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lines: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words: int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characters: int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analyze_text(text: str) -&gt; TextStats: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TextStats(text.count("\n") + 1, len(text.split()), len(text))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Táto funkcia sa dá testovať bez okna. Callback má len koordinovať vstup a výstup.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24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logika a aplikačná logika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713232" y="1874520"/>
            <a:ext cx="5010912" cy="109728"/>
          </a:xfrm>
          <a:prstGeom prst="rect">
            <a:avLst/>
          </a:prstGeom>
          <a:solidFill>
            <a:srgbClr val="167C80"/>
          </a:solidFill>
          <a:ln w="12700">
            <a:solidFill>
              <a:srgbClr val="167C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Callback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768096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prečíta widget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otvorí dialóg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aktualizuje Label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6373368" y="1874520"/>
            <a:ext cx="5010912" cy="109728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73368" y="2212848"/>
            <a:ext cx="50109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Funkcia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428232" y="2788920"/>
            <a:ext cx="4919472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spracuje text alebo dáta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vráti výsledok</a:t>
            </a:r>
            <a:endParaRPr lang="en-US" sz="1650" dirty="0"/>
          </a:p>
          <a:p>
            <a:pPr marL="228600" indent="-228600">
              <a:buSzPct val="100000"/>
              <a:buChar char="•"/>
            </a:pPr>
            <a:r>
              <a:rPr lang="en-US" sz="165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dá sa samostatne testovať</a:t>
            </a:r>
            <a:endParaRPr lang="en-US" sz="16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Validácia v GUI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tkinter import messagebox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read_age() -&gt; int |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try: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int(entry.get())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except ValueError: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messagebox.showerror("Chybný vstup", "Zadajte celé číslo.")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return None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Výnimku premeníme na správu, ktorej používateľ rozumie.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713232" y="1353312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877B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201168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7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Canvas a čas</a:t>
            </a:r>
            <a:endParaRPr lang="en-US" sz="3700" dirty="0"/>
          </a:p>
        </p:txBody>
      </p:sp>
      <p:sp>
        <p:nvSpPr>
          <p:cNvPr id="10" name="Text 8"/>
          <p:cNvSpPr/>
          <p:nvPr/>
        </p:nvSpPr>
        <p:spPr>
          <a:xfrm>
            <a:off x="749808" y="306324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loop spracúva aj myš a naplánované udalosti.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31520" y="3977640"/>
            <a:ext cx="2834640" cy="128016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Kliknutie kreslí kruh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 = tk.Canvas(root, width=500, height=300)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draw_circle(event)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x, y = event.x, event.y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canvas.create_oval(x - 12, y - 12, x + 12, y + 12, fill="#1877B9")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canvas.bind("&lt;Button-1&gt;", draw_circle)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nesie súradnice kliknutia. Callback ich použije pri kreslení.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after() namiesto sleep()</a:t>
            </a:r>
            <a:endParaRPr lang="en-US" sz="2900" dirty="0"/>
          </a:p>
        </p:txBody>
      </p:sp>
      <p:sp>
        <p:nvSpPr>
          <p:cNvPr id="9" name="Shape 7"/>
          <p:cNvSpPr/>
          <p:nvPr/>
        </p:nvSpPr>
        <p:spPr>
          <a:xfrm>
            <a:off x="658368" y="1828800"/>
            <a:ext cx="6812280" cy="4069080"/>
          </a:xfrm>
          <a:prstGeom prst="roundRect">
            <a:avLst>
              <a:gd name="adj" fmla="val 1348"/>
            </a:avLst>
          </a:prstGeom>
          <a:solidFill>
            <a:srgbClr val="17212B"/>
          </a:solidFill>
          <a:ln w="12700">
            <a:solidFill>
              <a:srgbClr val="1721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029968"/>
            <a:ext cx="630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spc="70" kern="0" dirty="0">
                <a:solidFill>
                  <a:srgbClr val="8FD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877824" y="2395728"/>
            <a:ext cx="6327648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update_clock() -&gt; None: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clock.config(text=time.strftime("%H:%M:%S"))</a:t>
            </a: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root.after(1000, update_clock)</a:t>
            </a:r>
            <a:endParaRPr lang="en-US" sz="1650" dirty="0"/>
          </a:p>
          <a:p>
            <a:pPr algn="l" indent="0" marL="0">
              <a:buNone/>
            </a:pPr>
            <a:endParaRPr lang="en-US" sz="1650" dirty="0"/>
          </a:p>
          <a:p>
            <a:pPr algn="l" indent="0" marL="0">
              <a:buNone/>
            </a:pPr>
            <a:r>
              <a:rPr lang="en-US" sz="1650" dirty="0">
                <a:solidFill>
                  <a:srgbClr val="F4F7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update_clock()</a:t>
            </a:r>
            <a:endParaRPr lang="en-US" sz="1650" dirty="0"/>
          </a:p>
        </p:txBody>
      </p:sp>
      <p:sp>
        <p:nvSpPr>
          <p:cNvPr id="12" name="Shape 10"/>
          <p:cNvSpPr/>
          <p:nvPr/>
        </p:nvSpPr>
        <p:spPr>
          <a:xfrm>
            <a:off x="7909560" y="1901952"/>
            <a:ext cx="0" cy="3566160"/>
          </a:xfrm>
          <a:prstGeom prst="line">
            <a:avLst/>
          </a:prstGeom>
          <a:noFill/>
          <a:ln w="12700">
            <a:solidFill>
              <a:srgbClr val="1877B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130552"/>
            <a:ext cx="27432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time.sleep() v callbacku zablokuje event loop a okno prestane reagovať.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55448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320040"/>
            <a:ext cx="4663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8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9829800" y="320040"/>
            <a:ext cx="1783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PREDNÁŠKA 03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66928" y="65836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6419088"/>
            <a:ext cx="11045952" cy="0"/>
          </a:xfrm>
          <a:prstGeom prst="line">
            <a:avLst/>
          </a:prstGeom>
          <a:noFill/>
          <a:ln w="12700">
            <a:solidFill>
              <a:srgbClr val="D8E0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109960" y="6501384"/>
            <a:ext cx="45720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658368" y="932688"/>
            <a:ext cx="10789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Zhrnutie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868680" y="1938528"/>
            <a:ext cx="9921240" cy="3886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GUI je event-driven: reaguje na udalosti v ľubovoľnom poradí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mainloop() čaká; callbacky robia krátku konkrétnu prácu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aplikačná logika má byť mimo widgetov</a:t>
            </a:r>
            <a:endParaRPr lang="en-US" sz="1900" dirty="0"/>
          </a:p>
          <a:p>
            <a:pPr marL="228600" indent="-228600">
              <a:buSzPct val="100000"/>
              <a:buChar char="•"/>
            </a:pPr>
            <a:r>
              <a:rPr lang="en-US" sz="1900" dirty="0">
                <a:solidFill>
                  <a:srgbClr val="18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event loop je všeobecný koncept aj mimo Tkinter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7744" cy="6858000"/>
          </a:xfrm>
          <a:prstGeom prst="rect">
            <a:avLst/>
          </a:prstGeom>
          <a:solidFill>
            <a:srgbClr val="1877B9"/>
          </a:solidFill>
          <a:ln w="12700">
            <a:solidFill>
              <a:srgbClr val="1877B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49808" y="6858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10" kern="0" dirty="0">
                <a:solidFill>
                  <a:srgbClr val="1877B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PROGRAMOVANIE V PYTHONE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749808" y="2148840"/>
            <a:ext cx="9784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Ďalej: Testovanie, debugging a kvalita kódu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786384" y="3310128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Ako overiť funkcie, ktoré vznikli v scriptoch aj GUI aplikáciách.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49808" y="5193792"/>
            <a:ext cx="2560320" cy="118872"/>
          </a:xfrm>
          <a:prstGeom prst="rect">
            <a:avLst/>
          </a:prstGeom>
          <a:solidFill>
            <a:srgbClr val="E0A03A"/>
          </a:solidFill>
          <a:ln w="12700">
            <a:solidFill>
              <a:srgbClr val="E0A0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E6B7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TUKE FEI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927080" y="6254496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5E6B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Technická univerzita v Košiciach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GUI a event-driven programovanie</dc:title>
  <dc:subject>Programovanie v Pythone</dc:subject>
  <dc:creator>TUKE FEI</dc:creator>
  <cp:lastModifiedBy>TUKE FEI</cp:lastModifiedBy>
  <cp:revision>1</cp:revision>
  <dcterms:created xsi:type="dcterms:W3CDTF">2026-09-15T18:58:33Z</dcterms:created>
  <dcterms:modified xsi:type="dcterms:W3CDTF">2026-09-15T18:58:33Z</dcterms:modified>
</cp:coreProperties>
</file>