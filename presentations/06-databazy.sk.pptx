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06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1874520"/>
            <a:ext cx="106070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9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Databázy v Pythone</a:t>
            </a:r>
            <a:endParaRPr lang="en-US" sz="3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06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5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 potrebuje dáta aj po ďalšom spustení</a:t>
            </a:r>
            <a:endParaRPr lang="en-US" sz="3500" dirty="0"/>
          </a:p>
        </p:txBody>
      </p:sp>
      <p:sp>
        <p:nvSpPr>
          <p:cNvPr id="5" name="Text 3"/>
          <p:cNvSpPr/>
          <p:nvPr/>
        </p:nvSpPr>
        <p:spPr>
          <a:xfrm>
            <a:off x="713232" y="1508760"/>
            <a:ext cx="886968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Premenná žije iba počas behu programu. Ak aplikácia eviduje používateľov, výsledky, objednávky alebo nastavenia, potrebuje spoľahlivú persistenciu.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68680" y="2468880"/>
            <a:ext cx="9326880" cy="4206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CSV a JSON sú užitočné pri výmene dát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databáza je lepšia pri častom vyhľadávaní a zmenách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konzistencia dát nemá stáť iba na disciplíne programátora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06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Súbor a databáza riešia iný problém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63040"/>
            <a:ext cx="4892040" cy="0"/>
          </a:xfrm>
          <a:prstGeom prst="line">
            <a:avLst/>
          </a:prstGeom>
          <a:noFill/>
          <a:ln w="12700">
            <a:solidFill>
              <a:srgbClr val="0B6B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664208"/>
            <a:ext cx="489204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CSV / JSON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50392" y="2148840"/>
            <a:ext cx="4709160" cy="3200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jednoduchý import alebo export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ľahko čitateľný formát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horšia práca so vzťahmi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zmeny často rieši celý program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806440" y="1463040"/>
            <a:ext cx="4892040" cy="0"/>
          </a:xfrm>
          <a:prstGeom prst="line">
            <a:avLst/>
          </a:prstGeom>
          <a:noFill/>
          <a:ln w="12700">
            <a:solidFill>
              <a:srgbClr val="0B6B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806440" y="1664208"/>
            <a:ext cx="489204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Databáza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5943600" y="2148840"/>
            <a:ext cx="4709160" cy="3200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dotazy nad veľkým množstvom riadkov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vzťahy medzi tabuľkami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constraints a transakcie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efektívne čiastočné zmeny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06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Stačí ešte JSON?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13232" y="1444752"/>
            <a:ext cx="94183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Máme 20 000 výsledkov študentov. Potrebujeme filtrovať podľa predmetu, meniť body, počítať priemery a strážiť duplicity. Kde začína byť databáza rozumnejšia voľba?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06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Relačný model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2606040"/>
            <a:ext cx="169164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6384" y="2770632"/>
            <a:ext cx="1545336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tables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532888" y="2606040"/>
            <a:ext cx="169164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606040" y="2770632"/>
            <a:ext cx="1545336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rows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352544" y="2606040"/>
            <a:ext cx="169164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25696" y="2770632"/>
            <a:ext cx="1545336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columns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172200" y="2606040"/>
            <a:ext cx="169164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45352" y="2770632"/>
            <a:ext cx="1545336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991856" y="2606040"/>
            <a:ext cx="169164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65008" y="2770632"/>
            <a:ext cx="1545336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relationships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9811512" y="2606040"/>
            <a:ext cx="169164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884664" y="2770632"/>
            <a:ext cx="1545336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queries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06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Dáta majú štruktúru</a:t>
            </a:r>
            <a:endParaRPr lang="en-US" sz="2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13232" y="1481328"/>
          <a:ext cx="10789920" cy="4389120"/>
        </p:xfrm>
        <a:graphic>
          <a:graphicData uri="http://schemas.openxmlformats.org/drawingml/2006/table">
            <a:tbl>
              <a:tblPr/>
              <a:tblGrid>
                <a:gridCol w="3596640"/>
                <a:gridCol w="3596640"/>
                <a:gridCol w="3596640"/>
              </a:tblGrid>
              <a:tr h="8778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student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course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points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Anna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Python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Peter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Python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Anna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Databázy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Lucia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Python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06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5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SQLite: databáza v jednom súbore</a:t>
            </a:r>
            <a:endParaRPr lang="en-US" sz="3500" dirty="0"/>
          </a:p>
        </p:txBody>
      </p:sp>
      <p:sp>
        <p:nvSpPr>
          <p:cNvPr id="5" name="Text 3"/>
          <p:cNvSpPr/>
          <p:nvPr/>
        </p:nvSpPr>
        <p:spPr>
          <a:xfrm>
            <a:off x="713232" y="1508760"/>
            <a:ext cx="886968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SQLite je relačná databáza bez samostatného servera. Python program pracuje napríklad so súborom course_results.db.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68680" y="2468880"/>
            <a:ext cx="9326880" cy="4206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vhodná na výučbu, prototypy a menšie aplikácie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používa SQL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 Pythone je dostupná cez modul sqlite3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06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Mentálny model SQLite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2606040"/>
            <a:ext cx="2055571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6384" y="2770632"/>
            <a:ext cx="1909267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program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896819" y="2606040"/>
            <a:ext cx="2055571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969971" y="2770632"/>
            <a:ext cx="1909267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sqlite3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80406" y="2606040"/>
            <a:ext cx="2055571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153558" y="2770632"/>
            <a:ext cx="1909267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 query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263994" y="2606040"/>
            <a:ext cx="2055571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37146" y="2770632"/>
            <a:ext cx="1909267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course_results.db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9447581" y="2606040"/>
            <a:ext cx="2055571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520733" y="2770632"/>
            <a:ext cx="1909267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rows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06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1965960"/>
            <a:ext cx="950976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sqlite3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713232" y="338328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Najprv budeme SQL vidieť priamo.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06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Pripojenie k databáze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66751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63825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database.py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63459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sqlite3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connection = sqlite3.connect("course_results.db")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cursor = connection.cursor()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connection.close()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726680" y="1581912"/>
            <a:ext cx="3474720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connect() otvorí databázový súbor. Ak neexistuje, SQLite ho vytvorí.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06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Schéma tabuľky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66751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63825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63459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 TABLE students (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id INTEGER PRIMARY KEY,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 TEXT NOT NULL,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email TEXT UNIQUE NOT NULL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726680" y="1581912"/>
            <a:ext cx="3474720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Tabuľka definuje stĺpce, dátové typy a pravidlá, ktoré má databáza strážiť.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06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 spúšťame z Pythonu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create_schema.py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sqlite3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connection = sqlite3.connect("course_results.db")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connection.execute("""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CREATE TABLE IF NOT EXISTS students (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id INTEGER PRIMARY KEY,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name TEXT NOT NULL,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email TEXT UNIQUE NOT NULL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""")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connection.commit()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connection.close()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06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INSERT pridá riadok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66751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63825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insert_student.py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63459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connection.execute(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INSERT INTO students (name, email)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VALUES (?, ?)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""",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("Anna", "anna@example.com"),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connection.commit()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726680" y="1581912"/>
            <a:ext cx="3474720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Hodnoty vkladáme ako parametre, nie skladaním SQL stringu.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06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F-string do SQL nepatrí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5230368" cy="4663440"/>
          </a:xfrm>
          <a:prstGeom prst="rect">
            <a:avLst/>
          </a:prstGeom>
          <a:solidFill>
            <a:srgbClr val="10151F"/>
          </a:solidFill>
          <a:ln w="12700">
            <a:solidFill>
              <a:srgbClr val="9F1D1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krehké a nebezpečné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4901184" cy="40416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 = "Anna"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connection.execute(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f"SELECT * FROM students WHERE name = '{name}'"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72784" y="1444752"/>
            <a:ext cx="5230368" cy="4663440"/>
          </a:xfrm>
          <a:prstGeom prst="rect">
            <a:avLst/>
          </a:prstGeom>
          <a:solidFill>
            <a:srgbClr val="10151F"/>
          </a:solidFill>
          <a:ln w="12700">
            <a:solidFill>
              <a:srgbClr val="0A6A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19088" y="1536192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parametrizované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6437376" y="1975104"/>
            <a:ext cx="4901184" cy="40416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 = "Anna"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connection.execute(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"SELECT * FROM students WHERE name = ?",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(name,),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06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Kto skladá SQL?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13232" y="1444752"/>
            <a:ext cx="94183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 používateľský input vložíme priamo do SQL stringu, zostáva input iba hodnotou, alebo môže meniť štruktúru dotazu?</a:t>
            </a:r>
            <a:endParaRPr lang="en-US" sz="17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06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 číta riadky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66751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63825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select_students.py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63459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cursor = connection.execute(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"SELECT id, name, email FROM students ORDER BY name"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row in cursor: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print(row)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726680" y="1581912"/>
            <a:ext cx="3474720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Výsledok dotazu môžeme načítať naraz alebo cez neho iterovať.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06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`fetchone()` môže vrátiť `None`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find_student.py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row = connection.execute(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"SELECT id, name FROM students WHERE email = ?",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("anna@example.com",),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).fetchone()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row is None: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print("Študent neexistuje")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else: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print(row[1])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06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Riadok nemusí byť iba tuple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66751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63825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row_factory.py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63459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connection = sqlite3.connect("course_results.db")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connection.row_factory = sqlite3.Row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row = connection.execute(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"SELECT id, name, email FROM students WHERE id = ?",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(1,),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).fetchone()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print(row["name"])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726680" y="1581912"/>
            <a:ext cx="3474720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sqlite3.Row dovolí pristupovať k stĺpcom podľa názvu.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06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CRUD je slovník základných operácií</a:t>
            </a:r>
            <a:endParaRPr lang="en-US" sz="28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13232" y="1481328"/>
          <a:ext cx="10789920" cy="4389120"/>
        </p:xfrm>
        <a:graphic>
          <a:graphicData uri="http://schemas.openxmlformats.org/drawingml/2006/table">
            <a:tbl>
              <a:tblPr/>
              <a:tblGrid>
                <a:gridCol w="5394960"/>
                <a:gridCol w="5394960"/>
              </a:tblGrid>
              <a:tr h="8778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Operácia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SQL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Create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INSERT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SELECT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Update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UPDATE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Delete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DELETE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06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Parametre patria aj do SELECT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query_results.py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course = "Python"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minimum_points = 50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rows = connection.execute(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SELECT student_name, points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FROM results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WHERE course = ? AND points &gt;= ?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ORDER BY points DESC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""",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(course, minimum_points),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).fetchall()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06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Commit potvrdí zmenu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2606040"/>
            <a:ext cx="2601468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6384" y="2770632"/>
            <a:ext cx="2455164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INSERT / UPDATE / DELETE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442716" y="2606040"/>
            <a:ext cx="2601468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15868" y="2770632"/>
            <a:ext cx="2455164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pending change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172200" y="2606040"/>
            <a:ext cx="2601468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45352" y="2770632"/>
            <a:ext cx="2455164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commit()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901684" y="2606040"/>
            <a:ext cx="2601468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974836" y="2770632"/>
            <a:ext cx="2455164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saved in database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06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Čo ak chýba `commit()`?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13232" y="1444752"/>
            <a:ext cx="94183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 vykoná INSERT, potom zavrie connection. Prečo nemusí byť nový riadok v databáze uložený?</a:t>
            </a:r>
            <a:endParaRPr lang="en-US" sz="17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06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5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Rollback zruší nedokončenú zmenu</a:t>
            </a:r>
            <a:endParaRPr lang="en-US" sz="3500" dirty="0"/>
          </a:p>
        </p:txBody>
      </p:sp>
      <p:sp>
        <p:nvSpPr>
          <p:cNvPr id="5" name="Text 3"/>
          <p:cNvSpPr/>
          <p:nvPr/>
        </p:nvSpPr>
        <p:spPr>
          <a:xfrm>
            <a:off x="713232" y="1508760"/>
            <a:ext cx="886968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 séria databázových zmien zlyhá uprostred, rollback() vráti databázu do konzistentného stavu pred transakciou.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68680" y="2468880"/>
            <a:ext cx="9326880" cy="4206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vložiť študenta a jeho výsledok je jedna logická operácia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polovične uložená operácia býva horšia než žiadna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transakcia dáva operácii vlastnosť all-or-nothing</a:t>
            </a:r>
            <a:endParaRPr lang="en-US" sz="1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06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Connection ako context manager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66751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63825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with_connection.py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63459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sqlite3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 sqlite3.connect("course_results.db") as connection: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connection.execute(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"INSERT INTO students (name, email) VALUES (?, ?)",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("Anna", "anna@example.com"),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726680" y="1581912"/>
            <a:ext cx="3474720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pri úspechu potvrdí transakciu, pri chybe ju vráti späť.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06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All-or-nothing v praxi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transaction.py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try: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with sqlite3.connect("course_results.db") as connection: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connection.execute("INSERT INTO students (name) VALUES (?)", ("Anna",))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connection.execute(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"INSERT INTO results (student_id, points) VALUES (?, ?)",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(1, 92),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)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except sqlite3.Error as error: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print(f"Databázová chyba: {error}")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26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06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Databáza môže strážiť pravidlá</a:t>
            </a:r>
            <a:endParaRPr lang="en-US" sz="28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13232" y="1481328"/>
          <a:ext cx="10789920" cy="4389120"/>
        </p:xfrm>
        <a:graphic>
          <a:graphicData uri="http://schemas.openxmlformats.org/drawingml/2006/table">
            <a:tbl>
              <a:tblPr/>
              <a:tblGrid>
                <a:gridCol w="5394960"/>
                <a:gridCol w="5394960"/>
              </a:tblGrid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Constraint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Význam v aplikácii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PRIMARY KEY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jednoznačná identita riadku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NULL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hodnota musí existovať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UNIQUE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email sa neopakuje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CHECK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body sú v povolenom rozsahu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FOREIGN KEY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výsledok patrí existujúcemu študentovi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27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06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Kde má byť kontrola?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13232" y="1444752"/>
            <a:ext cx="94183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 email musí byť unikátny, stačí kontrola v Python kóde, alebo má pravidlo poznať aj databáza?</a:t>
            </a:r>
            <a:endParaRPr lang="en-US" sz="17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28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06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Vzťahy medzi tabuľkami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2606040"/>
            <a:ext cx="2055571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6384" y="2770632"/>
            <a:ext cx="1909267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896819" y="2606040"/>
            <a:ext cx="2055571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969971" y="2770632"/>
            <a:ext cx="1909267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80406" y="2606040"/>
            <a:ext cx="2055571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153558" y="2770632"/>
            <a:ext cx="1909267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courses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263994" y="2606040"/>
            <a:ext cx="2055571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37146" y="2770632"/>
            <a:ext cx="1909267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foreign keys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9447581" y="2606040"/>
            <a:ext cx="2055571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520733" y="2770632"/>
            <a:ext cx="1909267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JOIN</a:t>
            </a:r>
            <a:endParaRPr lang="en-US" sz="14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29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06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Výsledok odkazuje na študenta aj predmet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 TABLE results (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id INTEGER PRIMARY KEY,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student_id INTEGER NOT NULL,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course_id INTEGER NOT NULL,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points INTEGER NOT NULL,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FOREIGN KEY (student_id) REFERENCES students(id),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FOREIGN KEY (course_id) REFERENCES courses(id)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06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JOIN spojí viac tabuliek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students.name, courses.title, results.points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results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JOIN students ON students.id = results.student_id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JOIN courses ON courses.id = results.course_id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 courses.title = 'Python'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ORDER BY results.points DESC;</a:t>
            </a:r>
            <a:endParaRPr lang="en-US" sz="1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31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06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Databázové chyby sú očakávané situácie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68680" y="1508760"/>
            <a:ext cx="9326880" cy="4206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duplicitná hodnota v UNIQUE stĺpci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neplatný foreign key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poškodený alebo zamknutý databázový súbor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chýbajúca tabuľka alebo stĺpec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aplikácia nemá právo zapisovať</a:t>
            </a:r>
            <a:endParaRPr lang="en-US" sz="18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32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06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Chybu treba riešiť konkrétne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integrity_error.py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try: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connection.execute(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"INSERT INTO students (email) VALUES (?)",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("anna@example.com",),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connection.commit()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except sqlite3.IntegrityError: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print("Email už v databáze existuje")</a:t>
            </a:r>
            <a:endParaRPr lang="en-US" sz="1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33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06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1965960"/>
            <a:ext cx="950976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SQLAlchemy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713232" y="338328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Objektová vrstva nad relačnou databázou.</a:t>
            </a:r>
            <a:endParaRPr lang="en-US" sz="16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34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06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5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ORM neruší SQL</a:t>
            </a:r>
            <a:endParaRPr lang="en-US" sz="3500" dirty="0"/>
          </a:p>
        </p:txBody>
      </p:sp>
      <p:sp>
        <p:nvSpPr>
          <p:cNvPr id="5" name="Text 3"/>
          <p:cNvSpPr/>
          <p:nvPr/>
        </p:nvSpPr>
        <p:spPr>
          <a:xfrm>
            <a:off x="713232" y="1508760"/>
            <a:ext cx="886968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ORM mapuje tabuľky na Python objekty a generuje SQL. Stále je užitočné rozumieť tomu, aké dotazy aplikácia vykonáva.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68680" y="2468880"/>
            <a:ext cx="9326880" cy="4206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menej ručného mapovania riadkov na objekty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príjemnejšia práca s bežným CRUD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riziko nejasného výkonu, ak ignorujeme SQL</a:t>
            </a:r>
            <a:endParaRPr lang="en-US" sz="18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35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06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ako Python trieda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models.py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sqlalchemy.orm import DeclarativeBase, Mapped, mapped_column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Base(DeclarativeBase):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pass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Student(Base):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__tablename__ = "students"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id: Mapped[int] = mapped_column(primary_key=True)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name: Mapped[str]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email: Mapped[str] = mapped_column(unique=True)</a:t>
            </a:r>
            <a:endParaRPr lang="en-US" sz="11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36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06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 určuje databázu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database.py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sqlalchemy import create_engine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engine = create_engine(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"sqlite:///course_results.db",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echo=False,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2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37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06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Schému vie vytvoriť metadata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66751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63825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schema.py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63459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database import engine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models import Base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Base.metadata.create_all(engine)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726680" y="1581912"/>
            <a:ext cx="3474720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 väčších projektoch sa používajú migrácie. Tu stačí ukázať základný mechanizmus.</a:t>
            </a:r>
            <a:endParaRPr lang="en-US" sz="16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38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06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5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 je pracovná jednotka</a:t>
            </a:r>
            <a:endParaRPr lang="en-US" sz="3500" dirty="0"/>
          </a:p>
        </p:txBody>
      </p:sp>
      <p:sp>
        <p:nvSpPr>
          <p:cNvPr id="5" name="Text 3"/>
          <p:cNvSpPr/>
          <p:nvPr/>
        </p:nvSpPr>
        <p:spPr>
          <a:xfrm>
            <a:off x="713232" y="1508760"/>
            <a:ext cx="886968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 načíta objekty, sleduje zmeny a pri commit() ich zapíše do databázy.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68680" y="2468880"/>
            <a:ext cx="9326880" cy="4206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podobná logická úloha ako transakcia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pracujeme s objektmi namiesto tuple riadkov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commit je stále explicitné rozhodnutie</a:t>
            </a:r>
            <a:endParaRPr lang="en-US" sz="18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39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06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Vloženie objektu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insert_student.py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sqlalchemy.orm import Session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student = Student(name="Anna", email="anna@example.com")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 Session(engine) as session: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session.add(student)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session.commit()</a:t>
            </a:r>
            <a:endParaRPr lang="en-US" sz="12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06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 v SQLAlchemy 2.x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select_student.py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sqlalchemy import select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statement = select(Student).where(Student.email == "anna@example.com")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 Session(engine) as session: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students = session.scalars(statement).all()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student in students: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print(student.name)</a:t>
            </a:r>
            <a:endParaRPr lang="en-US" sz="11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41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06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Vzťah môže byť objektový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relationship.py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Result(Base):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__tablename__ = "results"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id: Mapped[int] = mapped_column(primary_key=True)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student_id: Mapped[int] = mapped_column(ForeignKey("students.id"))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points: Mapped[int]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student: Mapped[Student] = relationship()</a:t>
            </a:r>
            <a:endParaRPr lang="en-US" sz="12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42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06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Explicitné SQL alebo ORM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63040"/>
            <a:ext cx="4892040" cy="0"/>
          </a:xfrm>
          <a:prstGeom prst="line">
            <a:avLst/>
          </a:prstGeom>
          <a:noFill/>
          <a:ln w="12700">
            <a:solidFill>
              <a:srgbClr val="0B6B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664208"/>
            <a:ext cx="489204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50392" y="2148840"/>
            <a:ext cx="4709160" cy="3200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presne vidíme dotaz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výborné pre reporting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dobré pri zložitých agregáciách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viac ručného mapovania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806440" y="1463040"/>
            <a:ext cx="4892040" cy="0"/>
          </a:xfrm>
          <a:prstGeom prst="line">
            <a:avLst/>
          </a:prstGeom>
          <a:noFill/>
          <a:ln w="12700">
            <a:solidFill>
              <a:srgbClr val="0B6B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806440" y="1664208"/>
            <a:ext cx="489204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ORM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5943600" y="2148840"/>
            <a:ext cx="4709160" cy="3200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pracujeme s objektmi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menej opakovaného CRUD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ľahšie refaktorovanie modelov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treba chápať generované SQL</a:t>
            </a:r>
            <a:endParaRPr lang="en-US" sz="15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43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06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Demo: minimálna databáza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68680" y="1508760"/>
            <a:ext cx="9326880" cy="4206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vytvoriť course_results.db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vytvoriť tabuľku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vložiť riadok cez parametre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prečítať riadky cez SELECT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ukázať chybu pri duplicite</a:t>
            </a:r>
            <a:endParaRPr lang="en-US" sz="18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44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06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Čo si odniesť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68680" y="1508760"/>
            <a:ext cx="9326880" cy="4206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Databáza je vhodná pre štruktúrované dáta, dotazy a konzistenciu.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SQLite stačí na veľa menších Python aplikácií.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Parametrizované dotazy sú základný bezpečnostný návyk.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Transakcie chránia dáta pred polovičnými zmenami.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SQLAlchemy zjednodušuje prácu s objektmi, ale SQL nezmizne.</a:t>
            </a:r>
            <a:endParaRPr lang="en-US" sz="18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45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06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5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Ďalej</a:t>
            </a:r>
            <a:endParaRPr lang="en-US" sz="3500" dirty="0"/>
          </a:p>
        </p:txBody>
      </p:sp>
      <p:sp>
        <p:nvSpPr>
          <p:cNvPr id="5" name="Text 3"/>
          <p:cNvSpPr/>
          <p:nvPr/>
        </p:nvSpPr>
        <p:spPr>
          <a:xfrm>
            <a:off x="713232" y="1508760"/>
            <a:ext cx="886968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Databáza vie dáta uložiť a vyhľadať. Ďalšia téma je spracovanie, agregácia a vizualizácia dát v Pythone.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Technická univerzita v Košiciach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Databázy v Pythone</dc:title>
  <dc:subject>Programovanie v Pythone</dc:subject>
  <dc:creator>TUKE FEI</dc:creator>
  <cp:lastModifiedBy>TUKE FEI</cp:lastModifiedBy>
  <cp:revision>1</cp:revision>
  <dcterms:created xsi:type="dcterms:W3CDTF">2026-09-15T15:10:15Z</dcterms:created>
  <dcterms:modified xsi:type="dcterms:W3CDTF">2026-09-15T15:10:15Z</dcterms:modified>
</cp:coreProperties>
</file>