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</p:sldIdLst>
  <p:notesMasterIdLst>
    <p:notesMasterId r:id="rId3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notesMaster" Target="notesMasters/notesMaster1.xml"/><Relationship Id="rId38" Type="http://schemas.openxmlformats.org/officeDocument/2006/relationships/presProps" Target="presProps.xml"/><Relationship Id="rId39" Type="http://schemas.openxmlformats.org/officeDocument/2006/relationships/viewProps" Target="viewProps.xml"/><Relationship Id="rId40" Type="http://schemas.openxmlformats.org/officeDocument/2006/relationships/theme" Target="theme/theme1.xml"/><Relationship Id="rId4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37744" cy="6858000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49808" y="685800"/>
            <a:ext cx="4937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spc="11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PROGRAMOVANIE V PYTHONE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749808" y="2148840"/>
            <a:ext cx="97840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42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Internet, HTTP a API</a:t>
            </a:r>
            <a:endParaRPr lang="en-US" sz="4200" dirty="0"/>
          </a:p>
        </p:txBody>
      </p:sp>
      <p:sp>
        <p:nvSpPr>
          <p:cNvPr id="5" name="Text 3"/>
          <p:cNvSpPr/>
          <p:nvPr/>
        </p:nvSpPr>
        <p:spPr>
          <a:xfrm>
            <a:off x="786384" y="3310128"/>
            <a:ext cx="8321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5E6B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Python program ako klient služieb na internete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749808" y="5193792"/>
            <a:ext cx="2560320" cy="118872"/>
          </a:xfrm>
          <a:prstGeom prst="rect">
            <a:avLst/>
          </a:prstGeom>
          <a:solidFill>
            <a:srgbClr val="E0A03A"/>
          </a:solidFill>
          <a:ln w="12700">
            <a:solidFill>
              <a:srgbClr val="E0A03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49808" y="5504688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5E6B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TUKE FEI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10927080" y="6254496"/>
            <a:ext cx="5669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01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5544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20040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spc="8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PROGRAMOVANIE V PYTHONE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9829800" y="320040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PREDNÁŠKA 05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109960" y="6501384"/>
            <a:ext cx="457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02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658368" y="932688"/>
            <a:ext cx="107899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Cieľ prednášky</a:t>
            </a:r>
            <a:endParaRPr lang="en-US" sz="2900" dirty="0"/>
          </a:p>
        </p:txBody>
      </p:sp>
      <p:sp>
        <p:nvSpPr>
          <p:cNvPr id="9" name="Text 7"/>
          <p:cNvSpPr/>
          <p:nvPr/>
        </p:nvSpPr>
        <p:spPr>
          <a:xfrm>
            <a:off x="868680" y="1938528"/>
            <a:ext cx="9921240" cy="38862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228600" indent="-228600">
              <a:buSzPct val="100000"/>
              <a:buChar char="•"/>
            </a:pPr>
            <a:r>
              <a:rPr lang="en-US" sz="180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rozumieť request/response modelu</a:t>
            </a:r>
            <a:endParaRPr lang="en-US" sz="1800" dirty="0"/>
          </a:p>
          <a:p>
            <a:pPr marL="228600" indent="-228600">
              <a:buSzPct val="100000"/>
              <a:buChar char="•"/>
            </a:pPr>
            <a:r>
              <a:rPr lang="en-US" sz="180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čitať URL a základnú API dokumentáciu</a:t>
            </a:r>
            <a:endParaRPr lang="en-US" sz="1800" dirty="0"/>
          </a:p>
          <a:p>
            <a:pPr marL="228600" indent="-228600">
              <a:buSzPct val="100000"/>
              <a:buChar char="•"/>
            </a:pPr>
            <a:r>
              <a:rPr lang="en-US" sz="180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zavolať API cez HTTPX a spracovať JSON</a:t>
            </a:r>
            <a:endParaRPr lang="en-US" sz="1800" dirty="0"/>
          </a:p>
          <a:p>
            <a:pPr marL="228600" indent="-228600">
              <a:buSzPct val="100000"/>
              <a:buChar char="•"/>
            </a:pPr>
            <a:r>
              <a:rPr lang="en-US" sz="180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riešiť status code, timeout, chyby a konfiguráciu</a:t>
            </a:r>
            <a:endParaRPr lang="en-US" sz="1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5544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20040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spc="8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PROGRAMOVANIE V PYTHONE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9829800" y="320040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PREDNÁŠKA 05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109960" y="6501384"/>
            <a:ext cx="457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03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658368" y="932688"/>
            <a:ext cx="107899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Dáta už nemusia byť lokálne</a:t>
            </a:r>
            <a:endParaRPr lang="en-US" sz="2900" dirty="0"/>
          </a:p>
        </p:txBody>
      </p:sp>
      <p:sp>
        <p:nvSpPr>
          <p:cNvPr id="9" name="Text 7"/>
          <p:cNvSpPr/>
          <p:nvPr/>
        </p:nvSpPr>
        <p:spPr>
          <a:xfrm>
            <a:off x="685800" y="1719072"/>
            <a:ext cx="99669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5E6B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 predchádzajúcich týždňoch program čítal súbory, databáza alebo služba môže byť teraz na inom počítači.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868680" y="2487168"/>
            <a:ext cx="9921240" cy="38862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228600" indent="-228600">
              <a:buSzPct val="100000"/>
              <a:buChar char="•"/>
            </a:pPr>
            <a:r>
              <a:rPr lang="en-US" sz="180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počasie pre zadané súradnice</a:t>
            </a:r>
            <a:endParaRPr lang="en-US" sz="1800" dirty="0"/>
          </a:p>
          <a:p>
            <a:pPr marL="228600" indent="-228600">
              <a:buSzPct val="100000"/>
              <a:buChar char="•"/>
            </a:pPr>
            <a:r>
              <a:rPr lang="en-US" sz="180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stav repozitára alebo verejné dáta</a:t>
            </a:r>
            <a:endParaRPr lang="en-US" sz="1800" dirty="0"/>
          </a:p>
          <a:p>
            <a:pPr marL="228600" indent="-228600">
              <a:buSzPct val="100000"/>
              <a:buChar char="•"/>
            </a:pPr>
            <a:r>
              <a:rPr lang="en-US" sz="180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vlastná aplikácia komunikujúca s backendom</a:t>
            </a:r>
            <a:endParaRPr lang="en-US" sz="1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5544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20040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spc="8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PROGRAMOVANIE V PYTHONE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9829800" y="320040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PREDNÁŠKA 05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109960" y="6501384"/>
            <a:ext cx="457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04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658368" y="932688"/>
            <a:ext cx="107899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Client a server</a:t>
            </a:r>
            <a:endParaRPr lang="en-US" sz="2900" dirty="0"/>
          </a:p>
        </p:txBody>
      </p:sp>
      <p:sp>
        <p:nvSpPr>
          <p:cNvPr id="9" name="Text 7"/>
          <p:cNvSpPr/>
          <p:nvPr/>
        </p:nvSpPr>
        <p:spPr>
          <a:xfrm>
            <a:off x="694944" y="1691640"/>
            <a:ext cx="9509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5E6B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Python program pošle požiadavku, server spracuje pravidlá a vráti odpoveď.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731520" y="2834640"/>
            <a:ext cx="2450592" cy="1042416"/>
          </a:xfrm>
          <a:prstGeom prst="roundRect">
            <a:avLst>
              <a:gd name="adj" fmla="val 4386"/>
            </a:avLst>
          </a:prstGeom>
          <a:solidFill>
            <a:srgbClr val="F3F6F8"/>
          </a:solidFill>
          <a:ln w="12700">
            <a:solidFill>
              <a:srgbClr val="D8E0E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77824" y="3063240"/>
            <a:ext cx="21579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Python client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3319272" y="3209544"/>
            <a:ext cx="182880" cy="292608"/>
          </a:xfrm>
          <a:prstGeom prst="chevron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593592" y="2834640"/>
            <a:ext cx="2450592" cy="1042416"/>
          </a:xfrm>
          <a:prstGeom prst="roundRect">
            <a:avLst>
              <a:gd name="adj" fmla="val 4386"/>
            </a:avLst>
          </a:prstGeom>
          <a:solidFill>
            <a:srgbClr val="EAF3F7"/>
          </a:solidFill>
          <a:ln w="12700">
            <a:solidFill>
              <a:srgbClr val="9DCCDD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739896" y="3063240"/>
            <a:ext cx="21579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HTTP request</a:t>
            </a:r>
            <a:endParaRPr lang="en-US" sz="1700" dirty="0"/>
          </a:p>
        </p:txBody>
      </p:sp>
      <p:sp>
        <p:nvSpPr>
          <p:cNvPr id="15" name="Shape 13"/>
          <p:cNvSpPr/>
          <p:nvPr/>
        </p:nvSpPr>
        <p:spPr>
          <a:xfrm>
            <a:off x="6181344" y="3209544"/>
            <a:ext cx="182880" cy="292608"/>
          </a:xfrm>
          <a:prstGeom prst="chevron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455664" y="2834640"/>
            <a:ext cx="2450592" cy="1042416"/>
          </a:xfrm>
          <a:prstGeom prst="roundRect">
            <a:avLst>
              <a:gd name="adj" fmla="val 4386"/>
            </a:avLst>
          </a:prstGeom>
          <a:solidFill>
            <a:srgbClr val="F3F6F8"/>
          </a:solidFill>
          <a:ln w="12700">
            <a:solidFill>
              <a:srgbClr val="D8E0E6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601968" y="3063240"/>
            <a:ext cx="21579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server</a:t>
            </a:r>
            <a:endParaRPr lang="en-US" sz="1700" dirty="0"/>
          </a:p>
        </p:txBody>
      </p:sp>
      <p:sp>
        <p:nvSpPr>
          <p:cNvPr id="18" name="Shape 16"/>
          <p:cNvSpPr/>
          <p:nvPr/>
        </p:nvSpPr>
        <p:spPr>
          <a:xfrm>
            <a:off x="9043416" y="3209544"/>
            <a:ext cx="182880" cy="292608"/>
          </a:xfrm>
          <a:prstGeom prst="chevron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9317736" y="2834640"/>
            <a:ext cx="2450592" cy="1042416"/>
          </a:xfrm>
          <a:prstGeom prst="roundRect">
            <a:avLst>
              <a:gd name="adj" fmla="val 4386"/>
            </a:avLst>
          </a:prstGeom>
          <a:solidFill>
            <a:srgbClr val="EAF3F7"/>
          </a:solidFill>
          <a:ln w="12700">
            <a:solidFill>
              <a:srgbClr val="9DCCDD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9464040" y="3063240"/>
            <a:ext cx="21579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HTTP response</a:t>
            </a:r>
            <a:endParaRPr lang="en-US" sz="17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5544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20040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spc="8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PROGRAMOVANIE V PYTHONE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9829800" y="320040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PREDNÁŠKA 05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109960" y="6501384"/>
            <a:ext cx="457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05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713232" y="1353312"/>
            <a:ext cx="1280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1877B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01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713232" y="2011680"/>
            <a:ext cx="9875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37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HTTP ako dohoda</a:t>
            </a:r>
            <a:endParaRPr lang="en-US" sz="3700" dirty="0"/>
          </a:p>
        </p:txBody>
      </p:sp>
      <p:sp>
        <p:nvSpPr>
          <p:cNvPr id="10" name="Text 8"/>
          <p:cNvSpPr/>
          <p:nvPr/>
        </p:nvSpPr>
        <p:spPr>
          <a:xfrm>
            <a:off x="749808" y="3063240"/>
            <a:ext cx="7863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5E6B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Protokol určuje, ako sa požiadavka a odpoveď zapisujú.</a:t>
            </a:r>
            <a:endParaRPr lang="en-US" sz="2000" dirty="0"/>
          </a:p>
        </p:txBody>
      </p:sp>
      <p:sp>
        <p:nvSpPr>
          <p:cNvPr id="11" name="Shape 9"/>
          <p:cNvSpPr/>
          <p:nvPr/>
        </p:nvSpPr>
        <p:spPr>
          <a:xfrm>
            <a:off x="731520" y="3977640"/>
            <a:ext cx="2834640" cy="128016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5544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20040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spc="8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PROGRAMOVANIE V PYTHONE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9829800" y="320040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PREDNÁŠKA 05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109960" y="6501384"/>
            <a:ext cx="457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06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658368" y="932688"/>
            <a:ext cx="107899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URL má viac častí</a:t>
            </a:r>
            <a:endParaRPr lang="en-US" sz="2900" dirty="0"/>
          </a:p>
        </p:txBody>
      </p:sp>
      <p:sp>
        <p:nvSpPr>
          <p:cNvPr id="9" name="Text 7"/>
          <p:cNvSpPr/>
          <p:nvPr/>
        </p:nvSpPr>
        <p:spPr>
          <a:xfrm>
            <a:off x="694944" y="1691640"/>
            <a:ext cx="9509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5E6B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Každá časť adresy určuje iný aspekt požiadavky.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731520" y="2834640"/>
            <a:ext cx="2450592" cy="1042416"/>
          </a:xfrm>
          <a:prstGeom prst="roundRect">
            <a:avLst>
              <a:gd name="adj" fmla="val 4386"/>
            </a:avLst>
          </a:prstGeom>
          <a:solidFill>
            <a:srgbClr val="F3F6F8"/>
          </a:solidFill>
          <a:ln w="12700">
            <a:solidFill>
              <a:srgbClr val="D8E0E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77824" y="3063240"/>
            <a:ext cx="21579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https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3319272" y="3209544"/>
            <a:ext cx="182880" cy="292608"/>
          </a:xfrm>
          <a:prstGeom prst="chevron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593592" y="2834640"/>
            <a:ext cx="2450592" cy="1042416"/>
          </a:xfrm>
          <a:prstGeom prst="roundRect">
            <a:avLst>
              <a:gd name="adj" fmla="val 4386"/>
            </a:avLst>
          </a:prstGeom>
          <a:solidFill>
            <a:srgbClr val="EAF3F7"/>
          </a:solidFill>
          <a:ln w="12700">
            <a:solidFill>
              <a:srgbClr val="9DCCDD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739896" y="3063240"/>
            <a:ext cx="21579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api.example.com</a:t>
            </a:r>
            <a:endParaRPr lang="en-US" sz="1700" dirty="0"/>
          </a:p>
        </p:txBody>
      </p:sp>
      <p:sp>
        <p:nvSpPr>
          <p:cNvPr id="15" name="Shape 13"/>
          <p:cNvSpPr/>
          <p:nvPr/>
        </p:nvSpPr>
        <p:spPr>
          <a:xfrm>
            <a:off x="6181344" y="3209544"/>
            <a:ext cx="182880" cy="292608"/>
          </a:xfrm>
          <a:prstGeom prst="chevron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455664" y="2834640"/>
            <a:ext cx="2450592" cy="1042416"/>
          </a:xfrm>
          <a:prstGeom prst="roundRect">
            <a:avLst>
              <a:gd name="adj" fmla="val 4386"/>
            </a:avLst>
          </a:prstGeom>
          <a:solidFill>
            <a:srgbClr val="F3F6F8"/>
          </a:solidFill>
          <a:ln w="12700">
            <a:solidFill>
              <a:srgbClr val="D8E0E6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601968" y="3063240"/>
            <a:ext cx="21579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/v1/weather</a:t>
            </a:r>
            <a:endParaRPr lang="en-US" sz="1700" dirty="0"/>
          </a:p>
        </p:txBody>
      </p:sp>
      <p:sp>
        <p:nvSpPr>
          <p:cNvPr id="18" name="Shape 16"/>
          <p:cNvSpPr/>
          <p:nvPr/>
        </p:nvSpPr>
        <p:spPr>
          <a:xfrm>
            <a:off x="9043416" y="3209544"/>
            <a:ext cx="182880" cy="292608"/>
          </a:xfrm>
          <a:prstGeom prst="chevron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9317736" y="2834640"/>
            <a:ext cx="2450592" cy="1042416"/>
          </a:xfrm>
          <a:prstGeom prst="roundRect">
            <a:avLst>
              <a:gd name="adj" fmla="val 4386"/>
            </a:avLst>
          </a:prstGeom>
          <a:solidFill>
            <a:srgbClr val="EAF3F7"/>
          </a:solidFill>
          <a:ln w="12700">
            <a:solidFill>
              <a:srgbClr val="9DCCDD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9464040" y="3063240"/>
            <a:ext cx="21579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?city=Kosice</a:t>
            </a:r>
            <a:endParaRPr lang="en-US" sz="17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5544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20040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spc="8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PROGRAMOVANIE V PYTHONE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9829800" y="320040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PREDNÁŠKA 05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109960" y="6501384"/>
            <a:ext cx="457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07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658368" y="932688"/>
            <a:ext cx="107899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Čo obsahuje request?</a:t>
            </a:r>
            <a:endParaRPr lang="en-US" sz="2900" dirty="0"/>
          </a:p>
        </p:txBody>
      </p:sp>
      <p:sp>
        <p:nvSpPr>
          <p:cNvPr id="9" name="Shape 7"/>
          <p:cNvSpPr/>
          <p:nvPr/>
        </p:nvSpPr>
        <p:spPr>
          <a:xfrm>
            <a:off x="731520" y="2834640"/>
            <a:ext cx="2450592" cy="1042416"/>
          </a:xfrm>
          <a:prstGeom prst="roundRect">
            <a:avLst>
              <a:gd name="adj" fmla="val 4386"/>
            </a:avLst>
          </a:prstGeom>
          <a:solidFill>
            <a:srgbClr val="F3F6F8"/>
          </a:solidFill>
          <a:ln w="12700">
            <a:solidFill>
              <a:srgbClr val="D8E0E6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77824" y="3063240"/>
            <a:ext cx="21579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method</a:t>
            </a:r>
            <a:endParaRPr lang="en-US" sz="1700" dirty="0"/>
          </a:p>
          <a:p>
            <a:pPr algn="ctr" indent="0" marL="0">
              <a:buNone/>
            </a:pPr>
            <a:r>
              <a:rPr lang="en-US" sz="17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GET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3319272" y="3209544"/>
            <a:ext cx="182880" cy="292608"/>
          </a:xfrm>
          <a:prstGeom prst="chevron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3593592" y="2834640"/>
            <a:ext cx="2450592" cy="1042416"/>
          </a:xfrm>
          <a:prstGeom prst="roundRect">
            <a:avLst>
              <a:gd name="adj" fmla="val 4386"/>
            </a:avLst>
          </a:prstGeom>
          <a:solidFill>
            <a:srgbClr val="EAF3F7"/>
          </a:solidFill>
          <a:ln w="12700">
            <a:solidFill>
              <a:srgbClr val="9DCCDD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739896" y="3063240"/>
            <a:ext cx="21579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URL a params</a:t>
            </a:r>
            <a:endParaRPr lang="en-US" sz="1700" dirty="0"/>
          </a:p>
        </p:txBody>
      </p:sp>
      <p:sp>
        <p:nvSpPr>
          <p:cNvPr id="14" name="Shape 12"/>
          <p:cNvSpPr/>
          <p:nvPr/>
        </p:nvSpPr>
        <p:spPr>
          <a:xfrm>
            <a:off x="6181344" y="3209544"/>
            <a:ext cx="182880" cy="292608"/>
          </a:xfrm>
          <a:prstGeom prst="chevron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455664" y="2834640"/>
            <a:ext cx="2450592" cy="1042416"/>
          </a:xfrm>
          <a:prstGeom prst="roundRect">
            <a:avLst>
              <a:gd name="adj" fmla="val 4386"/>
            </a:avLst>
          </a:prstGeom>
          <a:solidFill>
            <a:srgbClr val="F3F6F8"/>
          </a:solidFill>
          <a:ln w="12700">
            <a:solidFill>
              <a:srgbClr val="D8E0E6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601968" y="3063240"/>
            <a:ext cx="21579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headers</a:t>
            </a:r>
            <a:endParaRPr lang="en-US" sz="1700" dirty="0"/>
          </a:p>
        </p:txBody>
      </p:sp>
      <p:sp>
        <p:nvSpPr>
          <p:cNvPr id="17" name="Shape 15"/>
          <p:cNvSpPr/>
          <p:nvPr/>
        </p:nvSpPr>
        <p:spPr>
          <a:xfrm>
            <a:off x="9043416" y="3209544"/>
            <a:ext cx="182880" cy="292608"/>
          </a:xfrm>
          <a:prstGeom prst="chevron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317736" y="2834640"/>
            <a:ext cx="2450592" cy="1042416"/>
          </a:xfrm>
          <a:prstGeom prst="roundRect">
            <a:avLst>
              <a:gd name="adj" fmla="val 4386"/>
            </a:avLst>
          </a:prstGeom>
          <a:solidFill>
            <a:srgbClr val="EAF3F7"/>
          </a:solidFill>
          <a:ln w="12700">
            <a:solidFill>
              <a:srgbClr val="9DCCDD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9464040" y="3063240"/>
            <a:ext cx="21579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body podľa potreby</a:t>
            </a:r>
            <a:endParaRPr lang="en-US" sz="17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5544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20040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spc="8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PROGRAMOVANIE V PYTHONE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9829800" y="320040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PREDNÁŠKA 05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109960" y="6501384"/>
            <a:ext cx="457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08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658368" y="932688"/>
            <a:ext cx="107899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HTTP methods vyjadrujú zámer</a:t>
            </a:r>
            <a:endParaRPr lang="en-US" sz="29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58368" y="1847088"/>
          <a:ext cx="10899648" cy="3520440"/>
        </p:xfrm>
        <a:graphic>
          <a:graphicData uri="http://schemas.openxmlformats.org/drawingml/2006/table">
            <a:tbl>
              <a:tblPr/>
              <a:tblGrid>
                <a:gridCol w="1828800"/>
                <a:gridCol w="4846320"/>
                <a:gridCol w="4224528"/>
              </a:tblGrid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50" dirty="0">
                          <a:solidFill>
                            <a:srgbClr val="18212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Method</a:t>
                      </a:r>
                      <a:endParaRPr lang="en-US" sz="155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82296" marR="82296" marT="82296" marB="82296" anchor="mid">
                    <a:lnL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50" dirty="0">
                          <a:solidFill>
                            <a:srgbClr val="18212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Typický zámer</a:t>
                      </a:r>
                      <a:endParaRPr lang="en-US" sz="155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82296" marR="82296" marT="82296" marB="82296" anchor="mid">
                    <a:lnL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50" dirty="0">
                          <a:solidFill>
                            <a:srgbClr val="18212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Príklad</a:t>
                      </a:r>
                      <a:endParaRPr lang="en-US" sz="155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82296" marR="82296" marT="82296" marB="82296" anchor="mid">
                    <a:lnL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50" dirty="0">
                          <a:solidFill>
                            <a:srgbClr val="18212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GET</a:t>
                      </a:r>
                      <a:endParaRPr lang="en-US" sz="155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82296" marR="82296" marT="82296" marB="82296" anchor="mid">
                    <a:lnL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50" dirty="0">
                          <a:solidFill>
                            <a:srgbClr val="18212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čítať zdroj</a:t>
                      </a:r>
                      <a:endParaRPr lang="en-US" sz="155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82296" marR="82296" marT="82296" marB="82296" anchor="mid">
                    <a:lnL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50" dirty="0">
                          <a:solidFill>
                            <a:srgbClr val="18212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zoznam úloh</a:t>
                      </a:r>
                      <a:endParaRPr lang="en-US" sz="155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82296" marR="82296" marT="82296" marB="82296" anchor="mid">
                    <a:lnL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50" dirty="0">
                          <a:solidFill>
                            <a:srgbClr val="18212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POST</a:t>
                      </a:r>
                      <a:endParaRPr lang="en-US" sz="155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82296" marR="82296" marT="82296" marB="82296" anchor="mid">
                    <a:lnL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50" dirty="0">
                          <a:solidFill>
                            <a:srgbClr val="18212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vytvoriť alebo odoslať dáta</a:t>
                      </a:r>
                      <a:endParaRPr lang="en-US" sz="155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82296" marR="82296" marT="82296" marB="82296" anchor="mid">
                    <a:lnL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50" dirty="0">
                          <a:solidFill>
                            <a:srgbClr val="18212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nová úloha</a:t>
                      </a:r>
                      <a:endParaRPr lang="en-US" sz="155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82296" marR="82296" marT="82296" marB="82296" anchor="mid">
                    <a:lnL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50" dirty="0">
                          <a:solidFill>
                            <a:srgbClr val="18212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PUT / PATCH</a:t>
                      </a:r>
                      <a:endParaRPr lang="en-US" sz="155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82296" marR="82296" marT="82296" marB="82296" anchor="mid">
                    <a:lnL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50" dirty="0">
                          <a:solidFill>
                            <a:srgbClr val="18212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zmeniť existujúce dáta</a:t>
                      </a:r>
                      <a:endParaRPr lang="en-US" sz="155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82296" marR="82296" marT="82296" marB="82296" anchor="mid">
                    <a:lnL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50" dirty="0">
                          <a:solidFill>
                            <a:srgbClr val="18212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upravený profil</a:t>
                      </a:r>
                      <a:endParaRPr lang="en-US" sz="155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82296" marR="82296" marT="82296" marB="82296" anchor="mid">
                    <a:lnL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50" dirty="0">
                          <a:solidFill>
                            <a:srgbClr val="18212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DELETE</a:t>
                      </a:r>
                      <a:endParaRPr lang="en-US" sz="155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82296" marR="82296" marT="82296" marB="82296" anchor="mid">
                    <a:lnL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50" dirty="0">
                          <a:solidFill>
                            <a:srgbClr val="18212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odstrániť zdroj</a:t>
                      </a:r>
                      <a:endParaRPr lang="en-US" sz="155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82296" marR="82296" marT="82296" marB="82296" anchor="mid">
                    <a:lnL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50" dirty="0">
                          <a:solidFill>
                            <a:srgbClr val="18212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zmazanie úlohy</a:t>
                      </a:r>
                      <a:endParaRPr lang="en-US" sz="155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82296" marR="82296" marT="82296" marB="82296" anchor="mid">
                    <a:lnL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Shape 7"/>
          <p:cNvSpPr/>
          <p:nvPr/>
        </p:nvSpPr>
        <p:spPr>
          <a:xfrm>
            <a:off x="658368" y="1847088"/>
            <a:ext cx="10899648" cy="548640"/>
          </a:xfrm>
          <a:prstGeom prst="rect">
            <a:avLst/>
          </a:prstGeom>
          <a:solidFill>
            <a:srgbClr val="16324F"/>
          </a:solidFill>
          <a:ln w="12700">
            <a:solidFill>
              <a:srgbClr val="16324F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786384" y="1993392"/>
            <a:ext cx="1554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Method</a:t>
            </a:r>
            <a:endParaRPr lang="en-US" sz="1400" dirty="0"/>
          </a:p>
        </p:txBody>
      </p:sp>
      <p:sp>
        <p:nvSpPr>
          <p:cNvPr id="12" name="Text 9"/>
          <p:cNvSpPr/>
          <p:nvPr/>
        </p:nvSpPr>
        <p:spPr>
          <a:xfrm>
            <a:off x="2615184" y="1993392"/>
            <a:ext cx="4617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Typický zámer</a:t>
            </a:r>
            <a:endParaRPr lang="en-US" sz="1400" dirty="0"/>
          </a:p>
        </p:txBody>
      </p:sp>
      <p:sp>
        <p:nvSpPr>
          <p:cNvPr id="13" name="Text 10"/>
          <p:cNvSpPr/>
          <p:nvPr/>
        </p:nvSpPr>
        <p:spPr>
          <a:xfrm>
            <a:off x="7461504" y="1993392"/>
            <a:ext cx="3840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Príklad</a:t>
            </a:r>
            <a:endParaRPr lang="en-US" sz="14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5544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20040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spc="8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PROGRAMOVANIE V PYTHONE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9829800" y="320040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PREDNÁŠKA 05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109960" y="6501384"/>
            <a:ext cx="457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09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658368" y="932688"/>
            <a:ext cx="107899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Status code je výsledok na úrovni HTTP</a:t>
            </a:r>
            <a:endParaRPr lang="en-US" sz="2900" dirty="0"/>
          </a:p>
        </p:txBody>
      </p:sp>
      <p:sp>
        <p:nvSpPr>
          <p:cNvPr id="9" name="Text 7"/>
          <p:cNvSpPr/>
          <p:nvPr/>
        </p:nvSpPr>
        <p:spPr>
          <a:xfrm>
            <a:off x="868680" y="1938528"/>
            <a:ext cx="9921240" cy="38862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228600" indent="-228600">
              <a:buSzPct val="100000"/>
              <a:buChar char="•"/>
            </a:pPr>
            <a:r>
              <a:rPr lang="en-US" sz="180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2xx: požiadavka prebehla úspešne</a:t>
            </a:r>
            <a:endParaRPr lang="en-US" sz="1800" dirty="0"/>
          </a:p>
          <a:p>
            <a:pPr marL="228600" indent="-228600">
              <a:buSzPct val="100000"/>
              <a:buChar char="•"/>
            </a:pPr>
            <a:r>
              <a:rPr lang="en-US" sz="180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3xx: presmerovanie</a:t>
            </a:r>
            <a:endParaRPr lang="en-US" sz="1800" dirty="0"/>
          </a:p>
          <a:p>
            <a:pPr marL="228600" indent="-228600">
              <a:buSzPct val="100000"/>
              <a:buChar char="•"/>
            </a:pPr>
            <a:r>
              <a:rPr lang="en-US" sz="180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4xx: problém v požiadavke alebo oprávnení</a:t>
            </a:r>
            <a:endParaRPr lang="en-US" sz="1800" dirty="0"/>
          </a:p>
          <a:p>
            <a:pPr marL="228600" indent="-228600">
              <a:buSzPct val="100000"/>
              <a:buChar char="•"/>
            </a:pPr>
            <a:r>
              <a:rPr lang="en-US" sz="180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5xx: problém na strane servera</a:t>
            </a:r>
            <a:endParaRPr lang="en-US" sz="1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5544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20040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spc="8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PROGRAMOVANIE V PYTHONE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9829800" y="320040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PREDNÁŠKA 05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109960" y="6501384"/>
            <a:ext cx="457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10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658368" y="932688"/>
            <a:ext cx="107899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Otázka: čo je chyba klienta?</a:t>
            </a:r>
            <a:endParaRPr lang="en-US" sz="2900" dirty="0"/>
          </a:p>
        </p:txBody>
      </p:sp>
      <p:sp>
        <p:nvSpPr>
          <p:cNvPr id="9" name="Text 7"/>
          <p:cNvSpPr/>
          <p:nvPr/>
        </p:nvSpPr>
        <p:spPr>
          <a:xfrm>
            <a:off x="694944" y="1709928"/>
            <a:ext cx="9235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5E6B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Ktorý výsledok pravdepodobne znamená, že chýba alebo je neplatný token?</a:t>
            </a:r>
            <a:endParaRPr lang="en-US" sz="2000" dirty="0"/>
          </a:p>
        </p:txBody>
      </p:sp>
      <p:sp>
        <p:nvSpPr>
          <p:cNvPr id="10" name="Shape 8"/>
          <p:cNvSpPr/>
          <p:nvPr/>
        </p:nvSpPr>
        <p:spPr>
          <a:xfrm>
            <a:off x="658368" y="2423160"/>
            <a:ext cx="7863840" cy="3154680"/>
          </a:xfrm>
          <a:prstGeom prst="roundRect">
            <a:avLst>
              <a:gd name="adj" fmla="val 1739"/>
            </a:avLst>
          </a:prstGeom>
          <a:solidFill>
            <a:srgbClr val="F3F6F8"/>
          </a:solidFill>
          <a:ln w="12700">
            <a:solidFill>
              <a:srgbClr val="D8E0E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96112" y="2651760"/>
            <a:ext cx="7132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1877B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HTTP</a:t>
            </a:r>
            <a:endParaRPr lang="en-US" sz="850" dirty="0"/>
          </a:p>
        </p:txBody>
      </p:sp>
      <p:sp>
        <p:nvSpPr>
          <p:cNvPr id="12" name="Text 10"/>
          <p:cNvSpPr/>
          <p:nvPr/>
        </p:nvSpPr>
        <p:spPr>
          <a:xfrm>
            <a:off x="896112" y="2990088"/>
            <a:ext cx="7132320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1821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200 OK</a:t>
            </a:r>
            <a:endParaRPr lang="en-US" sz="1800" dirty="0"/>
          </a:p>
          <a:p>
            <a:pPr algn="l" indent="0" marL="0">
              <a:buNone/>
            </a:pPr>
            <a:r>
              <a:rPr lang="en-US" sz="1800" dirty="0">
                <a:solidFill>
                  <a:srgbClr val="1821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404 Not Found</a:t>
            </a:r>
            <a:endParaRPr lang="en-US" sz="1800" dirty="0"/>
          </a:p>
          <a:p>
            <a:pPr algn="l" indent="0" marL="0">
              <a:buNone/>
            </a:pPr>
            <a:r>
              <a:rPr lang="en-US" sz="1800" dirty="0">
                <a:solidFill>
                  <a:srgbClr val="1821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401 Unauthorized</a:t>
            </a:r>
            <a:endParaRPr lang="en-US" sz="1800" dirty="0"/>
          </a:p>
          <a:p>
            <a:pPr algn="l" indent="0" marL="0">
              <a:buNone/>
            </a:pPr>
            <a:r>
              <a:rPr lang="en-US" sz="1800" dirty="0">
                <a:solidFill>
                  <a:srgbClr val="1821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500 Internal Server Error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8915400" y="2880360"/>
            <a:ext cx="201168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700" dirty="0">
                <a:solidFill>
                  <a:srgbClr val="5E6B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Najprv si odpoveď zdôvodnite. Potom kód spustite.</a:t>
            </a:r>
            <a:endParaRPr lang="en-US" sz="17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5544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20040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spc="8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PROGRAMOVANIE V PYTHONE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9829800" y="320040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PREDNÁŠKA 05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109960" y="6501384"/>
            <a:ext cx="457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11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713232" y="1353312"/>
            <a:ext cx="1280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1877B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02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713232" y="2011680"/>
            <a:ext cx="9875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37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Prvý API client</a:t>
            </a:r>
            <a:endParaRPr lang="en-US" sz="3700" dirty="0"/>
          </a:p>
        </p:txBody>
      </p:sp>
      <p:sp>
        <p:nvSpPr>
          <p:cNvPr id="10" name="Text 8"/>
          <p:cNvSpPr/>
          <p:nvPr/>
        </p:nvSpPr>
        <p:spPr>
          <a:xfrm>
            <a:off x="749808" y="3063240"/>
            <a:ext cx="7863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5E6B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HTTPX dáva Pythonu čitateľné rozhranie k HTTP.</a:t>
            </a:r>
            <a:endParaRPr lang="en-US" sz="2000" dirty="0"/>
          </a:p>
        </p:txBody>
      </p:sp>
      <p:sp>
        <p:nvSpPr>
          <p:cNvPr id="11" name="Shape 9"/>
          <p:cNvSpPr/>
          <p:nvPr/>
        </p:nvSpPr>
        <p:spPr>
          <a:xfrm>
            <a:off x="731520" y="3977640"/>
            <a:ext cx="2834640" cy="128016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5544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20040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spc="8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PROGRAMOVANIE V PYTHONE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9829800" y="320040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PREDNÁŠKA 05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109960" y="6501384"/>
            <a:ext cx="457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12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658368" y="932688"/>
            <a:ext cx="107899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Nainštalovanie HTTPX</a:t>
            </a:r>
            <a:endParaRPr lang="en-US" sz="2900" dirty="0"/>
          </a:p>
        </p:txBody>
      </p:sp>
      <p:sp>
        <p:nvSpPr>
          <p:cNvPr id="9" name="Shape 7"/>
          <p:cNvSpPr/>
          <p:nvPr/>
        </p:nvSpPr>
        <p:spPr>
          <a:xfrm>
            <a:off x="658368" y="1828800"/>
            <a:ext cx="6812280" cy="4069080"/>
          </a:xfrm>
          <a:prstGeom prst="roundRect">
            <a:avLst>
              <a:gd name="adj" fmla="val 1348"/>
            </a:avLst>
          </a:prstGeom>
          <a:solidFill>
            <a:srgbClr val="17212B"/>
          </a:solidFill>
          <a:ln w="12700">
            <a:solidFill>
              <a:srgbClr val="17212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68680" y="2029968"/>
            <a:ext cx="6309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50" b="1" spc="70" kern="0" dirty="0">
                <a:solidFill>
                  <a:srgbClr val="8FD3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terminal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877824" y="2395728"/>
            <a:ext cx="6327648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python -m venv .venv</a:t>
            </a: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Windows</a:t>
            </a: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.venv\Scripts\activate</a:t>
            </a:r>
            <a:endParaRPr lang="en-US" sz="1650" dirty="0"/>
          </a:p>
          <a:p>
            <a:pPr algn="l" indent="0" marL="0">
              <a:buNone/>
            </a:pP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python -m pip install httpx</a:t>
            </a:r>
            <a:endParaRPr lang="en-US" sz="1650" dirty="0"/>
          </a:p>
        </p:txBody>
      </p:sp>
      <p:sp>
        <p:nvSpPr>
          <p:cNvPr id="12" name="Shape 10"/>
          <p:cNvSpPr/>
          <p:nvPr/>
        </p:nvSpPr>
        <p:spPr>
          <a:xfrm>
            <a:off x="7909560" y="1901952"/>
            <a:ext cx="0" cy="3566160"/>
          </a:xfrm>
          <a:prstGeom prst="line">
            <a:avLst/>
          </a:prstGeom>
          <a:noFill/>
          <a:ln w="12700">
            <a:solidFill>
              <a:srgbClr val="1877B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229600" y="2130552"/>
            <a:ext cx="274320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5E6B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HTTPX nie je súčasť štandardnej knižnice. Patrí do dependencies projektu.</a:t>
            </a:r>
            <a:endParaRPr lang="en-US" sz="18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5544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20040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spc="8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PROGRAMOVANIE V PYTHONE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9829800" y="320040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PREDNÁŠKA 05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109960" y="6501384"/>
            <a:ext cx="457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13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658368" y="932688"/>
            <a:ext cx="107899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GET request a odpoveď</a:t>
            </a:r>
            <a:endParaRPr lang="en-US" sz="2900" dirty="0"/>
          </a:p>
        </p:txBody>
      </p:sp>
      <p:sp>
        <p:nvSpPr>
          <p:cNvPr id="9" name="Shape 7"/>
          <p:cNvSpPr/>
          <p:nvPr/>
        </p:nvSpPr>
        <p:spPr>
          <a:xfrm>
            <a:off x="658368" y="1828800"/>
            <a:ext cx="6812280" cy="4069080"/>
          </a:xfrm>
          <a:prstGeom prst="roundRect">
            <a:avLst>
              <a:gd name="adj" fmla="val 1348"/>
            </a:avLst>
          </a:prstGeom>
          <a:solidFill>
            <a:srgbClr val="17212B"/>
          </a:solidFill>
          <a:ln w="12700">
            <a:solidFill>
              <a:srgbClr val="17212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68680" y="2029968"/>
            <a:ext cx="6309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50" b="1" spc="70" kern="0" dirty="0">
                <a:solidFill>
                  <a:srgbClr val="8FD3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python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877824" y="2395728"/>
            <a:ext cx="6327648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import httpx</a:t>
            </a:r>
            <a:endParaRPr lang="en-US" sz="1650" dirty="0"/>
          </a:p>
          <a:p>
            <a:pPr algn="l" indent="0" marL="0">
              <a:buNone/>
            </a:pP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response = httpx.get(</a:t>
            </a: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"https://api.github.com/repos/python/cpython",</a:t>
            </a: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timeout=5.0,</a:t>
            </a: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endParaRPr lang="en-US" sz="1650" dirty="0"/>
          </a:p>
          <a:p>
            <a:pPr algn="l" indent="0" marL="0">
              <a:buNone/>
            </a:pP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print(response.status_code)</a:t>
            </a: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print(response.headers["content-type"])</a:t>
            </a:r>
            <a:endParaRPr lang="en-US" sz="1650" dirty="0"/>
          </a:p>
        </p:txBody>
      </p:sp>
      <p:sp>
        <p:nvSpPr>
          <p:cNvPr id="12" name="Shape 10"/>
          <p:cNvSpPr/>
          <p:nvPr/>
        </p:nvSpPr>
        <p:spPr>
          <a:xfrm>
            <a:off x="7909560" y="1901952"/>
            <a:ext cx="0" cy="3566160"/>
          </a:xfrm>
          <a:prstGeom prst="line">
            <a:avLst/>
          </a:prstGeom>
          <a:noFill/>
          <a:ln w="12700">
            <a:solidFill>
              <a:srgbClr val="1877B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229600" y="2130552"/>
            <a:ext cx="274320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5E6B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Najprv si overte, čo server vrátil. Status code a content type sú dôležitá prvá informácia.</a:t>
            </a:r>
            <a:endParaRPr lang="en-US" sz="18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5544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20040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spc="8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PROGRAMOVANIE V PYTHONE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9829800" y="320040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PREDNÁŠKA 05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109960" y="6501384"/>
            <a:ext cx="457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14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658368" y="932688"/>
            <a:ext cx="107899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Neignorujte HTTP chybu</a:t>
            </a:r>
            <a:endParaRPr lang="en-US" sz="2900" dirty="0"/>
          </a:p>
        </p:txBody>
      </p:sp>
      <p:sp>
        <p:nvSpPr>
          <p:cNvPr id="9" name="Shape 7"/>
          <p:cNvSpPr/>
          <p:nvPr/>
        </p:nvSpPr>
        <p:spPr>
          <a:xfrm>
            <a:off x="658368" y="1828800"/>
            <a:ext cx="6812280" cy="4069080"/>
          </a:xfrm>
          <a:prstGeom prst="roundRect">
            <a:avLst>
              <a:gd name="adj" fmla="val 1348"/>
            </a:avLst>
          </a:prstGeom>
          <a:solidFill>
            <a:srgbClr val="17212B"/>
          </a:solidFill>
          <a:ln w="12700">
            <a:solidFill>
              <a:srgbClr val="17212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68680" y="2029968"/>
            <a:ext cx="6309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50" b="1" spc="70" kern="0" dirty="0">
                <a:solidFill>
                  <a:srgbClr val="8FD3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python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877824" y="2395728"/>
            <a:ext cx="6327648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response = httpx.get(url, timeout=5.0)</a:t>
            </a: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response.raise_for_status()</a:t>
            </a:r>
            <a:endParaRPr lang="en-US" sz="1650" dirty="0"/>
          </a:p>
          <a:p>
            <a:pPr algn="l" indent="0" marL="0">
              <a:buNone/>
            </a:pP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data = response.json()</a:t>
            </a: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print(data["full_name"])</a:t>
            </a:r>
            <a:endParaRPr lang="en-US" sz="1650" dirty="0"/>
          </a:p>
        </p:txBody>
      </p:sp>
      <p:sp>
        <p:nvSpPr>
          <p:cNvPr id="12" name="Shape 10"/>
          <p:cNvSpPr/>
          <p:nvPr/>
        </p:nvSpPr>
        <p:spPr>
          <a:xfrm>
            <a:off x="7909560" y="1901952"/>
            <a:ext cx="0" cy="3566160"/>
          </a:xfrm>
          <a:prstGeom prst="line">
            <a:avLst/>
          </a:prstGeom>
          <a:noFill/>
          <a:ln w="12700">
            <a:solidFill>
              <a:srgbClr val="1877B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229600" y="2130552"/>
            <a:ext cx="274320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5E6B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raise_for_status() zmení 4xx a 5xx odpoveď na výnimku. Kód ďalej pracuje iba s úspešnou odpoveďou.</a:t>
            </a:r>
            <a:endParaRPr lang="en-US" sz="18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5544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20040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spc="8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PROGRAMOVANIE V PYTHONE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9829800" y="320040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PREDNÁŠKA 05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109960" y="6501384"/>
            <a:ext cx="457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15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713232" y="1353312"/>
            <a:ext cx="1280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1877B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03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713232" y="2011680"/>
            <a:ext cx="9875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37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Vstup požiadavky</a:t>
            </a:r>
            <a:endParaRPr lang="en-US" sz="3700" dirty="0"/>
          </a:p>
        </p:txBody>
      </p:sp>
      <p:sp>
        <p:nvSpPr>
          <p:cNvPr id="10" name="Text 8"/>
          <p:cNvSpPr/>
          <p:nvPr/>
        </p:nvSpPr>
        <p:spPr>
          <a:xfrm>
            <a:off x="749808" y="3063240"/>
            <a:ext cx="7863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5E6B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Params, headers a body majú odlišnú úlohu.</a:t>
            </a:r>
            <a:endParaRPr lang="en-US" sz="2000" dirty="0"/>
          </a:p>
        </p:txBody>
      </p:sp>
      <p:sp>
        <p:nvSpPr>
          <p:cNvPr id="11" name="Shape 9"/>
          <p:cNvSpPr/>
          <p:nvPr/>
        </p:nvSpPr>
        <p:spPr>
          <a:xfrm>
            <a:off x="731520" y="3977640"/>
            <a:ext cx="2834640" cy="128016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5544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20040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spc="8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PROGRAMOVANIE V PYTHONE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9829800" y="320040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PREDNÁŠKA 05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109960" y="6501384"/>
            <a:ext cx="457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16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658368" y="932688"/>
            <a:ext cx="107899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Query parameters bez skladania stringu</a:t>
            </a:r>
            <a:endParaRPr lang="en-US" sz="2900" dirty="0"/>
          </a:p>
        </p:txBody>
      </p:sp>
      <p:sp>
        <p:nvSpPr>
          <p:cNvPr id="9" name="Shape 7"/>
          <p:cNvSpPr/>
          <p:nvPr/>
        </p:nvSpPr>
        <p:spPr>
          <a:xfrm>
            <a:off x="658368" y="1828800"/>
            <a:ext cx="6812280" cy="4069080"/>
          </a:xfrm>
          <a:prstGeom prst="roundRect">
            <a:avLst>
              <a:gd name="adj" fmla="val 1348"/>
            </a:avLst>
          </a:prstGeom>
          <a:solidFill>
            <a:srgbClr val="17212B"/>
          </a:solidFill>
          <a:ln w="12700">
            <a:solidFill>
              <a:srgbClr val="17212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68680" y="2029968"/>
            <a:ext cx="6309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50" b="1" spc="70" kern="0" dirty="0">
                <a:solidFill>
                  <a:srgbClr val="8FD3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python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877824" y="2395728"/>
            <a:ext cx="6327648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params = {</a:t>
            </a: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"latitude": 48.7164,</a:t>
            </a: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"longitude": 21.2611,</a:t>
            </a: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"current": "temperature_2m,wind_speed_10m",</a:t>
            </a: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650" dirty="0"/>
          </a:p>
          <a:p>
            <a:pPr algn="l" indent="0" marL="0">
              <a:buNone/>
            </a:pP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response = httpx.get(endpoint, params=params, timeout=5.0)</a:t>
            </a:r>
            <a:endParaRPr lang="en-US" sz="1650" dirty="0"/>
          </a:p>
        </p:txBody>
      </p:sp>
      <p:sp>
        <p:nvSpPr>
          <p:cNvPr id="12" name="Shape 10"/>
          <p:cNvSpPr/>
          <p:nvPr/>
        </p:nvSpPr>
        <p:spPr>
          <a:xfrm>
            <a:off x="7909560" y="1901952"/>
            <a:ext cx="0" cy="3566160"/>
          </a:xfrm>
          <a:prstGeom prst="line">
            <a:avLst/>
          </a:prstGeom>
          <a:noFill/>
          <a:ln w="12700">
            <a:solidFill>
              <a:srgbClr val="1877B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229600" y="2130552"/>
            <a:ext cx="274320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5E6B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Neprilepujte hodnoty ručne do URL. Knižnica ich správne zakóduje a kód zostane čitateľný.</a:t>
            </a:r>
            <a:endParaRPr lang="en-US" sz="18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5544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20040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spc="8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PROGRAMOVANIE V PYTHONE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9829800" y="320040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PREDNÁŠKA 05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109960" y="6501384"/>
            <a:ext cx="457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17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658368" y="932688"/>
            <a:ext cx="107899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Query params alebo JSON body?</a:t>
            </a:r>
            <a:endParaRPr lang="en-US" sz="2900" dirty="0"/>
          </a:p>
        </p:txBody>
      </p:sp>
      <p:sp>
        <p:nvSpPr>
          <p:cNvPr id="9" name="Shape 7"/>
          <p:cNvSpPr/>
          <p:nvPr/>
        </p:nvSpPr>
        <p:spPr>
          <a:xfrm>
            <a:off x="713232" y="1874520"/>
            <a:ext cx="5010912" cy="109728"/>
          </a:xfrm>
          <a:prstGeom prst="rect">
            <a:avLst/>
          </a:prstGeom>
          <a:solidFill>
            <a:srgbClr val="167C80"/>
          </a:solidFill>
          <a:ln w="12700">
            <a:solidFill>
              <a:srgbClr val="167C8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13232" y="2212848"/>
            <a:ext cx="50109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Query params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768096" y="2788920"/>
            <a:ext cx="4919472" cy="38862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228600" indent="-228600">
              <a:buSzPct val="100000"/>
              <a:buChar char="•"/>
            </a:pPr>
            <a:r>
              <a:rPr lang="en-US" sz="165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sú súčasť URL</a:t>
            </a:r>
            <a:endParaRPr lang="en-US" sz="1650" dirty="0"/>
          </a:p>
          <a:p>
            <a:pPr marL="228600" indent="-228600">
              <a:buSzPct val="100000"/>
              <a:buChar char="•"/>
            </a:pPr>
            <a:r>
              <a:rPr lang="en-US" sz="165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filtrovanie, stránkovanie, vyhľadávanie</a:t>
            </a:r>
            <a:endParaRPr lang="en-US" sz="1650" dirty="0"/>
          </a:p>
          <a:p>
            <a:pPr marL="228600" indent="-228600">
              <a:buSzPct val="100000"/>
              <a:buChar char="•"/>
            </a:pPr>
            <a:r>
              <a:rPr lang="en-US" sz="165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často pri GET</a:t>
            </a:r>
            <a:endParaRPr lang="en-US" sz="1650" dirty="0"/>
          </a:p>
        </p:txBody>
      </p:sp>
      <p:sp>
        <p:nvSpPr>
          <p:cNvPr id="12" name="Shape 10"/>
          <p:cNvSpPr/>
          <p:nvPr/>
        </p:nvSpPr>
        <p:spPr>
          <a:xfrm>
            <a:off x="6373368" y="1874520"/>
            <a:ext cx="5010912" cy="109728"/>
          </a:xfrm>
          <a:prstGeom prst="rect">
            <a:avLst/>
          </a:prstGeom>
          <a:solidFill>
            <a:srgbClr val="E0A03A"/>
          </a:solidFill>
          <a:ln w="12700">
            <a:solidFill>
              <a:srgbClr val="E0A03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373368" y="2212848"/>
            <a:ext cx="50109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JSON body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6428232" y="2788920"/>
            <a:ext cx="4919472" cy="38862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228600" indent="-228600">
              <a:buSzPct val="100000"/>
              <a:buChar char="•"/>
            </a:pPr>
            <a:r>
              <a:rPr lang="en-US" sz="165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je obsah požiadavky</a:t>
            </a:r>
            <a:endParaRPr lang="en-US" sz="1650" dirty="0"/>
          </a:p>
          <a:p>
            <a:pPr marL="228600" indent="-228600">
              <a:buSzPct val="100000"/>
              <a:buChar char="•"/>
            </a:pPr>
            <a:r>
              <a:rPr lang="en-US" sz="165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nový alebo zmenený objekt</a:t>
            </a:r>
            <a:endParaRPr lang="en-US" sz="1650" dirty="0"/>
          </a:p>
          <a:p>
            <a:pPr marL="228600" indent="-228600">
              <a:buSzPct val="100000"/>
              <a:buChar char="•"/>
            </a:pPr>
            <a:r>
              <a:rPr lang="en-US" sz="165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často pri POST alebo PATCH</a:t>
            </a:r>
            <a:endParaRPr lang="en-US" sz="16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5544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20040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spc="8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PROGRAMOVANIE V PYTHONE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9829800" y="320040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PREDNÁŠKA 05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109960" y="6501384"/>
            <a:ext cx="457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18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658368" y="932688"/>
            <a:ext cx="107899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Odoslanie JSON dát</a:t>
            </a:r>
            <a:endParaRPr lang="en-US" sz="2900" dirty="0"/>
          </a:p>
        </p:txBody>
      </p:sp>
      <p:sp>
        <p:nvSpPr>
          <p:cNvPr id="9" name="Shape 7"/>
          <p:cNvSpPr/>
          <p:nvPr/>
        </p:nvSpPr>
        <p:spPr>
          <a:xfrm>
            <a:off x="658368" y="1828800"/>
            <a:ext cx="6812280" cy="4069080"/>
          </a:xfrm>
          <a:prstGeom prst="roundRect">
            <a:avLst>
              <a:gd name="adj" fmla="val 1348"/>
            </a:avLst>
          </a:prstGeom>
          <a:solidFill>
            <a:srgbClr val="17212B"/>
          </a:solidFill>
          <a:ln w="12700">
            <a:solidFill>
              <a:srgbClr val="17212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68680" y="2029968"/>
            <a:ext cx="6309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50" b="1" spc="70" kern="0" dirty="0">
                <a:solidFill>
                  <a:srgbClr val="8FD3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python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877824" y="2395728"/>
            <a:ext cx="6327648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payload = {</a:t>
            </a: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"title": "Dokončiť report",</a:t>
            </a: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"done": False,</a:t>
            </a: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650" dirty="0"/>
          </a:p>
          <a:p>
            <a:pPr algn="l" indent="0" marL="0">
              <a:buNone/>
            </a:pP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response = httpx.post(url, json=payload, timeout=5.0)</a:t>
            </a: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response.raise_for_status()</a:t>
            </a:r>
            <a:endParaRPr lang="en-US" sz="1650" dirty="0"/>
          </a:p>
        </p:txBody>
      </p:sp>
      <p:sp>
        <p:nvSpPr>
          <p:cNvPr id="12" name="Shape 10"/>
          <p:cNvSpPr/>
          <p:nvPr/>
        </p:nvSpPr>
        <p:spPr>
          <a:xfrm>
            <a:off x="7909560" y="1901952"/>
            <a:ext cx="0" cy="3566160"/>
          </a:xfrm>
          <a:prstGeom prst="line">
            <a:avLst/>
          </a:prstGeom>
          <a:noFill/>
          <a:ln w="12700">
            <a:solidFill>
              <a:srgbClr val="1877B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229600" y="2130552"/>
            <a:ext cx="274320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5E6B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Parameter json= nastaví JSON body a vhodný Content-Type. Nezamieňajte ho s data=.</a:t>
            </a:r>
            <a:endParaRPr lang="en-US" sz="18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5544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20040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spc="8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PROGRAMOVANIE V PYTHONE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9829800" y="320040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PREDNÁŠKA 05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109960" y="6501384"/>
            <a:ext cx="457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19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658368" y="932688"/>
            <a:ext cx="107899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Headers a konfigurácia</a:t>
            </a:r>
            <a:endParaRPr lang="en-US" sz="2900" dirty="0"/>
          </a:p>
        </p:txBody>
      </p:sp>
      <p:sp>
        <p:nvSpPr>
          <p:cNvPr id="9" name="Shape 7"/>
          <p:cNvSpPr/>
          <p:nvPr/>
        </p:nvSpPr>
        <p:spPr>
          <a:xfrm>
            <a:off x="658368" y="1828800"/>
            <a:ext cx="6812280" cy="4069080"/>
          </a:xfrm>
          <a:prstGeom prst="roundRect">
            <a:avLst>
              <a:gd name="adj" fmla="val 1348"/>
            </a:avLst>
          </a:prstGeom>
          <a:solidFill>
            <a:srgbClr val="17212B"/>
          </a:solidFill>
          <a:ln w="12700">
            <a:solidFill>
              <a:srgbClr val="17212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68680" y="2029968"/>
            <a:ext cx="6309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50" b="1" spc="70" kern="0" dirty="0">
                <a:solidFill>
                  <a:srgbClr val="8FD3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python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877824" y="2395728"/>
            <a:ext cx="6327648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headers = {</a:t>
            </a: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"Accept": "application/json",</a:t>
            </a: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"Authorization": f"Bearer {api_key}",</a:t>
            </a: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650" dirty="0"/>
          </a:p>
          <a:p>
            <a:pPr algn="l" indent="0" marL="0">
              <a:buNone/>
            </a:pP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response = httpx.get(</a:t>
            </a: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url, headers=headers, timeout=5.0</a:t>
            </a: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endParaRPr lang="en-US" sz="1650" dirty="0"/>
          </a:p>
        </p:txBody>
      </p:sp>
      <p:sp>
        <p:nvSpPr>
          <p:cNvPr id="12" name="Shape 10"/>
          <p:cNvSpPr/>
          <p:nvPr/>
        </p:nvSpPr>
        <p:spPr>
          <a:xfrm>
            <a:off x="7909560" y="1901952"/>
            <a:ext cx="0" cy="3566160"/>
          </a:xfrm>
          <a:prstGeom prst="line">
            <a:avLst/>
          </a:prstGeom>
          <a:noFill/>
          <a:ln w="12700">
            <a:solidFill>
              <a:srgbClr val="1877B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229600" y="2130552"/>
            <a:ext cx="274320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5E6B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Headers nesú metaúdaje: formát odpovede, identitu klienta alebo autentifikáciu.</a:t>
            </a:r>
            <a:endParaRPr lang="en-US" sz="18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5544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20040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spc="8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PROGRAMOVANIE V PYTHONE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9829800" y="320040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PREDNÁŠKA 05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109960" y="6501384"/>
            <a:ext cx="457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20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713232" y="1353312"/>
            <a:ext cx="1280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1877B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04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713232" y="2011680"/>
            <a:ext cx="9875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37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JSON odpoveď</a:t>
            </a:r>
            <a:endParaRPr lang="en-US" sz="3700" dirty="0"/>
          </a:p>
        </p:txBody>
      </p:sp>
      <p:sp>
        <p:nvSpPr>
          <p:cNvPr id="10" name="Text 8"/>
          <p:cNvSpPr/>
          <p:nvPr/>
        </p:nvSpPr>
        <p:spPr>
          <a:xfrm>
            <a:off x="749808" y="3063240"/>
            <a:ext cx="7863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5E6B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JSON poznáte zo súborov. Teraz prišiel cez sieť.</a:t>
            </a:r>
            <a:endParaRPr lang="en-US" sz="2000" dirty="0"/>
          </a:p>
        </p:txBody>
      </p:sp>
      <p:sp>
        <p:nvSpPr>
          <p:cNvPr id="11" name="Shape 9"/>
          <p:cNvSpPr/>
          <p:nvPr/>
        </p:nvSpPr>
        <p:spPr>
          <a:xfrm>
            <a:off x="731520" y="3977640"/>
            <a:ext cx="2834640" cy="128016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5544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20040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spc="8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PROGRAMOVANIE V PYTHONE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9829800" y="320040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PREDNÁŠKA 05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109960" y="6501384"/>
            <a:ext cx="457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21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658368" y="932688"/>
            <a:ext cx="107899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Od odpovede k Python objektu</a:t>
            </a:r>
            <a:endParaRPr lang="en-US" sz="2900" dirty="0"/>
          </a:p>
        </p:txBody>
      </p:sp>
      <p:sp>
        <p:nvSpPr>
          <p:cNvPr id="9" name="Shape 7"/>
          <p:cNvSpPr/>
          <p:nvPr/>
        </p:nvSpPr>
        <p:spPr>
          <a:xfrm>
            <a:off x="731520" y="2834640"/>
            <a:ext cx="2450592" cy="1042416"/>
          </a:xfrm>
          <a:prstGeom prst="roundRect">
            <a:avLst>
              <a:gd name="adj" fmla="val 4386"/>
            </a:avLst>
          </a:prstGeom>
          <a:solidFill>
            <a:srgbClr val="F3F6F8"/>
          </a:solidFill>
          <a:ln w="12700">
            <a:solidFill>
              <a:srgbClr val="D8E0E6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77824" y="3063240"/>
            <a:ext cx="21579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HTTP response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3319272" y="3209544"/>
            <a:ext cx="182880" cy="292608"/>
          </a:xfrm>
          <a:prstGeom prst="chevron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3593592" y="2834640"/>
            <a:ext cx="2450592" cy="1042416"/>
          </a:xfrm>
          <a:prstGeom prst="roundRect">
            <a:avLst>
              <a:gd name="adj" fmla="val 4386"/>
            </a:avLst>
          </a:prstGeom>
          <a:solidFill>
            <a:srgbClr val="EAF3F7"/>
          </a:solidFill>
          <a:ln w="12700">
            <a:solidFill>
              <a:srgbClr val="9DCCDD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739896" y="3063240"/>
            <a:ext cx="21579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response.json()</a:t>
            </a:r>
            <a:endParaRPr lang="en-US" sz="1700" dirty="0"/>
          </a:p>
        </p:txBody>
      </p:sp>
      <p:sp>
        <p:nvSpPr>
          <p:cNvPr id="14" name="Shape 12"/>
          <p:cNvSpPr/>
          <p:nvPr/>
        </p:nvSpPr>
        <p:spPr>
          <a:xfrm>
            <a:off x="6181344" y="3209544"/>
            <a:ext cx="182880" cy="292608"/>
          </a:xfrm>
          <a:prstGeom prst="chevron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455664" y="2834640"/>
            <a:ext cx="2450592" cy="1042416"/>
          </a:xfrm>
          <a:prstGeom prst="roundRect">
            <a:avLst>
              <a:gd name="adj" fmla="val 4386"/>
            </a:avLst>
          </a:prstGeom>
          <a:solidFill>
            <a:srgbClr val="F3F6F8"/>
          </a:solidFill>
          <a:ln w="12700">
            <a:solidFill>
              <a:srgbClr val="D8E0E6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601968" y="3063240"/>
            <a:ext cx="21579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dict / list</a:t>
            </a:r>
            <a:endParaRPr lang="en-US" sz="1700" dirty="0"/>
          </a:p>
        </p:txBody>
      </p:sp>
      <p:sp>
        <p:nvSpPr>
          <p:cNvPr id="17" name="Shape 15"/>
          <p:cNvSpPr/>
          <p:nvPr/>
        </p:nvSpPr>
        <p:spPr>
          <a:xfrm>
            <a:off x="9043416" y="3209544"/>
            <a:ext cx="182880" cy="292608"/>
          </a:xfrm>
          <a:prstGeom prst="chevron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317736" y="2834640"/>
            <a:ext cx="2450592" cy="1042416"/>
          </a:xfrm>
          <a:prstGeom prst="roundRect">
            <a:avLst>
              <a:gd name="adj" fmla="val 4386"/>
            </a:avLst>
          </a:prstGeom>
          <a:solidFill>
            <a:srgbClr val="EAF3F7"/>
          </a:solidFill>
          <a:ln w="12700">
            <a:solidFill>
              <a:srgbClr val="9DCCDD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9464040" y="3063240"/>
            <a:ext cx="21579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vlastný model</a:t>
            </a:r>
            <a:endParaRPr lang="en-US" sz="17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5544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20040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spc="8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PROGRAMOVANIE V PYTHONE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9829800" y="320040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PREDNÁŠKA 05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109960" y="6501384"/>
            <a:ext cx="457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22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658368" y="932688"/>
            <a:ext cx="107899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Vyberte iba údaje, ktoré potrebujete</a:t>
            </a:r>
            <a:endParaRPr lang="en-US" sz="2900" dirty="0"/>
          </a:p>
        </p:txBody>
      </p:sp>
      <p:sp>
        <p:nvSpPr>
          <p:cNvPr id="9" name="Shape 7"/>
          <p:cNvSpPr/>
          <p:nvPr/>
        </p:nvSpPr>
        <p:spPr>
          <a:xfrm>
            <a:off x="658368" y="1828800"/>
            <a:ext cx="6812280" cy="4069080"/>
          </a:xfrm>
          <a:prstGeom prst="roundRect">
            <a:avLst>
              <a:gd name="adj" fmla="val 1348"/>
            </a:avLst>
          </a:prstGeom>
          <a:solidFill>
            <a:srgbClr val="17212B"/>
          </a:solidFill>
          <a:ln w="12700">
            <a:solidFill>
              <a:srgbClr val="17212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68680" y="2029968"/>
            <a:ext cx="6309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50" b="1" spc="70" kern="0" dirty="0">
                <a:solidFill>
                  <a:srgbClr val="8FD3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python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877824" y="2395728"/>
            <a:ext cx="6327648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data = response.json()</a:t>
            </a: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current = data["current"]</a:t>
            </a:r>
            <a:endParaRPr lang="en-US" sz="1650" dirty="0"/>
          </a:p>
          <a:p>
            <a:pPr algn="l" indent="0" marL="0">
              <a:buNone/>
            </a:pP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temperature = current["temperature_2m"]</a:t>
            </a: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wind_speed = current["wind_speed_10m"]</a:t>
            </a:r>
            <a:endParaRPr lang="en-US" sz="1650" dirty="0"/>
          </a:p>
          <a:p>
            <a:pPr algn="l" indent="0" marL="0">
              <a:buNone/>
            </a:pP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print(f"Teplota: {temperature} °C")</a:t>
            </a: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print(f"Vietor: {wind_speed} km/h")</a:t>
            </a:r>
            <a:endParaRPr lang="en-US" sz="1650" dirty="0"/>
          </a:p>
        </p:txBody>
      </p:sp>
      <p:sp>
        <p:nvSpPr>
          <p:cNvPr id="12" name="Shape 10"/>
          <p:cNvSpPr/>
          <p:nvPr/>
        </p:nvSpPr>
        <p:spPr>
          <a:xfrm>
            <a:off x="7909560" y="1901952"/>
            <a:ext cx="0" cy="3566160"/>
          </a:xfrm>
          <a:prstGeom prst="line">
            <a:avLst/>
          </a:prstGeom>
          <a:noFill/>
          <a:ln w="12700">
            <a:solidFill>
              <a:srgbClr val="1877B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229600" y="2130552"/>
            <a:ext cx="274320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5E6B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Celý JSON nevypisujeme používateľovi. Preložíme ho do malého, zrozumiteľného výstupu.</a:t>
            </a:r>
            <a:endParaRPr lang="en-US" sz="18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5544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20040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spc="8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PROGRAMOVANIE V PYTHONE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9829800" y="320040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PREDNÁŠKA 05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109960" y="6501384"/>
            <a:ext cx="457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23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658368" y="932688"/>
            <a:ext cx="107899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Dokumentácia API je súčasť riešenia</a:t>
            </a:r>
            <a:endParaRPr lang="en-US" sz="2900" dirty="0"/>
          </a:p>
        </p:txBody>
      </p:sp>
      <p:sp>
        <p:nvSpPr>
          <p:cNvPr id="9" name="Text 7"/>
          <p:cNvSpPr/>
          <p:nvPr/>
        </p:nvSpPr>
        <p:spPr>
          <a:xfrm>
            <a:off x="868680" y="1938528"/>
            <a:ext cx="9921240" cy="38862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228600" indent="-228600">
              <a:buSzPct val="100000"/>
              <a:buChar char="•"/>
            </a:pPr>
            <a:r>
              <a:rPr lang="en-US" sz="180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endpoint a HTTP method</a:t>
            </a:r>
            <a:endParaRPr lang="en-US" sz="1800" dirty="0"/>
          </a:p>
          <a:p>
            <a:pPr marL="228600" indent="-228600">
              <a:buSzPct val="100000"/>
              <a:buChar char="•"/>
            </a:pPr>
            <a:r>
              <a:rPr lang="en-US" sz="180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povinné a voliteľné parametre</a:t>
            </a:r>
            <a:endParaRPr lang="en-US" sz="1800" dirty="0"/>
          </a:p>
          <a:p>
            <a:pPr marL="228600" indent="-228600">
              <a:buSzPct val="100000"/>
              <a:buChar char="•"/>
            </a:pPr>
            <a:r>
              <a:rPr lang="en-US" sz="180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formát úspešnej odpovede a chýb</a:t>
            </a:r>
            <a:endParaRPr lang="en-US" sz="1800" dirty="0"/>
          </a:p>
          <a:p>
            <a:pPr marL="228600" indent="-228600">
              <a:buSzPct val="100000"/>
              <a:buChar char="•"/>
            </a:pPr>
            <a:r>
              <a:rPr lang="en-US" sz="180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autentifikácia, limity a príklady</a:t>
            </a:r>
            <a:endParaRPr lang="en-US" sz="18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5544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20040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spc="8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PROGRAMOVANIE V PYTHONE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9829800" y="320040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PREDNÁŠKA 05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109960" y="6501384"/>
            <a:ext cx="457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24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658368" y="932688"/>
            <a:ext cx="107899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Otázka: kde patrí filter?</a:t>
            </a:r>
            <a:endParaRPr lang="en-US" sz="2900" dirty="0"/>
          </a:p>
        </p:txBody>
      </p:sp>
      <p:sp>
        <p:nvSpPr>
          <p:cNvPr id="9" name="Text 7"/>
          <p:cNvSpPr/>
          <p:nvPr/>
        </p:nvSpPr>
        <p:spPr>
          <a:xfrm>
            <a:off x="694944" y="1709928"/>
            <a:ext cx="9235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5E6B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Chceme zoznam úloh, ale iba úlohy s done=false. Čo je prirodzený prístup?</a:t>
            </a:r>
            <a:endParaRPr lang="en-US" sz="2000" dirty="0"/>
          </a:p>
        </p:txBody>
      </p:sp>
      <p:sp>
        <p:nvSpPr>
          <p:cNvPr id="10" name="Shape 8"/>
          <p:cNvSpPr/>
          <p:nvPr/>
        </p:nvSpPr>
        <p:spPr>
          <a:xfrm>
            <a:off x="658368" y="2423160"/>
            <a:ext cx="7863840" cy="3154680"/>
          </a:xfrm>
          <a:prstGeom prst="roundRect">
            <a:avLst>
              <a:gd name="adj" fmla="val 1739"/>
            </a:avLst>
          </a:prstGeom>
          <a:solidFill>
            <a:srgbClr val="F3F6F8"/>
          </a:solidFill>
          <a:ln w="12700">
            <a:solidFill>
              <a:srgbClr val="D8E0E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96112" y="2651760"/>
            <a:ext cx="7132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1877B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HTTP</a:t>
            </a:r>
            <a:endParaRPr lang="en-US" sz="850" dirty="0"/>
          </a:p>
        </p:txBody>
      </p:sp>
      <p:sp>
        <p:nvSpPr>
          <p:cNvPr id="12" name="Text 10"/>
          <p:cNvSpPr/>
          <p:nvPr/>
        </p:nvSpPr>
        <p:spPr>
          <a:xfrm>
            <a:off x="896112" y="2990088"/>
            <a:ext cx="7132320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1821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GET /tasks?done=false</a:t>
            </a:r>
            <a:endParaRPr lang="en-US" sz="1800" dirty="0"/>
          </a:p>
          <a:p>
            <a:pPr algn="l" indent="0" marL="0">
              <a:buNone/>
            </a:pPr>
            <a:endParaRPr lang="en-US" sz="1800" dirty="0"/>
          </a:p>
          <a:p>
            <a:pPr algn="l" indent="0" marL="0">
              <a:buNone/>
            </a:pPr>
            <a:r>
              <a:rPr lang="en-US" sz="1800" dirty="0">
                <a:solidFill>
                  <a:srgbClr val="1821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alebo</a:t>
            </a:r>
            <a:endParaRPr lang="en-US" sz="1800" dirty="0"/>
          </a:p>
          <a:p>
            <a:pPr algn="l" indent="0" marL="0">
              <a:buNone/>
            </a:pPr>
            <a:endParaRPr lang="en-US" sz="1800" dirty="0"/>
          </a:p>
          <a:p>
            <a:pPr algn="l" indent="0" marL="0">
              <a:buNone/>
            </a:pPr>
            <a:r>
              <a:rPr lang="en-US" sz="1800" dirty="0">
                <a:solidFill>
                  <a:srgbClr val="1821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POST /tasks</a:t>
            </a:r>
            <a:endParaRPr lang="en-US" sz="1800" dirty="0"/>
          </a:p>
          <a:p>
            <a:pPr algn="l" indent="0" marL="0">
              <a:buNone/>
            </a:pPr>
            <a:r>
              <a:rPr lang="en-US" sz="1800" dirty="0">
                <a:solidFill>
                  <a:srgbClr val="1821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{"done": false}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8915400" y="2880360"/>
            <a:ext cx="201168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700" dirty="0">
                <a:solidFill>
                  <a:srgbClr val="5E6B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Najprv si odpoveď zdôvodnite. Potom kód spustite.</a:t>
            </a:r>
            <a:endParaRPr lang="en-US" sz="17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5544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20040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spc="8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PROGRAMOVANIE V PYTHONE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9829800" y="320040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PREDNÁŠKA 05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109960" y="6501384"/>
            <a:ext cx="457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25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713232" y="1353312"/>
            <a:ext cx="1280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1877B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05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713232" y="2011680"/>
            <a:ext cx="9875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37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Spoľahlivý klient</a:t>
            </a:r>
            <a:endParaRPr lang="en-US" sz="3700" dirty="0"/>
          </a:p>
        </p:txBody>
      </p:sp>
      <p:sp>
        <p:nvSpPr>
          <p:cNvPr id="10" name="Text 8"/>
          <p:cNvSpPr/>
          <p:nvPr/>
        </p:nvSpPr>
        <p:spPr>
          <a:xfrm>
            <a:off x="749808" y="3063240"/>
            <a:ext cx="7863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5E6B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Sieť môže byť pomalá, nedostupná alebo vrátiť chybu.</a:t>
            </a:r>
            <a:endParaRPr lang="en-US" sz="2000" dirty="0"/>
          </a:p>
        </p:txBody>
      </p:sp>
      <p:sp>
        <p:nvSpPr>
          <p:cNvPr id="11" name="Shape 9"/>
          <p:cNvSpPr/>
          <p:nvPr/>
        </p:nvSpPr>
        <p:spPr>
          <a:xfrm>
            <a:off x="731520" y="3977640"/>
            <a:ext cx="2834640" cy="128016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5544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20040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spc="8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PROGRAMOVANIE V PYTHONE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9829800" y="320040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PREDNÁŠKA 05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109960" y="6501384"/>
            <a:ext cx="457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26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658368" y="932688"/>
            <a:ext cx="107899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Funkcia s timeout a chybami</a:t>
            </a:r>
            <a:endParaRPr lang="en-US" sz="2900" dirty="0"/>
          </a:p>
        </p:txBody>
      </p:sp>
      <p:sp>
        <p:nvSpPr>
          <p:cNvPr id="9" name="Shape 7"/>
          <p:cNvSpPr/>
          <p:nvPr/>
        </p:nvSpPr>
        <p:spPr>
          <a:xfrm>
            <a:off x="658368" y="1828800"/>
            <a:ext cx="6812280" cy="4069080"/>
          </a:xfrm>
          <a:prstGeom prst="roundRect">
            <a:avLst>
              <a:gd name="adj" fmla="val 1348"/>
            </a:avLst>
          </a:prstGeom>
          <a:solidFill>
            <a:srgbClr val="17212B"/>
          </a:solidFill>
          <a:ln w="12700">
            <a:solidFill>
              <a:srgbClr val="17212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68680" y="2029968"/>
            <a:ext cx="6309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50" b="1" spc="70" kern="0" dirty="0">
                <a:solidFill>
                  <a:srgbClr val="8FD3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python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877824" y="2395728"/>
            <a:ext cx="6327648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 fetch_json(url: str) -&gt; dict:</a:t>
            </a: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try:</a:t>
            </a: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response = httpx.get(url, timeout=5.0)</a:t>
            </a: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response.raise_for_status()</a:t>
            </a: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except httpx.TimeoutException:</a:t>
            </a: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raise RuntimeError("Server neodpovedal včas")</a:t>
            </a: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except httpx.HTTPStatusError as error:</a:t>
            </a: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raise RuntimeError(f"HTTP {error.response.status_code}")</a:t>
            </a: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except httpx.RequestError as error:</a:t>
            </a: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raise RuntimeError(f"Problém so sieťou: {error}") from error</a:t>
            </a: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return response.json()</a:t>
            </a:r>
            <a:endParaRPr lang="en-US" sz="1650" dirty="0"/>
          </a:p>
        </p:txBody>
      </p:sp>
      <p:sp>
        <p:nvSpPr>
          <p:cNvPr id="12" name="Shape 10"/>
          <p:cNvSpPr/>
          <p:nvPr/>
        </p:nvSpPr>
        <p:spPr>
          <a:xfrm>
            <a:off x="7909560" y="1901952"/>
            <a:ext cx="0" cy="3566160"/>
          </a:xfrm>
          <a:prstGeom prst="line">
            <a:avLst/>
          </a:prstGeom>
          <a:noFill/>
          <a:ln w="12700">
            <a:solidFill>
              <a:srgbClr val="1877B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229600" y="2130552"/>
            <a:ext cx="274320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5E6B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Rozlišujeme timeout, HTTP chybu a problém so spojením. Volajúci dostane zrozumiteľnú chybu.</a:t>
            </a:r>
            <a:endParaRPr lang="en-US" sz="18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5544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20040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spc="8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PROGRAMOVANIE V PYTHONE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9829800" y="320040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PREDNÁŠKA 05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109960" y="6501384"/>
            <a:ext cx="457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27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658368" y="932688"/>
            <a:ext cx="107899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Timeout nie je nepovinný detail</a:t>
            </a:r>
            <a:endParaRPr lang="en-US" sz="2900" dirty="0"/>
          </a:p>
        </p:txBody>
      </p:sp>
      <p:sp>
        <p:nvSpPr>
          <p:cNvPr id="9" name="Text 7"/>
          <p:cNvSpPr/>
          <p:nvPr/>
        </p:nvSpPr>
        <p:spPr>
          <a:xfrm>
            <a:off x="685800" y="1719072"/>
            <a:ext cx="99669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5E6B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Bez timeoutu môže program čakať na sieť neprimerane dlho.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868680" y="2487168"/>
            <a:ext cx="9921240" cy="38862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228600" indent="-228600">
              <a:buSzPct val="100000"/>
              <a:buChar char="•"/>
            </a:pPr>
            <a:r>
              <a:rPr lang="en-US" sz="180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timeout chráni CLI aj GUI pred čakaním</a:t>
            </a:r>
            <a:endParaRPr lang="en-US" sz="1800" dirty="0"/>
          </a:p>
          <a:p>
            <a:pPr marL="228600" indent="-228600">
              <a:buSzPct val="100000"/>
              <a:buChar char="•"/>
            </a:pPr>
            <a:r>
              <a:rPr lang="en-US" sz="180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neznamená, že server zlyhal navždy</a:t>
            </a:r>
            <a:endParaRPr lang="en-US" sz="1800" dirty="0"/>
          </a:p>
          <a:p>
            <a:pPr marL="228600" indent="-228600">
              <a:buSzPct val="100000"/>
              <a:buChar char="•"/>
            </a:pPr>
            <a:r>
              <a:rPr lang="en-US" sz="180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používateľovi povedzte, čo môže skúsiť ďalej</a:t>
            </a:r>
            <a:endParaRPr lang="en-US" sz="18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5544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20040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spc="8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PROGRAMOVANIE V PYTHONE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9829800" y="320040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PREDNÁŠKA 05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109960" y="6501384"/>
            <a:ext cx="457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28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658368" y="932688"/>
            <a:ext cx="107899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API key nepatrí do zdrojového kódu</a:t>
            </a:r>
            <a:endParaRPr lang="en-US" sz="2900" dirty="0"/>
          </a:p>
        </p:txBody>
      </p:sp>
      <p:sp>
        <p:nvSpPr>
          <p:cNvPr id="9" name="Shape 7"/>
          <p:cNvSpPr/>
          <p:nvPr/>
        </p:nvSpPr>
        <p:spPr>
          <a:xfrm>
            <a:off x="658368" y="1828800"/>
            <a:ext cx="6812280" cy="4069080"/>
          </a:xfrm>
          <a:prstGeom prst="roundRect">
            <a:avLst>
              <a:gd name="adj" fmla="val 1348"/>
            </a:avLst>
          </a:prstGeom>
          <a:solidFill>
            <a:srgbClr val="17212B"/>
          </a:solidFill>
          <a:ln w="12700">
            <a:solidFill>
              <a:srgbClr val="17212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68680" y="2029968"/>
            <a:ext cx="6309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50" b="1" spc="70" kern="0" dirty="0">
                <a:solidFill>
                  <a:srgbClr val="8FD3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python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877824" y="2395728"/>
            <a:ext cx="6327648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import os</a:t>
            </a:r>
            <a:endParaRPr lang="en-US" sz="1650" dirty="0"/>
          </a:p>
          <a:p>
            <a:pPr algn="l" indent="0" marL="0">
              <a:buNone/>
            </a:pP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api_key = os.getenv("WEATHER_API_KEY")</a:t>
            </a: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if not api_key:</a:t>
            </a: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raise RuntimeError("WEATHER_API_KEY nie je nastavený")</a:t>
            </a:r>
            <a:endParaRPr lang="en-US" sz="1650" dirty="0"/>
          </a:p>
          <a:p>
            <a:pPr algn="l" indent="0" marL="0">
              <a:buNone/>
            </a:pP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headers = {"Authorization": f"Bearer {api_key}"}</a:t>
            </a:r>
            <a:endParaRPr lang="en-US" sz="1650" dirty="0"/>
          </a:p>
        </p:txBody>
      </p:sp>
      <p:sp>
        <p:nvSpPr>
          <p:cNvPr id="12" name="Shape 10"/>
          <p:cNvSpPr/>
          <p:nvPr/>
        </p:nvSpPr>
        <p:spPr>
          <a:xfrm>
            <a:off x="7909560" y="1901952"/>
            <a:ext cx="0" cy="3566160"/>
          </a:xfrm>
          <a:prstGeom prst="line">
            <a:avLst/>
          </a:prstGeom>
          <a:noFill/>
          <a:ln w="12700">
            <a:solidFill>
              <a:srgbClr val="1877B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229600" y="2130552"/>
            <a:ext cx="274320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5E6B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Hodnota patrí do prostredia alebo lokálneho .env súboru, nie do commitu. Do repozitára patrí iba .env.example.</a:t>
            </a:r>
            <a:endParaRPr lang="en-US" sz="18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5544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20040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spc="8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PROGRAMOVANIE V PYTHONE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9829800" y="320040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PREDNÁŠKA 05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109960" y="6501384"/>
            <a:ext cx="457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29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658368" y="932688"/>
            <a:ext cx="107899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Rate limit a pagination</a:t>
            </a:r>
            <a:endParaRPr lang="en-US" sz="2900" dirty="0"/>
          </a:p>
        </p:txBody>
      </p:sp>
      <p:sp>
        <p:nvSpPr>
          <p:cNvPr id="9" name="Text 7"/>
          <p:cNvSpPr/>
          <p:nvPr/>
        </p:nvSpPr>
        <p:spPr>
          <a:xfrm>
            <a:off x="868680" y="1938528"/>
            <a:ext cx="9921240" cy="38862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228600" indent="-228600">
              <a:buSzPct val="100000"/>
              <a:buChar char="•"/>
            </a:pPr>
            <a:r>
              <a:rPr lang="en-US" sz="180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API môže obmedziť počet požiadaviek za čas</a:t>
            </a:r>
            <a:endParaRPr lang="en-US" sz="1800" dirty="0"/>
          </a:p>
          <a:p>
            <a:pPr marL="228600" indent="-228600">
              <a:buSzPct val="100000"/>
              <a:buChar char="•"/>
            </a:pPr>
            <a:r>
              <a:rPr lang="en-US" sz="180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väčší zoznam býva rozdelený na stránky</a:t>
            </a:r>
            <a:endParaRPr lang="en-US" sz="1800" dirty="0"/>
          </a:p>
          <a:p>
            <a:pPr marL="228600" indent="-228600">
              <a:buSzPct val="100000"/>
              <a:buChar char="•"/>
            </a:pPr>
            <a:r>
              <a:rPr lang="en-US" sz="180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presný mechanizmus určuje dokumentácia konkrétneho API</a:t>
            </a:r>
            <a:endParaRPr lang="en-US" sz="1800" dirty="0"/>
          </a:p>
          <a:p>
            <a:pPr marL="228600" indent="-228600">
              <a:buSzPct val="100000"/>
              <a:buChar char="•"/>
            </a:pPr>
            <a:r>
              <a:rPr lang="en-US" sz="180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opakované requesty robte uvážene, nie v bezhraničnom cykle</a:t>
            </a:r>
            <a:endParaRPr lang="en-US" sz="18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5544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20040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spc="8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PROGRAMOVANIE V PYTHONE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9829800" y="320040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PREDNÁŠKA 05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109960" y="6501384"/>
            <a:ext cx="457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30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658368" y="932688"/>
            <a:ext cx="107899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Jednoduché stránkovanie</a:t>
            </a:r>
            <a:endParaRPr lang="en-US" sz="2900" dirty="0"/>
          </a:p>
        </p:txBody>
      </p:sp>
      <p:sp>
        <p:nvSpPr>
          <p:cNvPr id="9" name="Shape 7"/>
          <p:cNvSpPr/>
          <p:nvPr/>
        </p:nvSpPr>
        <p:spPr>
          <a:xfrm>
            <a:off x="658368" y="1828800"/>
            <a:ext cx="6812280" cy="4069080"/>
          </a:xfrm>
          <a:prstGeom prst="roundRect">
            <a:avLst>
              <a:gd name="adj" fmla="val 1348"/>
            </a:avLst>
          </a:prstGeom>
          <a:solidFill>
            <a:srgbClr val="17212B"/>
          </a:solidFill>
          <a:ln w="12700">
            <a:solidFill>
              <a:srgbClr val="17212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68680" y="2029968"/>
            <a:ext cx="6309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50" b="1" spc="70" kern="0" dirty="0">
                <a:solidFill>
                  <a:srgbClr val="8FD3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python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877824" y="2395728"/>
            <a:ext cx="6327648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page = 1</a:t>
            </a: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while True:</a:t>
            </a: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response = httpx.get(url, params={"page": page})</a:t>
            </a: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response.raise_for_status()</a:t>
            </a: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items = response.json()</a:t>
            </a: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if not items:</a:t>
            </a: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break</a:t>
            </a: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process(items)</a:t>
            </a: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page += 1</a:t>
            </a:r>
            <a:endParaRPr lang="en-US" sz="1650" dirty="0"/>
          </a:p>
        </p:txBody>
      </p:sp>
      <p:sp>
        <p:nvSpPr>
          <p:cNvPr id="12" name="Shape 10"/>
          <p:cNvSpPr/>
          <p:nvPr/>
        </p:nvSpPr>
        <p:spPr>
          <a:xfrm>
            <a:off x="7909560" y="1901952"/>
            <a:ext cx="0" cy="3566160"/>
          </a:xfrm>
          <a:prstGeom prst="line">
            <a:avLst/>
          </a:prstGeom>
          <a:noFill/>
          <a:ln w="12700">
            <a:solidFill>
              <a:srgbClr val="1877B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229600" y="2130552"/>
            <a:ext cx="274320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5E6B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Toto je iba jeden možný model. Niektoré API používajú cursor alebo Link header namiesto čísla stránky.</a:t>
            </a:r>
            <a:endParaRPr lang="en-US" sz="18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5544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20040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spc="8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PROGRAMOVANIE V PYTHONE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9829800" y="320040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PREDNÁŠKA 05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109960" y="6501384"/>
            <a:ext cx="457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31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713232" y="1353312"/>
            <a:ext cx="1280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1877B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06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713232" y="2011680"/>
            <a:ext cx="9875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37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API alebo scraping?</a:t>
            </a:r>
            <a:endParaRPr lang="en-US" sz="3700" dirty="0"/>
          </a:p>
        </p:txBody>
      </p:sp>
      <p:sp>
        <p:nvSpPr>
          <p:cNvPr id="10" name="Text 8"/>
          <p:cNvSpPr/>
          <p:nvPr/>
        </p:nvSpPr>
        <p:spPr>
          <a:xfrm>
            <a:off x="749808" y="3063240"/>
            <a:ext cx="7863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5E6B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Ak služba poskytuje API, začnite dokumentovaným rozhraním.</a:t>
            </a:r>
            <a:endParaRPr lang="en-US" sz="2000" dirty="0"/>
          </a:p>
        </p:txBody>
      </p:sp>
      <p:sp>
        <p:nvSpPr>
          <p:cNvPr id="11" name="Shape 9"/>
          <p:cNvSpPr/>
          <p:nvPr/>
        </p:nvSpPr>
        <p:spPr>
          <a:xfrm>
            <a:off x="731520" y="3977640"/>
            <a:ext cx="2834640" cy="128016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5544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20040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spc="8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PROGRAMOVANIE V PYTHONE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9829800" y="320040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PREDNÁŠKA 05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109960" y="6501384"/>
            <a:ext cx="457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32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658368" y="932688"/>
            <a:ext cx="107899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Dva spôsoby získania dát</a:t>
            </a:r>
            <a:endParaRPr lang="en-US" sz="2900" dirty="0"/>
          </a:p>
        </p:txBody>
      </p:sp>
      <p:sp>
        <p:nvSpPr>
          <p:cNvPr id="9" name="Shape 7"/>
          <p:cNvSpPr/>
          <p:nvPr/>
        </p:nvSpPr>
        <p:spPr>
          <a:xfrm>
            <a:off x="713232" y="1874520"/>
            <a:ext cx="5010912" cy="109728"/>
          </a:xfrm>
          <a:prstGeom prst="rect">
            <a:avLst/>
          </a:prstGeom>
          <a:solidFill>
            <a:srgbClr val="167C80"/>
          </a:solidFill>
          <a:ln w="12700">
            <a:solidFill>
              <a:srgbClr val="167C8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13232" y="2212848"/>
            <a:ext cx="50109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API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768096" y="2788920"/>
            <a:ext cx="4919472" cy="38862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228600" indent="-228600">
              <a:buSzPct val="100000"/>
              <a:buChar char="•"/>
            </a:pPr>
            <a:r>
              <a:rPr lang="en-US" sz="165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stabilnejšia dátová štruktúra</a:t>
            </a:r>
            <a:endParaRPr lang="en-US" sz="1650" dirty="0"/>
          </a:p>
          <a:p>
            <a:pPr marL="228600" indent="-228600">
              <a:buSzPct val="100000"/>
              <a:buChar char="•"/>
            </a:pPr>
            <a:r>
              <a:rPr lang="en-US" sz="165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jasné pravidlá a limity</a:t>
            </a:r>
            <a:endParaRPr lang="en-US" sz="1650" dirty="0"/>
          </a:p>
          <a:p>
            <a:pPr marL="228600" indent="-228600">
              <a:buSzPct val="100000"/>
              <a:buChar char="•"/>
            </a:pPr>
            <a:r>
              <a:rPr lang="en-US" sz="165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bez závislosti od HTML rozloženia</a:t>
            </a:r>
            <a:endParaRPr lang="en-US" sz="1650" dirty="0"/>
          </a:p>
        </p:txBody>
      </p:sp>
      <p:sp>
        <p:nvSpPr>
          <p:cNvPr id="12" name="Shape 10"/>
          <p:cNvSpPr/>
          <p:nvPr/>
        </p:nvSpPr>
        <p:spPr>
          <a:xfrm>
            <a:off x="6373368" y="1874520"/>
            <a:ext cx="5010912" cy="109728"/>
          </a:xfrm>
          <a:prstGeom prst="rect">
            <a:avLst/>
          </a:prstGeom>
          <a:solidFill>
            <a:srgbClr val="E0A03A"/>
          </a:solidFill>
          <a:ln w="12700">
            <a:solidFill>
              <a:srgbClr val="E0A03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373368" y="2212848"/>
            <a:ext cx="50109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Web scraping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6428232" y="2788920"/>
            <a:ext cx="4919472" cy="38862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228600" indent="-228600">
              <a:buSzPct val="100000"/>
              <a:buChar char="•"/>
            </a:pPr>
            <a:r>
              <a:rPr lang="en-US" sz="165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potrebný, ak API neexistuje</a:t>
            </a:r>
            <a:endParaRPr lang="en-US" sz="1650" dirty="0"/>
          </a:p>
          <a:p>
            <a:pPr marL="228600" indent="-228600">
              <a:buSzPct val="100000"/>
              <a:buChar char="•"/>
            </a:pPr>
            <a:r>
              <a:rPr lang="en-US" sz="165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čítame HTML určené primárne pre ľudí</a:t>
            </a:r>
            <a:endParaRPr lang="en-US" sz="1650" dirty="0"/>
          </a:p>
          <a:p>
            <a:pPr marL="228600" indent="-228600">
              <a:buSzPct val="100000"/>
              <a:buChar char="•"/>
            </a:pPr>
            <a:r>
              <a:rPr lang="en-US" sz="165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zmena stránky môže rozbiť parser</a:t>
            </a:r>
            <a:endParaRPr lang="en-US" sz="165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5544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20040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spc="8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PROGRAMOVANIE V PYTHONE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9829800" y="320040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PREDNÁŠKA 05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109960" y="6501384"/>
            <a:ext cx="457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33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658368" y="932688"/>
            <a:ext cx="107899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Krátka ukážka</a:t>
            </a:r>
            <a:endParaRPr lang="en-US" sz="2900" dirty="0"/>
          </a:p>
        </p:txBody>
      </p:sp>
      <p:sp>
        <p:nvSpPr>
          <p:cNvPr id="9" name="Text 7"/>
          <p:cNvSpPr/>
          <p:nvPr/>
        </p:nvSpPr>
        <p:spPr>
          <a:xfrm>
            <a:off x="685800" y="1719072"/>
            <a:ext cx="99669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5E6B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Od prázdneho súboru k malému Weather CLI.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868680" y="2487168"/>
            <a:ext cx="9921240" cy="38862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228600" indent="-228600">
              <a:buSzPct val="100000"/>
              <a:buChar char="•"/>
            </a:pPr>
            <a:r>
              <a:rPr lang="en-US" sz="180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vytvoriť params pre Košice</a:t>
            </a:r>
            <a:endParaRPr lang="en-US" sz="1800" dirty="0"/>
          </a:p>
          <a:p>
            <a:pPr marL="228600" indent="-228600">
              <a:buSzPct val="100000"/>
              <a:buChar char="•"/>
            </a:pPr>
            <a:r>
              <a:rPr lang="en-US" sz="180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poslať GET cez HTTPX</a:t>
            </a:r>
            <a:endParaRPr lang="en-US" sz="1800" dirty="0"/>
          </a:p>
          <a:p>
            <a:pPr marL="228600" indent="-228600">
              <a:buSzPct val="100000"/>
              <a:buChar char="•"/>
            </a:pPr>
            <a:r>
              <a:rPr lang="en-US" sz="180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skontrolovať status a JSON</a:t>
            </a:r>
            <a:endParaRPr lang="en-US" sz="1800" dirty="0"/>
          </a:p>
          <a:p>
            <a:pPr marL="228600" indent="-228600">
              <a:buSzPct val="100000"/>
              <a:buChar char="•"/>
            </a:pPr>
            <a:r>
              <a:rPr lang="en-US" sz="180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vypísať teplotu a vietor</a:t>
            </a:r>
            <a:endParaRPr lang="en-US" sz="1800" dirty="0"/>
          </a:p>
          <a:p>
            <a:pPr marL="228600" indent="-228600">
              <a:buSzPct val="100000"/>
              <a:buChar char="•"/>
            </a:pPr>
            <a:r>
              <a:rPr lang="en-US" sz="180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doplniť timeout a chybu</a:t>
            </a:r>
            <a:endParaRPr lang="en-US" sz="18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5544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20040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spc="8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PROGRAMOVANIE V PYTHONE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9829800" y="320040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PREDNÁŠKA 05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109960" y="6501384"/>
            <a:ext cx="457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34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658368" y="932688"/>
            <a:ext cx="107899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Zhrnutie</a:t>
            </a:r>
            <a:endParaRPr lang="en-US" sz="2900" dirty="0"/>
          </a:p>
        </p:txBody>
      </p:sp>
      <p:sp>
        <p:nvSpPr>
          <p:cNvPr id="9" name="Text 7"/>
          <p:cNvSpPr/>
          <p:nvPr/>
        </p:nvSpPr>
        <p:spPr>
          <a:xfrm>
            <a:off x="868680" y="1938528"/>
            <a:ext cx="9921240" cy="38862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228600" indent="-228600">
              <a:buSzPct val="100000"/>
              <a:buChar char="•"/>
            </a:pPr>
            <a:r>
              <a:rPr lang="en-US" sz="190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HTTP request pomenúva metódu, URL, headers a prípadný body</a:t>
            </a:r>
            <a:endParaRPr lang="en-US" sz="1900" dirty="0"/>
          </a:p>
          <a:p>
            <a:pPr marL="228600" indent="-228600">
              <a:buSzPct val="100000"/>
              <a:buChar char="•"/>
            </a:pPr>
            <a:r>
              <a:rPr lang="en-US" sz="190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HTTPX + raise_for_status() + timeout je dobrý základ klienta</a:t>
            </a:r>
            <a:endParaRPr lang="en-US" sz="1900" dirty="0"/>
          </a:p>
          <a:p>
            <a:pPr marL="228600" indent="-228600">
              <a:buSzPct val="100000"/>
              <a:buChar char="•"/>
            </a:pPr>
            <a:r>
              <a:rPr lang="en-US" sz="190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JSON odpoveď preložíme do vlastných dát a výstupu</a:t>
            </a:r>
            <a:endParaRPr lang="en-US" sz="1900" dirty="0"/>
          </a:p>
          <a:p>
            <a:pPr marL="228600" indent="-228600">
              <a:buSzPct val="100000"/>
              <a:buChar char="•"/>
            </a:pPr>
            <a:r>
              <a:rPr lang="en-US" sz="190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dokumentácia API určuje, čo je platná požiadavka</a:t>
            </a:r>
            <a:endParaRPr lang="en-US" sz="19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37744" cy="6858000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49808" y="685800"/>
            <a:ext cx="4937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spc="11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PROGRAMOVANIE V PYTHONE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749808" y="2148840"/>
            <a:ext cx="97840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42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Ďalej: Databázy v Pythone</a:t>
            </a:r>
            <a:endParaRPr lang="en-US" sz="4200" dirty="0"/>
          </a:p>
        </p:txBody>
      </p:sp>
      <p:sp>
        <p:nvSpPr>
          <p:cNvPr id="5" name="Text 3"/>
          <p:cNvSpPr/>
          <p:nvPr/>
        </p:nvSpPr>
        <p:spPr>
          <a:xfrm>
            <a:off x="786384" y="3310128"/>
            <a:ext cx="8321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5E6B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Ako uložiť vlastné dáta tak, aby zostali dostupné aj po skončení programu.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749808" y="5193792"/>
            <a:ext cx="2560320" cy="118872"/>
          </a:xfrm>
          <a:prstGeom prst="rect">
            <a:avLst/>
          </a:prstGeom>
          <a:solidFill>
            <a:srgbClr val="E0A03A"/>
          </a:solidFill>
          <a:ln w="12700">
            <a:solidFill>
              <a:srgbClr val="E0A03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49808" y="5504688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5E6B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TUKE FEI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10927080" y="6254496"/>
            <a:ext cx="5669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35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35</Slides>
  <Notes>35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35</vt:i4>
      </vt:variant>
    </vt:vector>
  </HeadingPairs>
  <TitlesOfParts>
    <vt:vector size="3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</vt:vector>
  </TitlesOfParts>
  <Company>Technická univerzita v Košiciach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Internet, HTTP a API</dc:title>
  <dc:subject>Programovanie v Pythone</dc:subject>
  <dc:creator>TUKE FEI</dc:creator>
  <cp:lastModifiedBy>TUKE FEI</cp:lastModifiedBy>
  <cp:revision>1</cp:revision>
  <dcterms:created xsi:type="dcterms:W3CDTF">2026-09-15T18:58:34Z</dcterms:created>
  <dcterms:modified xsi:type="dcterms:W3CDTF">2026-09-15T18:58:34Z</dcterms:modified>
</cp:coreProperties>
</file>