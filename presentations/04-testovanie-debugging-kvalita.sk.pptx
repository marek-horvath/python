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notesMasterIdLst>
    <p:notesMasterId r:id="rId4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notesMaster" Target="notesMasters/notesMaster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/ 43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1874520"/>
            <a:ext cx="106070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9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Testovanie, debugging a kvalita kódu</a:t>
            </a:r>
            <a:endParaRPr lang="en-US" sz="3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/ 43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5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„Funguje to u mňa“ je slabý dôkaz</a:t>
            </a:r>
            <a:endParaRPr lang="en-US" sz="3500" dirty="0"/>
          </a:p>
        </p:txBody>
      </p:sp>
      <p:sp>
        <p:nvSpPr>
          <p:cNvPr id="5" name="Text 3"/>
          <p:cNvSpPr/>
          <p:nvPr/>
        </p:nvSpPr>
        <p:spPr>
          <a:xfrm>
            <a:off x="713232" y="1508760"/>
            <a:ext cx="886968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Manuálne spustenie je užitočné, ale nie je reprodukovateľné a často nepokrýva hraničné prípady.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68680" y="2468880"/>
            <a:ext cx="9326880" cy="4206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chyba sa môže objaviť pri inom vstupe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zmena v helper funkcii môže pokaziť GUI aj script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bez testu nevieme rýchlo overiť, či sa bug nevrátil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/ 43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Praktický workflow pri chybe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2606040"/>
            <a:ext cx="169164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2770632"/>
            <a:ext cx="1545336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bug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532888" y="2606040"/>
            <a:ext cx="169164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606040" y="2770632"/>
            <a:ext cx="1545336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reproduction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52544" y="2606040"/>
            <a:ext cx="169164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25696" y="2770632"/>
            <a:ext cx="1545336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172200" y="2606040"/>
            <a:ext cx="169164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45352" y="2770632"/>
            <a:ext cx="1545336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debugging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991856" y="2606040"/>
            <a:ext cx="169164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65008" y="2770632"/>
            <a:ext cx="1545336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811512" y="2606040"/>
            <a:ext cx="169164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884664" y="2770632"/>
            <a:ext cx="1545336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regression test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/ 43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Manuálne skúšanie a automatický test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63040"/>
            <a:ext cx="4892040" cy="0"/>
          </a:xfrm>
          <a:prstGeom prst="line">
            <a:avLst/>
          </a:prstGeom>
          <a:noFill/>
          <a:ln w="12700">
            <a:solidFill>
              <a:srgbClr val="0B6B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664208"/>
            <a:ext cx="489204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Manuálne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50392" y="2148840"/>
            <a:ext cx="4709160" cy="3200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rýchle pri prvom overení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závisí od pozornosti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ťažko zopakovateľné presne rovnako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často obíde edge cases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806440" y="1463040"/>
            <a:ext cx="4892040" cy="0"/>
          </a:xfrm>
          <a:prstGeom prst="line">
            <a:avLst/>
          </a:prstGeom>
          <a:noFill/>
          <a:ln w="12700">
            <a:solidFill>
              <a:srgbClr val="0B6B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806440" y="1664208"/>
            <a:ext cx="489204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Automatický test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943600" y="2148840"/>
            <a:ext cx="4709160" cy="3200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rovnaký postup pri každom spustení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dá sa pustiť po každej zmene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dokumentuje očakávané správanie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chytá regresie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/ 43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 jeden príklad dosť?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13232" y="1444752"/>
            <a:ext cx="94183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Funkciu sme spustili s hodnotou 100 a výsledok vyzerá správne. Čo ešte nevieme?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/ 43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950976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ako špecifikácia správania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13232" y="33832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Konkrétny vstup, očakávaný výsledok a kontrola rozdielu.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/ 43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Funkcia pod testom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66751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63825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discount.py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63459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calculate_discount(price: float, discount: float) -&gt; float: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price * (1 - discount)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26680" y="1581912"/>
            <a:ext cx="347472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Čistá funkcia bez súborov, GUI a internetu sa testuje najľahšie.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 / 43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Prvý test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66751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63825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test_discount.py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63459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test_calculate_discount():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assert calculate_discount(100, 0.2) == 80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26680" y="1581912"/>
            <a:ext cx="347472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assert porovná skutočný výsledok s očakávaným výsledkom.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 / 43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Slovník testu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3232" y="1481328"/>
          <a:ext cx="10789920" cy="4389120"/>
        </p:xfrm>
        <a:graphic>
          <a:graphicData uri="http://schemas.openxmlformats.org/drawingml/2006/table">
            <a:tbl>
              <a:tblPr/>
              <a:tblGrid>
                <a:gridCol w="5394960"/>
                <a:gridCol w="5394960"/>
              </a:tblGrid>
              <a:tr h="8778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Pojem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Význam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input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hodnoty, s ktorými funkciu voláme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expected output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čo má program vrátiť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output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čo program skutočne vrátil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assertion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kontrola, že očakávanie platí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/ 43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950976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pytest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13232" y="33832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Praktický nástroj na písanie a spúšťanie testov v Pythone.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/ 43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Ako pytest nájde testy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5230368" cy="466344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4901184" cy="40416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-m pytest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72784" y="1444752"/>
            <a:ext cx="5230368" cy="466344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19088" y="153619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conventions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437376" y="1975104"/>
            <a:ext cx="4901184" cy="40416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test_*.py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*_test.py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test_something():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...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/ 43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Čitateľný výstup testov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passed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collected 3 items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test_discount.py ...                       [100%]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passed in 0.04s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 / 43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Zlyhanie ukáže rozdiel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66751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63825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failed assertion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63459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       assert 75.0 == 80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        +  where 75.0 = calculate_discount(100, 0.25)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26680" y="1581912"/>
            <a:ext cx="347472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Dobrý test povie, ktoré očakávanie neplatí.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/ 43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Arrange - Act - Assert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66751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63825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AAA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63459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test_discount():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price = 100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discount = 0.2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result = calculate_discount(price, discount)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assert result == 80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26680" y="1581912"/>
            <a:ext cx="347472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Užitočná štruktúra testu, keď test obsahuje viac než jeden riadok.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/ 43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Ktoré prípady chýbajú?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13232" y="1444752"/>
            <a:ext cx="94183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Máme iba divide(10, 2) == 5. Aké vstupy môžu odhaliť chybu?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13232" y="199339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9536" y="208483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minimum test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77824" y="252374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test_divide():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assert divide(10, 2) == 5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 / 43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design</a:t>
            </a:r>
            <a:endParaRPr lang="en-US" sz="28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3232" y="1481328"/>
          <a:ext cx="10789920" cy="4389120"/>
        </p:xfrm>
        <a:graphic>
          <a:graphicData uri="http://schemas.openxmlformats.org/drawingml/2006/table">
            <a:tbl>
              <a:tblPr/>
              <a:tblGrid>
                <a:gridCol w="5394960"/>
                <a:gridCol w="5394960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 prípadu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Príklad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bežný vstup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calculate_discount(100, 0.2)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hraničná hodnota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zľava 0 alebo 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neplatný vstup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záporná cena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typická chyba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percentá ako 20 namiesto 0.2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regresia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konkrétny vstup, ktorý už raz zlyhal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 / 43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Parametrizácia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66751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63825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pytest.mark.parametrize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63459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pytest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@pytest.mark.parametrize(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"price, discount, expected",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[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(100, 0.2, 80),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(50, 0.1, 45),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(10, 0.0, 10),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],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test_calculate_discount(price, discount, expected):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assert calculate_discount(price, discount) == expected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26680" y="1581912"/>
            <a:ext cx="347472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Rovnaký test spustíme pre viac vstupov bez kopírovania kódu.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 / 43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Testovanie očakávanej výnimky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66751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63825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pytest.raises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63459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pytest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test_negative_price_is_invalid():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with pytest.raises(ValueError):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calculate_discount(-10, 0.2)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26680" y="1581912"/>
            <a:ext cx="347472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 má funkcia odmietnuť vstup, výnimka je súčasť kontraktu.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 / 43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Fixture pripraví spoločné dáta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fixture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pytest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@pytest.fixture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sample_results():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[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("Anna", "Python", 92),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("Peter", "Python", 67),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]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test_result_count(sample_results):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assert len(sample_results) == 2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 / 43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950976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Testovateľný návrh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13232" y="33832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Kód sa testuje ľahšie, keď je logika oddelená od okolia.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 / 43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Čo sa testuje ľahko</a:t>
            </a:r>
            <a:endParaRPr lang="en-US" sz="28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3232" y="1481328"/>
          <a:ext cx="10789920" cy="4389120"/>
        </p:xfrm>
        <a:graphic>
          <a:graphicData uri="http://schemas.openxmlformats.org/drawingml/2006/table">
            <a:tbl>
              <a:tblPr/>
              <a:tblGrid>
                <a:gridCol w="5394960"/>
                <a:gridCol w="5394960"/>
              </a:tblGrid>
              <a:tr h="8778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Časť programu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Poznámka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pure business logic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najstabilnejšia na testovanie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filesystem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testovateľný cez dočasné adresáre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HTTP klient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testovať bez stáleho volania reálneho API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GUI callback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držať krátky; logiku presunúť do funkcií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 / 43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Logika z GUI ako testovateľná funkcia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5230368" cy="466344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logic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4901184" cy="40416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analyze_text(text: str) -&gt; TextStats: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TextStats(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lines=len(text.splitlines()),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words=len(text.split()),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characters=len(text),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72784" y="1444752"/>
            <a:ext cx="5230368" cy="466344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19088" y="153619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437376" y="1975104"/>
            <a:ext cx="4901184" cy="40416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test_analyze_text():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stats = analyze_text("Ahoj\nPython")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assert stats.lines == 2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assert stats.words == 2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 / 43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Súbory testujte cez `tmp_path`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66751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63825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tmp_path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63459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test_write_report(tmp_path):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output = tmp_path / "report.txt"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write_report(output, "Hotovo")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assert output.read_text(encoding="utf-8") == "Hotovo"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26680" y="1581912"/>
            <a:ext cx="347472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tmp_path je dočasný Path objekt. Test nepoškodí reálne dáta.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 / 43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Mocking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2606040"/>
            <a:ext cx="2601468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2770632"/>
            <a:ext cx="2455164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dependency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442716" y="2606040"/>
            <a:ext cx="2601468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15868" y="2770632"/>
            <a:ext cx="2455164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replace in test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172200" y="2606040"/>
            <a:ext cx="2601468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45352" y="2770632"/>
            <a:ext cx="2455164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controlled fake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901684" y="2606040"/>
            <a:ext cx="2601468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974836" y="2770632"/>
            <a:ext cx="2455164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stable result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 / 43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Kontrolovaná externá závislosť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unittest.mock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unittest.mock import Mock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 = Mock()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client.get_temperature.return_value = 22.4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weather_report(client, "Kosice")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assert "22.4" in result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 / 43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Regression test zostáva v projekte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2606040"/>
            <a:ext cx="2055571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2770632"/>
            <a:ext cx="1909267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bug report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896819" y="2606040"/>
            <a:ext cx="2055571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69971" y="2770632"/>
            <a:ext cx="1909267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minimal reproduction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80406" y="2606040"/>
            <a:ext cx="2055571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153558" y="2770632"/>
            <a:ext cx="1909267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failing test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263994" y="2606040"/>
            <a:ext cx="2055571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37146" y="2770632"/>
            <a:ext cx="1909267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9447581" y="2606040"/>
            <a:ext cx="2055571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520733" y="2770632"/>
            <a:ext cx="1909267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stays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 / 43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950976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Debugging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13232" y="33832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Systematické zisťovanie, kde sa realita líši od očakávania.</a:t>
            </a:r>
            <a:endParaRPr lang="en-US" sz="16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28 / 43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`print` debugging má limity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5230368" cy="466344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rýchla kontrola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4901184" cy="40416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 = 42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print("HERE")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print(value)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72784" y="1444752"/>
            <a:ext cx="5230368" cy="466344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19088" y="153619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437376" y="1975104"/>
            <a:ext cx="4901184" cy="40416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veľa výpisov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nejasné poradie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zabudnuté debug printy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ťažké filtrovanie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29 / 43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Debugger</a:t>
            </a:r>
            <a:endParaRPr lang="en-US" sz="28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3232" y="1481328"/>
          <a:ext cx="10789920" cy="4389120"/>
        </p:xfrm>
        <a:graphic>
          <a:graphicData uri="http://schemas.openxmlformats.org/drawingml/2006/table">
            <a:tbl>
              <a:tblPr/>
              <a:tblGrid>
                <a:gridCol w="5394960"/>
                <a:gridCol w="5394960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Nástroj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Otázka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breakpoint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kde program zastavíme?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 over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čo spraví ďalší riadok?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 into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čo sa deje vo volanej funkcii?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variables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aké hodnoty práve máme?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call stack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ako sme sa sem dostali?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 / 43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Kde začať debugging?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13232" y="1444752"/>
            <a:ext cx="94183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čakal 80, funkcia vrátila 75. Ktorú hodnotu alebo riadok by ste skontrolovali ako prvý?</a:t>
            </a:r>
            <a:endParaRPr lang="en-US" sz="17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31 / 43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Traceback čítajte odspodu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traceback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Traceback (most recent call last):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File "app.py", line 8, in &lt;module&gt;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age = int(text)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ValueError: invalid literal for int()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 base 10: 'abc'</a:t>
            </a:r>
            <a:endParaRPr lang="en-US" sz="1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32 / 43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Čo program nezvládol?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13232" y="1444752"/>
            <a:ext cx="94183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Ktorý vstup spôsobil výnimku a kde sa nachádza riadok, ktorý ju vyvolal?</a:t>
            </a:r>
            <a:endParaRPr lang="en-US" sz="17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33 / 43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950976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Logging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13232" y="33832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Diagnostické výpisy s úrovňou závažnosti.</a:t>
            </a:r>
            <a:endParaRPr lang="en-US" sz="16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34 / 43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Logging levely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logging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logging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logging.basicConfig(level=logging.INFO)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logging.debug("Detail pre vývojára")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logging.info("Spracúvam súbor")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logging.warning("Chýba voliteľná hodnota")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logging.error("Súbor sa nepodarilo načítať")</a:t>
            </a:r>
            <a:endParaRPr lang="en-US" sz="1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35 / 43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`print` a `logging`</a:t>
            </a:r>
            <a:endParaRPr lang="en-US" sz="28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3232" y="1481328"/>
          <a:ext cx="10789920" cy="4389120"/>
        </p:xfrm>
        <a:graphic>
          <a:graphicData uri="http://schemas.openxmlformats.org/drawingml/2006/table">
            <a:tbl>
              <a:tblPr/>
              <a:tblGrid>
                <a:gridCol w="5394960"/>
                <a:gridCol w="5394960"/>
              </a:tblGrid>
              <a:tr h="1097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print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logging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jednoduchý výstup pre používateľa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diagnostika behu programu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ťažko filtrovať podľa závažnosti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levely: debug, info, warning, error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vhodný pre malé demo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vhodný pre dlhšie bežiaci script alebo aplikáciu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36 / 43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`assert` nie je input validation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5230368" cy="466344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invariant počas vývoja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4901184" cy="40416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items = [1, 2, 3]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assert len(items) &gt; 0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72784" y="1444752"/>
            <a:ext cx="5230368" cy="466344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19088" y="153619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validácia vstupu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437376" y="1975104"/>
            <a:ext cx="4901184" cy="40416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 = "abc"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not text.isdigit():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raise ValueError("Očakávam číslo")</a:t>
            </a:r>
            <a:endParaRPr lang="en-US" sz="12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37 / 43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950976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 tools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13232" y="33832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Formatter, linter, type checker a testy riešia rôzne druhy problémov.</a:t>
            </a:r>
            <a:endParaRPr lang="en-US" sz="16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38 / 43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Ktorý nástroj odpovedá na ktorú otázku</a:t>
            </a:r>
            <a:endParaRPr lang="en-US" sz="28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3232" y="1481328"/>
          <a:ext cx="10789920" cy="4389120"/>
        </p:xfrm>
        <a:graphic>
          <a:graphicData uri="http://schemas.openxmlformats.org/drawingml/2006/table">
            <a:tbl>
              <a:tblPr/>
              <a:tblGrid>
                <a:gridCol w="5394960"/>
                <a:gridCol w="5394960"/>
              </a:tblGrid>
              <a:tr h="8778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Nástroj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Otázka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formatter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vyzerá kód konzistentne?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linter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sú v kóde podozrivé vzory?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 checker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sedia typové očakávania?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správa sa program správne?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39 / 43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Ruff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5230368" cy="466344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commands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4901184" cy="40416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ruff check .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ruff format 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72784" y="1444752"/>
            <a:ext cx="5230368" cy="466344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19088" y="153619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typicky nájde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437376" y="1975104"/>
            <a:ext cx="4901184" cy="40416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nepoužitý import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nedosiahnuteľný kód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podozrivé porovnanie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nekonzistentný štýl</a:t>
            </a:r>
            <a:endParaRPr lang="en-US" sz="12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 / 43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 checker využíva type hints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5230368" cy="466344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4901184" cy="40416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total(values: list[int]) -&gt; int: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sum(values)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total(["1", "2"])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72784" y="1444752"/>
            <a:ext cx="5230368" cy="466344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19088" y="153619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static checker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437376" y="1975104"/>
            <a:ext cx="4901184" cy="40416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Argument of type "list[str]"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cannot be assigned to parameter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"values" of type "list[int]"</a:t>
            </a:r>
            <a:endParaRPr lang="en-US" sz="12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41 / 43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Jednoduchá quality pipeline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2606040"/>
            <a:ext cx="169164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2770632"/>
            <a:ext cx="1545336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code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532888" y="2606040"/>
            <a:ext cx="169164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606040" y="2770632"/>
            <a:ext cx="1545336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52544" y="2606040"/>
            <a:ext cx="169164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25696" y="2770632"/>
            <a:ext cx="1545336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lint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172200" y="2606040"/>
            <a:ext cx="169164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45352" y="2770632"/>
            <a:ext cx="1545336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 check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991856" y="2606040"/>
            <a:ext cx="169164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65008" y="2770632"/>
            <a:ext cx="1545336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811512" y="2606040"/>
            <a:ext cx="169164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884664" y="2770632"/>
            <a:ext cx="1545336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</a:t>
            </a:r>
            <a:endParaRPr lang="en-US" sz="14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 / 43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Demo: od bugu k regression testu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68680" y="1508760"/>
            <a:ext cx="9326880" cy="4206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chybná funkcia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reprodukcia chyby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test, ktorý zlyhá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oprava implementácie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test zostane v projekte</a:t>
            </a:r>
            <a:endParaRPr lang="en-US" sz="18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43 / 43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Lokálny program a internet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2606040"/>
            <a:ext cx="2055571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2770632"/>
            <a:ext cx="1909267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896819" y="2606040"/>
            <a:ext cx="2055571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69971" y="2770632"/>
            <a:ext cx="1909267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80406" y="2606040"/>
            <a:ext cx="2055571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153558" y="2770632"/>
            <a:ext cx="1909267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debug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263994" y="2606040"/>
            <a:ext cx="2055571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37146" y="2770632"/>
            <a:ext cx="1909267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request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9447581" y="2606040"/>
            <a:ext cx="2055571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520733" y="2770632"/>
            <a:ext cx="1909267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response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43</Slides>
  <Notes>43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</vt:vector>
  </TitlesOfParts>
  <Company>Technická univerzita v Košiciach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Testovanie, debugging a kvalita kódu</dc:title>
  <dc:subject>Programovanie v Pythone</dc:subject>
  <dc:creator>TUKE FEI</dc:creator>
  <cp:lastModifiedBy>TUKE FEI</cp:lastModifiedBy>
  <cp:revision>1</cp:revision>
  <dcterms:created xsi:type="dcterms:W3CDTF">2026-09-15T15:10:15Z</dcterms:created>
  <dcterms:modified xsi:type="dcterms:W3CDTF">2026-09-15T15:10:15Z</dcterms:modified>
</cp:coreProperties>
</file>