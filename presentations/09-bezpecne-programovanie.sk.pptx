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</p:sldIdLst>
  <p:notesMasterIdLst>
    <p:notesMasterId r:id="rId2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notesMaster" Target="notesMasters/notesMaster1.xml"/><Relationship Id="rId30" Type="http://schemas.openxmlformats.org/officeDocument/2006/relationships/presProps" Target="presProps.xml"/><Relationship Id="rId31" Type="http://schemas.openxmlformats.org/officeDocument/2006/relationships/viewProps" Target="viewProps.xml"/><Relationship Id="rId32" Type="http://schemas.openxmlformats.org/officeDocument/2006/relationships/theme" Target="theme/theme1.xml"/><Relationship Id="rId3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1877B9"/>
          </a:solidFill>
          <a:ln w="12700">
            <a:solidFill>
              <a:srgbClr val="1877B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49808" y="685800"/>
            <a:ext cx="4937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50" b="1" spc="80" kern="0" dirty="0">
                <a:solidFill>
                  <a:srgbClr val="1877B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PROGRAMOVANIE V PYTHONE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9829800" y="685800"/>
            <a:ext cx="1691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20" b="1" dirty="0">
                <a:solidFill>
                  <a:srgbClr val="5E6B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PREDNÁŠKA 09</a:t>
            </a:r>
            <a:endParaRPr lang="en-US" sz="920" dirty="0"/>
          </a:p>
        </p:txBody>
      </p:sp>
      <p:sp>
        <p:nvSpPr>
          <p:cNvPr id="5" name="Text 3"/>
          <p:cNvSpPr/>
          <p:nvPr/>
        </p:nvSpPr>
        <p:spPr>
          <a:xfrm>
            <a:off x="749808" y="2066544"/>
            <a:ext cx="9921240" cy="96926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4200" b="1" dirty="0">
                <a:solidFill>
                  <a:srgbClr val="16324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Bezpečné programovanie v Pythone</a:t>
            </a:r>
            <a:endParaRPr lang="en-US" sz="4200" dirty="0"/>
          </a:p>
        </p:txBody>
      </p:sp>
      <p:sp>
        <p:nvSpPr>
          <p:cNvPr id="6" name="Text 4"/>
          <p:cNvSpPr/>
          <p:nvPr/>
        </p:nvSpPr>
        <p:spPr>
          <a:xfrm>
            <a:off x="786384" y="3273552"/>
            <a:ext cx="85039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950" dirty="0">
                <a:solidFill>
                  <a:srgbClr val="5E6B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Problematic code → risk → safer pattern</a:t>
            </a:r>
            <a:endParaRPr lang="en-US" sz="1950" dirty="0"/>
          </a:p>
        </p:txBody>
      </p:sp>
      <p:sp>
        <p:nvSpPr>
          <p:cNvPr id="7" name="Shape 5"/>
          <p:cNvSpPr/>
          <p:nvPr/>
        </p:nvSpPr>
        <p:spPr>
          <a:xfrm>
            <a:off x="749808" y="5212080"/>
            <a:ext cx="2240280" cy="91440"/>
          </a:xfrm>
          <a:prstGeom prst="rect">
            <a:avLst/>
          </a:prstGeom>
          <a:solidFill>
            <a:srgbClr val="E0A03A"/>
          </a:solidFill>
          <a:ln w="12700">
            <a:solidFill>
              <a:srgbClr val="E0A03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49808" y="5504688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5E6B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TUKE FEI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10680192" y="6254496"/>
            <a:ext cx="822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00" dirty="0">
                <a:solidFill>
                  <a:srgbClr val="5E6B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01 / 27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877B9"/>
          </a:solidFill>
          <a:ln w="12700">
            <a:solidFill>
              <a:srgbClr val="1877B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310896"/>
            <a:ext cx="4663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80" b="1" spc="50" kern="0" dirty="0">
                <a:solidFill>
                  <a:srgbClr val="1877B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PROGRAMOVANIE V PYTHONE</a:t>
            </a:r>
            <a:endParaRPr lang="en-US" sz="880" dirty="0"/>
          </a:p>
        </p:txBody>
      </p:sp>
      <p:sp>
        <p:nvSpPr>
          <p:cNvPr id="4" name="Text 2"/>
          <p:cNvSpPr/>
          <p:nvPr/>
        </p:nvSpPr>
        <p:spPr>
          <a:xfrm>
            <a:off x="9829800" y="310896"/>
            <a:ext cx="1783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80" b="1" dirty="0">
                <a:solidFill>
                  <a:srgbClr val="5E6B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PREDNÁŠKA 09</a:t>
            </a:r>
            <a:endParaRPr lang="en-US" sz="880" dirty="0"/>
          </a:p>
        </p:txBody>
      </p:sp>
      <p:sp>
        <p:nvSpPr>
          <p:cNvPr id="5" name="Shape 3"/>
          <p:cNvSpPr/>
          <p:nvPr/>
        </p:nvSpPr>
        <p:spPr>
          <a:xfrm>
            <a:off x="566928" y="658368"/>
            <a:ext cx="11045952" cy="0"/>
          </a:xfrm>
          <a:prstGeom prst="line">
            <a:avLst/>
          </a:prstGeom>
          <a:noFill/>
          <a:ln w="12700">
            <a:solidFill>
              <a:srgbClr val="D8E0E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66928" y="6419088"/>
            <a:ext cx="11045952" cy="0"/>
          </a:xfrm>
          <a:prstGeom prst="line">
            <a:avLst/>
          </a:prstGeom>
          <a:noFill/>
          <a:ln w="12700">
            <a:solidFill>
              <a:srgbClr val="D8E0E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771632" y="6501384"/>
            <a:ext cx="80467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780" dirty="0">
                <a:solidFill>
                  <a:srgbClr val="5E6B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02 / 27</a:t>
            </a:r>
            <a:endParaRPr lang="en-US" sz="780" dirty="0"/>
          </a:p>
        </p:txBody>
      </p:sp>
      <p:sp>
        <p:nvSpPr>
          <p:cNvPr id="8" name="Text 6"/>
          <p:cNvSpPr/>
          <p:nvPr/>
        </p:nvSpPr>
        <p:spPr>
          <a:xfrm>
            <a:off x="749808" y="1481328"/>
            <a:ext cx="102870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3300" b="1" dirty="0">
                <a:solidFill>
                  <a:srgbClr val="16324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Nie každý vstup prichádza od človeka, ktorý chce aplikácii pomôcť.</a:t>
            </a:r>
            <a:endParaRPr lang="en-US" sz="3300" dirty="0"/>
          </a:p>
        </p:txBody>
      </p:sp>
      <p:sp>
        <p:nvSpPr>
          <p:cNvPr id="9" name="Shape 7"/>
          <p:cNvSpPr/>
          <p:nvPr/>
        </p:nvSpPr>
        <p:spPr>
          <a:xfrm>
            <a:off x="768096" y="3438144"/>
            <a:ext cx="1280160" cy="91440"/>
          </a:xfrm>
          <a:prstGeom prst="rect">
            <a:avLst/>
          </a:prstGeom>
          <a:solidFill>
            <a:srgbClr val="E0A03A"/>
          </a:solidFill>
          <a:ln w="12700">
            <a:solidFill>
              <a:srgbClr val="E0A03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68096" y="3858768"/>
            <a:ext cx="900684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100" dirty="0">
                <a:solidFill>
                  <a:srgbClr val="5E6B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Používateľský text, súbor, sieť, environment aj externý proces sú hranice dôvery. Na týchto hraniciach vzniká väčšina praktických chýb.</a:t>
            </a:r>
            <a:endParaRPr lang="en-US" sz="2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877B9"/>
          </a:solidFill>
          <a:ln w="12700">
            <a:solidFill>
              <a:srgbClr val="1877B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310896"/>
            <a:ext cx="4663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80" b="1" spc="50" kern="0" dirty="0">
                <a:solidFill>
                  <a:srgbClr val="1877B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PROGRAMOVANIE V PYTHONE</a:t>
            </a:r>
            <a:endParaRPr lang="en-US" sz="880" dirty="0"/>
          </a:p>
        </p:txBody>
      </p:sp>
      <p:sp>
        <p:nvSpPr>
          <p:cNvPr id="4" name="Text 2"/>
          <p:cNvSpPr/>
          <p:nvPr/>
        </p:nvSpPr>
        <p:spPr>
          <a:xfrm>
            <a:off x="9829800" y="310896"/>
            <a:ext cx="1783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80" b="1" dirty="0">
                <a:solidFill>
                  <a:srgbClr val="5E6B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PREDNÁŠKA 09</a:t>
            </a:r>
            <a:endParaRPr lang="en-US" sz="880" dirty="0"/>
          </a:p>
        </p:txBody>
      </p:sp>
      <p:sp>
        <p:nvSpPr>
          <p:cNvPr id="5" name="Shape 3"/>
          <p:cNvSpPr/>
          <p:nvPr/>
        </p:nvSpPr>
        <p:spPr>
          <a:xfrm>
            <a:off x="566928" y="658368"/>
            <a:ext cx="11045952" cy="0"/>
          </a:xfrm>
          <a:prstGeom prst="line">
            <a:avLst/>
          </a:prstGeom>
          <a:noFill/>
          <a:ln w="12700">
            <a:solidFill>
              <a:srgbClr val="D8E0E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66928" y="6419088"/>
            <a:ext cx="11045952" cy="0"/>
          </a:xfrm>
          <a:prstGeom prst="line">
            <a:avLst/>
          </a:prstGeom>
          <a:noFill/>
          <a:ln w="12700">
            <a:solidFill>
              <a:srgbClr val="D8E0E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771632" y="6501384"/>
            <a:ext cx="80467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780" dirty="0">
                <a:solidFill>
                  <a:srgbClr val="5E6B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03 / 27</a:t>
            </a:r>
            <a:endParaRPr lang="en-US" sz="780" dirty="0"/>
          </a:p>
        </p:txBody>
      </p:sp>
      <p:sp>
        <p:nvSpPr>
          <p:cNvPr id="8" name="Text 6"/>
          <p:cNvSpPr/>
          <p:nvPr/>
        </p:nvSpPr>
        <p:spPr>
          <a:xfrm>
            <a:off x="658368" y="914400"/>
            <a:ext cx="108813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850" b="1" dirty="0">
                <a:solidFill>
                  <a:srgbClr val="16324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Nedôveryhodné vstupy v bežnom Pythone</a:t>
            </a:r>
            <a:endParaRPr lang="en-US" sz="2850" dirty="0"/>
          </a:p>
        </p:txBody>
      </p:sp>
      <p:sp>
        <p:nvSpPr>
          <p:cNvPr id="9" name="Shape 7"/>
          <p:cNvSpPr/>
          <p:nvPr/>
        </p:nvSpPr>
        <p:spPr>
          <a:xfrm>
            <a:off x="694944" y="2834640"/>
            <a:ext cx="1984248" cy="1042416"/>
          </a:xfrm>
          <a:prstGeom prst="rect">
            <a:avLst/>
          </a:prstGeom>
          <a:solidFill>
            <a:srgbClr val="F3F6F8"/>
          </a:solidFill>
          <a:ln w="12700">
            <a:solidFill>
              <a:srgbClr val="D8E0E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04672" y="3063240"/>
            <a:ext cx="176479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1632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user input</a:t>
            </a:r>
            <a:endParaRPr lang="en-US" sz="1450" dirty="0"/>
          </a:p>
        </p:txBody>
      </p:sp>
      <p:sp>
        <p:nvSpPr>
          <p:cNvPr id="11" name="Shape 9"/>
          <p:cNvSpPr/>
          <p:nvPr/>
        </p:nvSpPr>
        <p:spPr>
          <a:xfrm>
            <a:off x="2633472" y="3209544"/>
            <a:ext cx="182880" cy="292608"/>
          </a:xfrm>
          <a:prstGeom prst="chevron">
            <a:avLst/>
          </a:prstGeom>
          <a:solidFill>
            <a:srgbClr val="1877B9"/>
          </a:solidFill>
          <a:ln w="12700">
            <a:solidFill>
              <a:srgbClr val="1877B9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907792" y="2834640"/>
            <a:ext cx="1984248" cy="1042416"/>
          </a:xfrm>
          <a:prstGeom prst="rect">
            <a:avLst/>
          </a:prstGeom>
          <a:solidFill>
            <a:srgbClr val="EAF3F7"/>
          </a:solidFill>
          <a:ln w="12700">
            <a:solidFill>
              <a:srgbClr val="9DCCDD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017520" y="3063240"/>
            <a:ext cx="176479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1632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file path / upload</a:t>
            </a:r>
            <a:endParaRPr lang="en-US" sz="1450" dirty="0"/>
          </a:p>
        </p:txBody>
      </p:sp>
      <p:sp>
        <p:nvSpPr>
          <p:cNvPr id="14" name="Shape 12"/>
          <p:cNvSpPr/>
          <p:nvPr/>
        </p:nvSpPr>
        <p:spPr>
          <a:xfrm>
            <a:off x="4846320" y="3209544"/>
            <a:ext cx="182880" cy="292608"/>
          </a:xfrm>
          <a:prstGeom prst="chevron">
            <a:avLst/>
          </a:prstGeom>
          <a:solidFill>
            <a:srgbClr val="1877B9"/>
          </a:solidFill>
          <a:ln w="12700">
            <a:solidFill>
              <a:srgbClr val="1877B9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120640" y="2834640"/>
            <a:ext cx="1984248" cy="1042416"/>
          </a:xfrm>
          <a:prstGeom prst="rect">
            <a:avLst/>
          </a:prstGeom>
          <a:solidFill>
            <a:srgbClr val="F3F6F8"/>
          </a:solidFill>
          <a:ln w="12700">
            <a:solidFill>
              <a:srgbClr val="D8E0E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230368" y="3063240"/>
            <a:ext cx="176479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1632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network response</a:t>
            </a:r>
            <a:endParaRPr lang="en-US" sz="1450" dirty="0"/>
          </a:p>
        </p:txBody>
      </p:sp>
      <p:sp>
        <p:nvSpPr>
          <p:cNvPr id="17" name="Shape 15"/>
          <p:cNvSpPr/>
          <p:nvPr/>
        </p:nvSpPr>
        <p:spPr>
          <a:xfrm>
            <a:off x="7059168" y="3209544"/>
            <a:ext cx="182880" cy="292608"/>
          </a:xfrm>
          <a:prstGeom prst="chevron">
            <a:avLst/>
          </a:prstGeom>
          <a:solidFill>
            <a:srgbClr val="1877B9"/>
          </a:solidFill>
          <a:ln w="12700">
            <a:solidFill>
              <a:srgbClr val="1877B9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333488" y="2834640"/>
            <a:ext cx="1984248" cy="1042416"/>
          </a:xfrm>
          <a:prstGeom prst="rect">
            <a:avLst/>
          </a:prstGeom>
          <a:solidFill>
            <a:srgbClr val="EAF3F7"/>
          </a:solidFill>
          <a:ln w="12700">
            <a:solidFill>
              <a:srgbClr val="9DCCDD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443216" y="3063240"/>
            <a:ext cx="176479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1632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environment</a:t>
            </a:r>
            <a:endParaRPr lang="en-US" sz="1450" dirty="0"/>
          </a:p>
        </p:txBody>
      </p:sp>
      <p:sp>
        <p:nvSpPr>
          <p:cNvPr id="20" name="Shape 18"/>
          <p:cNvSpPr/>
          <p:nvPr/>
        </p:nvSpPr>
        <p:spPr>
          <a:xfrm>
            <a:off x="9272016" y="3209544"/>
            <a:ext cx="182880" cy="292608"/>
          </a:xfrm>
          <a:prstGeom prst="chevron">
            <a:avLst/>
          </a:prstGeom>
          <a:solidFill>
            <a:srgbClr val="1877B9"/>
          </a:solidFill>
          <a:ln w="12700">
            <a:solidFill>
              <a:srgbClr val="1877B9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9546336" y="2834640"/>
            <a:ext cx="1984248" cy="1042416"/>
          </a:xfrm>
          <a:prstGeom prst="rect">
            <a:avLst/>
          </a:prstGeom>
          <a:solidFill>
            <a:srgbClr val="F3F6F8"/>
          </a:solidFill>
          <a:ln w="12700">
            <a:solidFill>
              <a:srgbClr val="D8E0E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9656064" y="3063240"/>
            <a:ext cx="176479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1632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subprocess output</a:t>
            </a:r>
            <a:endParaRPr lang="en-US" sz="14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877B9"/>
          </a:solidFill>
          <a:ln w="12700">
            <a:solidFill>
              <a:srgbClr val="1877B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310896"/>
            <a:ext cx="4663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80" b="1" spc="50" kern="0" dirty="0">
                <a:solidFill>
                  <a:srgbClr val="1877B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PROGRAMOVANIE V PYTHONE</a:t>
            </a:r>
            <a:endParaRPr lang="en-US" sz="880" dirty="0"/>
          </a:p>
        </p:txBody>
      </p:sp>
      <p:sp>
        <p:nvSpPr>
          <p:cNvPr id="4" name="Text 2"/>
          <p:cNvSpPr/>
          <p:nvPr/>
        </p:nvSpPr>
        <p:spPr>
          <a:xfrm>
            <a:off x="9829800" y="310896"/>
            <a:ext cx="1783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80" b="1" dirty="0">
                <a:solidFill>
                  <a:srgbClr val="5E6B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PREDNÁŠKA 09</a:t>
            </a:r>
            <a:endParaRPr lang="en-US" sz="880" dirty="0"/>
          </a:p>
        </p:txBody>
      </p:sp>
      <p:sp>
        <p:nvSpPr>
          <p:cNvPr id="5" name="Shape 3"/>
          <p:cNvSpPr/>
          <p:nvPr/>
        </p:nvSpPr>
        <p:spPr>
          <a:xfrm>
            <a:off x="566928" y="658368"/>
            <a:ext cx="11045952" cy="0"/>
          </a:xfrm>
          <a:prstGeom prst="line">
            <a:avLst/>
          </a:prstGeom>
          <a:noFill/>
          <a:ln w="12700">
            <a:solidFill>
              <a:srgbClr val="D8E0E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66928" y="6419088"/>
            <a:ext cx="11045952" cy="0"/>
          </a:xfrm>
          <a:prstGeom prst="line">
            <a:avLst/>
          </a:prstGeom>
          <a:noFill/>
          <a:ln w="12700">
            <a:solidFill>
              <a:srgbClr val="D8E0E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771632" y="6501384"/>
            <a:ext cx="80467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780" dirty="0">
                <a:solidFill>
                  <a:srgbClr val="5E6B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04 / 27</a:t>
            </a:r>
            <a:endParaRPr lang="en-US" sz="780" dirty="0"/>
          </a:p>
        </p:txBody>
      </p:sp>
      <p:sp>
        <p:nvSpPr>
          <p:cNvPr id="8" name="Text 6"/>
          <p:cNvSpPr/>
          <p:nvPr/>
        </p:nvSpPr>
        <p:spPr>
          <a:xfrm>
            <a:off x="676656" y="1298448"/>
            <a:ext cx="155448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1877B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01</a:t>
            </a:r>
            <a:endParaRPr lang="en-US" sz="1900" dirty="0"/>
          </a:p>
        </p:txBody>
      </p:sp>
      <p:sp>
        <p:nvSpPr>
          <p:cNvPr id="9" name="Shape 7"/>
          <p:cNvSpPr/>
          <p:nvPr/>
        </p:nvSpPr>
        <p:spPr>
          <a:xfrm>
            <a:off x="749808" y="1901952"/>
            <a:ext cx="2148840" cy="0"/>
          </a:xfrm>
          <a:prstGeom prst="line">
            <a:avLst/>
          </a:prstGeom>
          <a:noFill/>
          <a:ln w="12700">
            <a:solidFill>
              <a:srgbClr val="1877B9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13232" y="2139696"/>
            <a:ext cx="9875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16324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Validation</a:t>
            </a:r>
            <a:endParaRPr lang="en-US" sz="3600" dirty="0"/>
          </a:p>
        </p:txBody>
      </p:sp>
      <p:sp>
        <p:nvSpPr>
          <p:cNvPr id="11" name="Text 9"/>
          <p:cNvSpPr/>
          <p:nvPr/>
        </p:nvSpPr>
        <p:spPr>
          <a:xfrm>
            <a:off x="749808" y="3200400"/>
            <a:ext cx="8138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920" dirty="0">
                <a:solidFill>
                  <a:srgbClr val="5E6B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Konverzia typu nie je celá validácia.</a:t>
            </a:r>
            <a:endParaRPr lang="en-US" sz="192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877B9"/>
          </a:solidFill>
          <a:ln w="12700">
            <a:solidFill>
              <a:srgbClr val="1877B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310896"/>
            <a:ext cx="4663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80" b="1" spc="50" kern="0" dirty="0">
                <a:solidFill>
                  <a:srgbClr val="1877B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PROGRAMOVANIE V PYTHONE</a:t>
            </a:r>
            <a:endParaRPr lang="en-US" sz="880" dirty="0"/>
          </a:p>
        </p:txBody>
      </p:sp>
      <p:sp>
        <p:nvSpPr>
          <p:cNvPr id="4" name="Text 2"/>
          <p:cNvSpPr/>
          <p:nvPr/>
        </p:nvSpPr>
        <p:spPr>
          <a:xfrm>
            <a:off x="9829800" y="310896"/>
            <a:ext cx="1783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80" b="1" dirty="0">
                <a:solidFill>
                  <a:srgbClr val="5E6B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PREDNÁŠKA 09</a:t>
            </a:r>
            <a:endParaRPr lang="en-US" sz="880" dirty="0"/>
          </a:p>
        </p:txBody>
      </p:sp>
      <p:sp>
        <p:nvSpPr>
          <p:cNvPr id="5" name="Shape 3"/>
          <p:cNvSpPr/>
          <p:nvPr/>
        </p:nvSpPr>
        <p:spPr>
          <a:xfrm>
            <a:off x="566928" y="658368"/>
            <a:ext cx="11045952" cy="0"/>
          </a:xfrm>
          <a:prstGeom prst="line">
            <a:avLst/>
          </a:prstGeom>
          <a:noFill/>
          <a:ln w="12700">
            <a:solidFill>
              <a:srgbClr val="D8E0E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66928" y="6419088"/>
            <a:ext cx="11045952" cy="0"/>
          </a:xfrm>
          <a:prstGeom prst="line">
            <a:avLst/>
          </a:prstGeom>
          <a:noFill/>
          <a:ln w="12700">
            <a:solidFill>
              <a:srgbClr val="D8E0E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771632" y="6501384"/>
            <a:ext cx="80467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780" dirty="0">
                <a:solidFill>
                  <a:srgbClr val="5E6B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05 / 27</a:t>
            </a:r>
            <a:endParaRPr lang="en-US" sz="780" dirty="0"/>
          </a:p>
        </p:txBody>
      </p:sp>
      <p:sp>
        <p:nvSpPr>
          <p:cNvPr id="8" name="Text 6"/>
          <p:cNvSpPr/>
          <p:nvPr/>
        </p:nvSpPr>
        <p:spPr>
          <a:xfrm>
            <a:off x="658368" y="914400"/>
            <a:ext cx="108813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850" b="1" dirty="0">
                <a:solidFill>
                  <a:srgbClr val="16324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Syntaktická a sémantická validácia</a:t>
            </a:r>
            <a:endParaRPr lang="en-US" sz="2850" dirty="0"/>
          </a:p>
        </p:txBody>
      </p:sp>
      <p:sp>
        <p:nvSpPr>
          <p:cNvPr id="9" name="Shape 7"/>
          <p:cNvSpPr/>
          <p:nvPr/>
        </p:nvSpPr>
        <p:spPr>
          <a:xfrm>
            <a:off x="713232" y="1883664"/>
            <a:ext cx="5010912" cy="0"/>
          </a:xfrm>
          <a:prstGeom prst="line">
            <a:avLst/>
          </a:prstGeom>
          <a:noFill/>
          <a:ln w="12700">
            <a:solidFill>
              <a:srgbClr val="167C8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13232" y="2139696"/>
            <a:ext cx="50109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950" b="1" dirty="0">
                <a:solidFill>
                  <a:srgbClr val="1632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Syntaktická</a:t>
            </a:r>
            <a:endParaRPr lang="en-US" sz="1950" dirty="0"/>
          </a:p>
        </p:txBody>
      </p:sp>
      <p:sp>
        <p:nvSpPr>
          <p:cNvPr id="11" name="Text 9"/>
          <p:cNvSpPr/>
          <p:nvPr/>
        </p:nvSpPr>
        <p:spPr>
          <a:xfrm>
            <a:off x="749808" y="2688336"/>
            <a:ext cx="4919472" cy="38862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228600" indent="-228600">
              <a:buSzPct val="100000"/>
              <a:buChar char="•"/>
            </a:pPr>
            <a:r>
              <a:rPr lang="en-US" sz="1620" dirty="0">
                <a:solidFill>
                  <a:srgbClr val="18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dá sa hodnota parsovať?</a:t>
            </a:r>
            <a:endParaRPr lang="en-US" sz="1620" dirty="0"/>
          </a:p>
          <a:p>
            <a:pPr marL="228600" indent="-228600">
              <a:buSzPct val="100000"/>
              <a:buChar char="•"/>
            </a:pPr>
            <a:r>
              <a:rPr lang="en-US" sz="1620" dirty="0">
                <a:solidFill>
                  <a:srgbClr val="18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je to celé číslo?</a:t>
            </a:r>
            <a:endParaRPr lang="en-US" sz="1620" dirty="0"/>
          </a:p>
          <a:p>
            <a:pPr marL="228600" indent="-228600">
              <a:buSzPct val="100000"/>
              <a:buChar char="•"/>
            </a:pPr>
            <a:r>
              <a:rPr lang="en-US" sz="1620" dirty="0">
                <a:solidFill>
                  <a:srgbClr val="18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má email formát?</a:t>
            </a:r>
            <a:endParaRPr lang="en-US" sz="1620" dirty="0"/>
          </a:p>
          <a:p>
            <a:pPr marL="228600" indent="-228600">
              <a:buSzPct val="100000"/>
              <a:buChar char="•"/>
            </a:pPr>
            <a:r>
              <a:rPr lang="en-US" sz="1620" dirty="0">
                <a:solidFill>
                  <a:srgbClr val="18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zvyčajne lokálna kontrola</a:t>
            </a:r>
            <a:endParaRPr lang="en-US" sz="1620" dirty="0"/>
          </a:p>
        </p:txBody>
      </p:sp>
      <p:sp>
        <p:nvSpPr>
          <p:cNvPr id="12" name="Shape 10"/>
          <p:cNvSpPr/>
          <p:nvPr/>
        </p:nvSpPr>
        <p:spPr>
          <a:xfrm>
            <a:off x="6373368" y="1883664"/>
            <a:ext cx="5010912" cy="0"/>
          </a:xfrm>
          <a:prstGeom prst="line">
            <a:avLst/>
          </a:prstGeom>
          <a:noFill/>
          <a:ln w="12700">
            <a:solidFill>
              <a:srgbClr val="E0A03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373368" y="2139696"/>
            <a:ext cx="50109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950" b="1" dirty="0">
                <a:solidFill>
                  <a:srgbClr val="1632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Sémantická</a:t>
            </a:r>
            <a:endParaRPr lang="en-US" sz="1950" dirty="0"/>
          </a:p>
        </p:txBody>
      </p:sp>
      <p:sp>
        <p:nvSpPr>
          <p:cNvPr id="14" name="Text 12"/>
          <p:cNvSpPr/>
          <p:nvPr/>
        </p:nvSpPr>
        <p:spPr>
          <a:xfrm>
            <a:off x="6409944" y="2688336"/>
            <a:ext cx="4919472" cy="38862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228600" indent="-228600">
              <a:buSzPct val="100000"/>
              <a:buChar char="•"/>
            </a:pPr>
            <a:r>
              <a:rPr lang="en-US" sz="1620" dirty="0">
                <a:solidFill>
                  <a:srgbClr val="18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má hodnota povolený význam?</a:t>
            </a:r>
            <a:endParaRPr lang="en-US" sz="1620" dirty="0"/>
          </a:p>
          <a:p>
            <a:pPr marL="228600" indent="-228600">
              <a:buSzPct val="100000"/>
              <a:buChar char="•"/>
            </a:pPr>
            <a:r>
              <a:rPr lang="en-US" sz="1620" dirty="0">
                <a:solidFill>
                  <a:srgbClr val="18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existuje room_id?</a:t>
            </a:r>
            <a:endParaRPr lang="en-US" sz="1620" dirty="0"/>
          </a:p>
          <a:p>
            <a:pPr marL="228600" indent="-228600">
              <a:buSzPct val="100000"/>
              <a:buChar char="•"/>
            </a:pPr>
            <a:r>
              <a:rPr lang="en-US" sz="1620" dirty="0">
                <a:solidFill>
                  <a:srgbClr val="18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má používateľ právo?</a:t>
            </a:r>
            <a:endParaRPr lang="en-US" sz="1620" dirty="0"/>
          </a:p>
          <a:p>
            <a:pPr marL="228600" indent="-228600">
              <a:buSzPct val="100000"/>
              <a:buChar char="•"/>
            </a:pPr>
            <a:r>
              <a:rPr lang="en-US" sz="1620" dirty="0">
                <a:solidFill>
                  <a:srgbClr val="18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často potrebuje kontext</a:t>
            </a:r>
            <a:endParaRPr lang="en-US" sz="162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877B9"/>
          </a:solidFill>
          <a:ln w="12700">
            <a:solidFill>
              <a:srgbClr val="1877B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310896"/>
            <a:ext cx="4663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80" b="1" spc="50" kern="0" dirty="0">
                <a:solidFill>
                  <a:srgbClr val="1877B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PROGRAMOVANIE V PYTHONE</a:t>
            </a:r>
            <a:endParaRPr lang="en-US" sz="880" dirty="0"/>
          </a:p>
        </p:txBody>
      </p:sp>
      <p:sp>
        <p:nvSpPr>
          <p:cNvPr id="4" name="Text 2"/>
          <p:cNvSpPr/>
          <p:nvPr/>
        </p:nvSpPr>
        <p:spPr>
          <a:xfrm>
            <a:off x="9829800" y="310896"/>
            <a:ext cx="1783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80" b="1" dirty="0">
                <a:solidFill>
                  <a:srgbClr val="5E6B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PREDNÁŠKA 09</a:t>
            </a:r>
            <a:endParaRPr lang="en-US" sz="880" dirty="0"/>
          </a:p>
        </p:txBody>
      </p:sp>
      <p:sp>
        <p:nvSpPr>
          <p:cNvPr id="5" name="Shape 3"/>
          <p:cNvSpPr/>
          <p:nvPr/>
        </p:nvSpPr>
        <p:spPr>
          <a:xfrm>
            <a:off x="566928" y="658368"/>
            <a:ext cx="11045952" cy="0"/>
          </a:xfrm>
          <a:prstGeom prst="line">
            <a:avLst/>
          </a:prstGeom>
          <a:noFill/>
          <a:ln w="12700">
            <a:solidFill>
              <a:srgbClr val="D8E0E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66928" y="6419088"/>
            <a:ext cx="11045952" cy="0"/>
          </a:xfrm>
          <a:prstGeom prst="line">
            <a:avLst/>
          </a:prstGeom>
          <a:noFill/>
          <a:ln w="12700">
            <a:solidFill>
              <a:srgbClr val="D8E0E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771632" y="6501384"/>
            <a:ext cx="80467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780" dirty="0">
                <a:solidFill>
                  <a:srgbClr val="5E6B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06 / 27</a:t>
            </a:r>
            <a:endParaRPr lang="en-US" sz="780" dirty="0"/>
          </a:p>
        </p:txBody>
      </p:sp>
      <p:sp>
        <p:nvSpPr>
          <p:cNvPr id="8" name="Text 6"/>
          <p:cNvSpPr/>
          <p:nvPr/>
        </p:nvSpPr>
        <p:spPr>
          <a:xfrm>
            <a:off x="658368" y="914400"/>
            <a:ext cx="108813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850" b="1" dirty="0">
                <a:solidFill>
                  <a:srgbClr val="16324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Allowlist pre malý rozsah volieb</a:t>
            </a:r>
            <a:endParaRPr lang="en-US" sz="2850" dirty="0"/>
          </a:p>
        </p:txBody>
      </p:sp>
      <p:sp>
        <p:nvSpPr>
          <p:cNvPr id="9" name="Shape 7"/>
          <p:cNvSpPr/>
          <p:nvPr/>
        </p:nvSpPr>
        <p:spPr>
          <a:xfrm>
            <a:off x="658368" y="1828800"/>
            <a:ext cx="6903720" cy="4069080"/>
          </a:xfrm>
          <a:prstGeom prst="rect">
            <a:avLst/>
          </a:prstGeom>
          <a:solidFill>
            <a:srgbClr val="17212B"/>
          </a:solidFill>
          <a:ln w="12700">
            <a:solidFill>
              <a:srgbClr val="243242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58368" y="1828800"/>
            <a:ext cx="6903720" cy="347472"/>
          </a:xfrm>
          <a:prstGeom prst="rect">
            <a:avLst/>
          </a:prstGeom>
          <a:solidFill>
            <a:srgbClr val="223044"/>
          </a:solidFill>
          <a:ln w="12700">
            <a:solidFill>
              <a:srgbClr val="22304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68680" y="1947672"/>
            <a:ext cx="63093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20" b="1" spc="35" kern="0" dirty="0">
                <a:solidFill>
                  <a:srgbClr val="8FD3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python</a:t>
            </a:r>
            <a:endParaRPr lang="en-US" sz="820" dirty="0"/>
          </a:p>
        </p:txBody>
      </p:sp>
      <p:sp>
        <p:nvSpPr>
          <p:cNvPr id="12" name="Text 10"/>
          <p:cNvSpPr/>
          <p:nvPr/>
        </p:nvSpPr>
        <p:spPr>
          <a:xfrm>
            <a:off x="877824" y="2359152"/>
            <a:ext cx="6382512" cy="32461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600" dirty="0">
                <a:solidFill>
                  <a:srgbClr val="F4F7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allowed_formats = {"csv", "json"}</a:t>
            </a:r>
            <a:endParaRPr lang="en-US" sz="1600" dirty="0"/>
          </a:p>
          <a:p>
            <a:pPr algn="l" indent="0" marL="0">
              <a:buNone/>
            </a:pPr>
            <a:endParaRPr lang="en-US" sz="1600" dirty="0"/>
          </a:p>
          <a:p>
            <a:pPr algn="l" indent="0" marL="0">
              <a:buNone/>
            </a:pPr>
            <a:r>
              <a:rPr lang="en-US" sz="1600" dirty="0">
                <a:solidFill>
                  <a:srgbClr val="F4F7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 export_format not in allowed_formats:</a:t>
            </a:r>
            <a:endParaRPr lang="en-US" sz="1600" dirty="0"/>
          </a:p>
          <a:p>
            <a:pPr algn="l" indent="0" marL="0">
              <a:buNone/>
            </a:pPr>
            <a:r>
              <a:rPr lang="en-US" sz="1600" dirty="0">
                <a:solidFill>
                  <a:srgbClr val="F4F7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raise ValueError("unsupported export format")</a:t>
            </a:r>
            <a:endParaRPr lang="en-US" sz="1600" dirty="0"/>
          </a:p>
          <a:p>
            <a:pPr algn="l" indent="0" marL="0">
              <a:buNone/>
            </a:pPr>
            <a:endParaRPr lang="en-US" sz="1600" dirty="0"/>
          </a:p>
          <a:p>
            <a:pPr algn="l" indent="0" marL="0">
              <a:buNone/>
            </a:pPr>
            <a:r>
              <a:rPr lang="en-US" sz="1600" dirty="0">
                <a:solidFill>
                  <a:srgbClr val="F4F7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path = output_dir / f"report.{export_format}"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7936992" y="1883664"/>
            <a:ext cx="0" cy="3639312"/>
          </a:xfrm>
          <a:prstGeom prst="line">
            <a:avLst/>
          </a:prstGeom>
          <a:noFill/>
          <a:ln w="12700">
            <a:solidFill>
              <a:srgbClr val="1877B9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229600" y="2084832"/>
            <a:ext cx="2816352" cy="2514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720" dirty="0">
                <a:solidFill>
                  <a:srgbClr val="5E6B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Blocklist sa snaží uhádnuť všetko zlé. Allowlist pomenuje, čo je v tejto časti aplikácie prípustné.</a:t>
            </a:r>
            <a:endParaRPr lang="en-US" sz="172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877B9"/>
          </a:solidFill>
          <a:ln w="12700">
            <a:solidFill>
              <a:srgbClr val="1877B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310896"/>
            <a:ext cx="4663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80" b="1" spc="50" kern="0" dirty="0">
                <a:solidFill>
                  <a:srgbClr val="1877B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PROGRAMOVANIE V PYTHONE</a:t>
            </a:r>
            <a:endParaRPr lang="en-US" sz="880" dirty="0"/>
          </a:p>
        </p:txBody>
      </p:sp>
      <p:sp>
        <p:nvSpPr>
          <p:cNvPr id="4" name="Text 2"/>
          <p:cNvSpPr/>
          <p:nvPr/>
        </p:nvSpPr>
        <p:spPr>
          <a:xfrm>
            <a:off x="9829800" y="310896"/>
            <a:ext cx="1783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80" b="1" dirty="0">
                <a:solidFill>
                  <a:srgbClr val="5E6B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PREDNÁŠKA 09</a:t>
            </a:r>
            <a:endParaRPr lang="en-US" sz="880" dirty="0"/>
          </a:p>
        </p:txBody>
      </p:sp>
      <p:sp>
        <p:nvSpPr>
          <p:cNvPr id="5" name="Shape 3"/>
          <p:cNvSpPr/>
          <p:nvPr/>
        </p:nvSpPr>
        <p:spPr>
          <a:xfrm>
            <a:off x="566928" y="658368"/>
            <a:ext cx="11045952" cy="0"/>
          </a:xfrm>
          <a:prstGeom prst="line">
            <a:avLst/>
          </a:prstGeom>
          <a:noFill/>
          <a:ln w="12700">
            <a:solidFill>
              <a:srgbClr val="D8E0E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66928" y="6419088"/>
            <a:ext cx="11045952" cy="0"/>
          </a:xfrm>
          <a:prstGeom prst="line">
            <a:avLst/>
          </a:prstGeom>
          <a:noFill/>
          <a:ln w="12700">
            <a:solidFill>
              <a:srgbClr val="D8E0E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771632" y="6501384"/>
            <a:ext cx="80467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780" dirty="0">
                <a:solidFill>
                  <a:srgbClr val="5E6B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07 / 27</a:t>
            </a:r>
            <a:endParaRPr lang="en-US" sz="780" dirty="0"/>
          </a:p>
        </p:txBody>
      </p:sp>
      <p:sp>
        <p:nvSpPr>
          <p:cNvPr id="8" name="Text 6"/>
          <p:cNvSpPr/>
          <p:nvPr/>
        </p:nvSpPr>
        <p:spPr>
          <a:xfrm>
            <a:off x="676656" y="1298448"/>
            <a:ext cx="155448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1877B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02</a:t>
            </a:r>
            <a:endParaRPr lang="en-US" sz="1900" dirty="0"/>
          </a:p>
        </p:txBody>
      </p:sp>
      <p:sp>
        <p:nvSpPr>
          <p:cNvPr id="9" name="Shape 7"/>
          <p:cNvSpPr/>
          <p:nvPr/>
        </p:nvSpPr>
        <p:spPr>
          <a:xfrm>
            <a:off x="749808" y="1901952"/>
            <a:ext cx="2148840" cy="0"/>
          </a:xfrm>
          <a:prstGeom prst="line">
            <a:avLst/>
          </a:prstGeom>
          <a:noFill/>
          <a:ln w="12700">
            <a:solidFill>
              <a:srgbClr val="1877B9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13232" y="2139696"/>
            <a:ext cx="9875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16324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Injection</a:t>
            </a:r>
            <a:endParaRPr lang="en-US" sz="3600" dirty="0"/>
          </a:p>
        </p:txBody>
      </p:sp>
      <p:sp>
        <p:nvSpPr>
          <p:cNvPr id="11" name="Text 9"/>
          <p:cNvSpPr/>
          <p:nvPr/>
        </p:nvSpPr>
        <p:spPr>
          <a:xfrm>
            <a:off x="749808" y="3200400"/>
            <a:ext cx="8138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920" dirty="0">
                <a:solidFill>
                  <a:srgbClr val="5E6B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Hodnota nesmie meniť štruktúru príkazu.</a:t>
            </a:r>
            <a:endParaRPr lang="en-US" sz="192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877B9"/>
          </a:solidFill>
          <a:ln w="12700">
            <a:solidFill>
              <a:srgbClr val="1877B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310896"/>
            <a:ext cx="4663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80" b="1" spc="50" kern="0" dirty="0">
                <a:solidFill>
                  <a:srgbClr val="1877B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PROGRAMOVANIE V PYTHONE</a:t>
            </a:r>
            <a:endParaRPr lang="en-US" sz="880" dirty="0"/>
          </a:p>
        </p:txBody>
      </p:sp>
      <p:sp>
        <p:nvSpPr>
          <p:cNvPr id="4" name="Text 2"/>
          <p:cNvSpPr/>
          <p:nvPr/>
        </p:nvSpPr>
        <p:spPr>
          <a:xfrm>
            <a:off x="9829800" y="310896"/>
            <a:ext cx="1783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80" b="1" dirty="0">
                <a:solidFill>
                  <a:srgbClr val="5E6B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PREDNÁŠKA 09</a:t>
            </a:r>
            <a:endParaRPr lang="en-US" sz="880" dirty="0"/>
          </a:p>
        </p:txBody>
      </p:sp>
      <p:sp>
        <p:nvSpPr>
          <p:cNvPr id="5" name="Shape 3"/>
          <p:cNvSpPr/>
          <p:nvPr/>
        </p:nvSpPr>
        <p:spPr>
          <a:xfrm>
            <a:off x="566928" y="658368"/>
            <a:ext cx="11045952" cy="0"/>
          </a:xfrm>
          <a:prstGeom prst="line">
            <a:avLst/>
          </a:prstGeom>
          <a:noFill/>
          <a:ln w="12700">
            <a:solidFill>
              <a:srgbClr val="D8E0E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66928" y="6419088"/>
            <a:ext cx="11045952" cy="0"/>
          </a:xfrm>
          <a:prstGeom prst="line">
            <a:avLst/>
          </a:prstGeom>
          <a:noFill/>
          <a:ln w="12700">
            <a:solidFill>
              <a:srgbClr val="D8E0E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771632" y="6501384"/>
            <a:ext cx="80467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780" dirty="0">
                <a:solidFill>
                  <a:srgbClr val="5E6B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08 / 27</a:t>
            </a:r>
            <a:endParaRPr lang="en-US" sz="780" dirty="0"/>
          </a:p>
        </p:txBody>
      </p:sp>
      <p:sp>
        <p:nvSpPr>
          <p:cNvPr id="8" name="Text 6"/>
          <p:cNvSpPr/>
          <p:nvPr/>
        </p:nvSpPr>
        <p:spPr>
          <a:xfrm>
            <a:off x="658368" y="914400"/>
            <a:ext cx="108813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850" b="1" dirty="0">
                <a:solidFill>
                  <a:srgbClr val="16324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SQL injection</a:t>
            </a:r>
            <a:endParaRPr lang="en-US" sz="2850" dirty="0"/>
          </a:p>
        </p:txBody>
      </p:sp>
      <p:sp>
        <p:nvSpPr>
          <p:cNvPr id="9" name="Text 7"/>
          <p:cNvSpPr/>
          <p:nvPr/>
        </p:nvSpPr>
        <p:spPr>
          <a:xfrm>
            <a:off x="749808" y="1920240"/>
            <a:ext cx="4160520" cy="38862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228600" indent="-228600">
              <a:buSzPct val="100000"/>
              <a:buChar char="•"/>
            </a:pPr>
            <a:r>
              <a:rPr lang="en-US" sz="1650" dirty="0">
                <a:solidFill>
                  <a:srgbClr val="18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problém: SQL skladané z textu</a:t>
            </a:r>
            <a:endParaRPr lang="en-US" sz="1650" dirty="0"/>
          </a:p>
          <a:p>
            <a:pPr marL="228600" indent="-228600">
              <a:buSzPct val="100000"/>
              <a:buChar char="•"/>
            </a:pPr>
            <a:r>
              <a:rPr lang="en-US" sz="1650" dirty="0">
                <a:solidFill>
                  <a:srgbClr val="18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riziko: vstup zmení dotaz</a:t>
            </a:r>
            <a:endParaRPr lang="en-US" sz="1650" dirty="0"/>
          </a:p>
          <a:p>
            <a:pPr marL="228600" indent="-228600">
              <a:buSzPct val="100000"/>
              <a:buChar char="•"/>
            </a:pPr>
            <a:r>
              <a:rPr lang="en-US" sz="1650" dirty="0">
                <a:solidFill>
                  <a:srgbClr val="18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pattern: placeholders + parameters</a:t>
            </a:r>
            <a:endParaRPr lang="en-US" sz="1650" dirty="0"/>
          </a:p>
        </p:txBody>
      </p:sp>
      <p:sp>
        <p:nvSpPr>
          <p:cNvPr id="10" name="Shape 8"/>
          <p:cNvSpPr/>
          <p:nvPr/>
        </p:nvSpPr>
        <p:spPr>
          <a:xfrm>
            <a:off x="5413248" y="1792224"/>
            <a:ext cx="5925312" cy="4160520"/>
          </a:xfrm>
          <a:prstGeom prst="rect">
            <a:avLst/>
          </a:prstGeom>
          <a:solidFill>
            <a:srgbClr val="17212B"/>
          </a:solidFill>
          <a:ln w="12700">
            <a:solidFill>
              <a:srgbClr val="243242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413248" y="1792224"/>
            <a:ext cx="5925312" cy="329184"/>
          </a:xfrm>
          <a:prstGeom prst="rect">
            <a:avLst/>
          </a:prstGeom>
          <a:solidFill>
            <a:srgbClr val="223044"/>
          </a:solidFill>
          <a:ln w="12700">
            <a:solidFill>
              <a:srgbClr val="223044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641848" y="1901952"/>
            <a:ext cx="53949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10" b="1" spc="35" kern="0" dirty="0">
                <a:solidFill>
                  <a:srgbClr val="8FD3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python</a:t>
            </a:r>
            <a:endParaRPr lang="en-US" sz="810" dirty="0"/>
          </a:p>
        </p:txBody>
      </p:sp>
      <p:sp>
        <p:nvSpPr>
          <p:cNvPr id="13" name="Text 11"/>
          <p:cNvSpPr/>
          <p:nvPr/>
        </p:nvSpPr>
        <p:spPr>
          <a:xfrm>
            <a:off x="5641848" y="2331720"/>
            <a:ext cx="5340096" cy="31821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F4F7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zle</a:t>
            </a:r>
            <a:endParaRPr lang="en-US" sz="1500" dirty="0"/>
          </a:p>
          <a:p>
            <a:pPr algn="l" indent="0" marL="0">
              <a:buNone/>
            </a:pPr>
            <a:r>
              <a:rPr lang="en-US" sz="1500" dirty="0">
                <a:solidFill>
                  <a:srgbClr val="F4F7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sql = f"SELECT * FROM users WHERE email = '{email}'"</a:t>
            </a:r>
            <a:endParaRPr lang="en-US" sz="1500" dirty="0"/>
          </a:p>
          <a:p>
            <a:pPr algn="l" indent="0" marL="0">
              <a:buNone/>
            </a:pPr>
            <a:r>
              <a:rPr lang="en-US" sz="1500" dirty="0">
                <a:solidFill>
                  <a:srgbClr val="F4F7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connection.execute(sql)</a:t>
            </a:r>
            <a:endParaRPr lang="en-US" sz="1500" dirty="0"/>
          </a:p>
          <a:p>
            <a:pPr algn="l" indent="0" marL="0">
              <a:buNone/>
            </a:pPr>
            <a:endParaRPr lang="en-US" sz="1500" dirty="0"/>
          </a:p>
          <a:p>
            <a:pPr algn="l" indent="0" marL="0">
              <a:buNone/>
            </a:pPr>
            <a:r>
              <a:rPr lang="en-US" sz="1500" dirty="0">
                <a:solidFill>
                  <a:srgbClr val="F4F7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lepšie</a:t>
            </a:r>
            <a:endParaRPr lang="en-US" sz="1500" dirty="0"/>
          </a:p>
          <a:p>
            <a:pPr algn="l" indent="0" marL="0">
              <a:buNone/>
            </a:pPr>
            <a:r>
              <a:rPr lang="en-US" sz="1500" dirty="0">
                <a:solidFill>
                  <a:srgbClr val="F4F7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connection.execute(</a:t>
            </a:r>
            <a:endParaRPr lang="en-US" sz="1500" dirty="0"/>
          </a:p>
          <a:p>
            <a:pPr algn="l" indent="0" marL="0">
              <a:buNone/>
            </a:pPr>
            <a:r>
              <a:rPr lang="en-US" sz="1500" dirty="0">
                <a:solidFill>
                  <a:srgbClr val="F4F7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"SELECT * FROM users WHERE email = ?",</a:t>
            </a:r>
            <a:endParaRPr lang="en-US" sz="1500" dirty="0"/>
          </a:p>
          <a:p>
            <a:pPr algn="l" indent="0" marL="0">
              <a:buNone/>
            </a:pPr>
            <a:r>
              <a:rPr lang="en-US" sz="1500" dirty="0">
                <a:solidFill>
                  <a:srgbClr val="F4F7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(email,),</a:t>
            </a:r>
            <a:endParaRPr lang="en-US" sz="1500" dirty="0"/>
          </a:p>
          <a:p>
            <a:pPr algn="l" indent="0" marL="0">
              <a:buNone/>
            </a:pPr>
            <a:r>
              <a:rPr lang="en-US" sz="1500" dirty="0">
                <a:solidFill>
                  <a:srgbClr val="F4F7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15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877B9"/>
          </a:solidFill>
          <a:ln w="12700">
            <a:solidFill>
              <a:srgbClr val="1877B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310896"/>
            <a:ext cx="4663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80" b="1" spc="50" kern="0" dirty="0">
                <a:solidFill>
                  <a:srgbClr val="1877B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PROGRAMOVANIE V PYTHONE</a:t>
            </a:r>
            <a:endParaRPr lang="en-US" sz="880" dirty="0"/>
          </a:p>
        </p:txBody>
      </p:sp>
      <p:sp>
        <p:nvSpPr>
          <p:cNvPr id="4" name="Text 2"/>
          <p:cNvSpPr/>
          <p:nvPr/>
        </p:nvSpPr>
        <p:spPr>
          <a:xfrm>
            <a:off x="9829800" y="310896"/>
            <a:ext cx="1783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80" b="1" dirty="0">
                <a:solidFill>
                  <a:srgbClr val="5E6B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PREDNÁŠKA 09</a:t>
            </a:r>
            <a:endParaRPr lang="en-US" sz="880" dirty="0"/>
          </a:p>
        </p:txBody>
      </p:sp>
      <p:sp>
        <p:nvSpPr>
          <p:cNvPr id="5" name="Shape 3"/>
          <p:cNvSpPr/>
          <p:nvPr/>
        </p:nvSpPr>
        <p:spPr>
          <a:xfrm>
            <a:off x="566928" y="658368"/>
            <a:ext cx="11045952" cy="0"/>
          </a:xfrm>
          <a:prstGeom prst="line">
            <a:avLst/>
          </a:prstGeom>
          <a:noFill/>
          <a:ln w="12700">
            <a:solidFill>
              <a:srgbClr val="D8E0E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66928" y="6419088"/>
            <a:ext cx="11045952" cy="0"/>
          </a:xfrm>
          <a:prstGeom prst="line">
            <a:avLst/>
          </a:prstGeom>
          <a:noFill/>
          <a:ln w="12700">
            <a:solidFill>
              <a:srgbClr val="D8E0E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771632" y="6501384"/>
            <a:ext cx="80467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780" dirty="0">
                <a:solidFill>
                  <a:srgbClr val="5E6B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09 / 27</a:t>
            </a:r>
            <a:endParaRPr lang="en-US" sz="780" dirty="0"/>
          </a:p>
        </p:txBody>
      </p:sp>
      <p:sp>
        <p:nvSpPr>
          <p:cNvPr id="8" name="Text 6"/>
          <p:cNvSpPr/>
          <p:nvPr/>
        </p:nvSpPr>
        <p:spPr>
          <a:xfrm>
            <a:off x="658368" y="914400"/>
            <a:ext cx="108813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850" b="1" dirty="0">
                <a:solidFill>
                  <a:srgbClr val="16324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Command injection</a:t>
            </a:r>
            <a:endParaRPr lang="en-US" sz="2850" dirty="0"/>
          </a:p>
        </p:txBody>
      </p:sp>
      <p:sp>
        <p:nvSpPr>
          <p:cNvPr id="9" name="Text 7"/>
          <p:cNvSpPr/>
          <p:nvPr/>
        </p:nvSpPr>
        <p:spPr>
          <a:xfrm>
            <a:off x="749808" y="1920240"/>
            <a:ext cx="4160520" cy="38862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228600" indent="-228600">
              <a:buSzPct val="100000"/>
              <a:buChar char="•"/>
            </a:pPr>
            <a:r>
              <a:rPr lang="en-US" sz="1650" dirty="0">
                <a:solidFill>
                  <a:srgbClr val="18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problém: command ako jeden shell string</a:t>
            </a:r>
            <a:endParaRPr lang="en-US" sz="1650" dirty="0"/>
          </a:p>
          <a:p>
            <a:pPr marL="228600" indent="-228600">
              <a:buSzPct val="100000"/>
              <a:buChar char="•"/>
            </a:pPr>
            <a:r>
              <a:rPr lang="en-US" sz="1650" dirty="0">
                <a:solidFill>
                  <a:srgbClr val="18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riziko: shell interpretuje špeciálne znaky</a:t>
            </a:r>
            <a:endParaRPr lang="en-US" sz="1650" dirty="0"/>
          </a:p>
          <a:p>
            <a:pPr marL="228600" indent="-228600">
              <a:buSzPct val="100000"/>
              <a:buChar char="•"/>
            </a:pPr>
            <a:r>
              <a:rPr lang="en-US" sz="1650" dirty="0">
                <a:solidFill>
                  <a:srgbClr val="18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pattern: program a argumenty oddelene</a:t>
            </a:r>
            <a:endParaRPr lang="en-US" sz="1650" dirty="0"/>
          </a:p>
        </p:txBody>
      </p:sp>
      <p:sp>
        <p:nvSpPr>
          <p:cNvPr id="10" name="Shape 8"/>
          <p:cNvSpPr/>
          <p:nvPr/>
        </p:nvSpPr>
        <p:spPr>
          <a:xfrm>
            <a:off x="5413248" y="1792224"/>
            <a:ext cx="5925312" cy="4160520"/>
          </a:xfrm>
          <a:prstGeom prst="rect">
            <a:avLst/>
          </a:prstGeom>
          <a:solidFill>
            <a:srgbClr val="17212B"/>
          </a:solidFill>
          <a:ln w="12700">
            <a:solidFill>
              <a:srgbClr val="243242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413248" y="1792224"/>
            <a:ext cx="5925312" cy="329184"/>
          </a:xfrm>
          <a:prstGeom prst="rect">
            <a:avLst/>
          </a:prstGeom>
          <a:solidFill>
            <a:srgbClr val="223044"/>
          </a:solidFill>
          <a:ln w="12700">
            <a:solidFill>
              <a:srgbClr val="223044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641848" y="1901952"/>
            <a:ext cx="53949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10" b="1" spc="35" kern="0" dirty="0">
                <a:solidFill>
                  <a:srgbClr val="8FD3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python</a:t>
            </a:r>
            <a:endParaRPr lang="en-US" sz="810" dirty="0"/>
          </a:p>
        </p:txBody>
      </p:sp>
      <p:sp>
        <p:nvSpPr>
          <p:cNvPr id="13" name="Text 11"/>
          <p:cNvSpPr/>
          <p:nvPr/>
        </p:nvSpPr>
        <p:spPr>
          <a:xfrm>
            <a:off x="5641848" y="2331720"/>
            <a:ext cx="5340096" cy="31821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520" dirty="0">
                <a:solidFill>
                  <a:srgbClr val="F4F7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zle</a:t>
            </a:r>
            <a:endParaRPr lang="en-US" sz="1520" dirty="0"/>
          </a:p>
          <a:p>
            <a:pPr algn="l" indent="0" marL="0">
              <a:buNone/>
            </a:pPr>
            <a:r>
              <a:rPr lang="en-US" sz="1520" dirty="0">
                <a:solidFill>
                  <a:srgbClr val="F4F7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subprocess.run(f"ping {host}", shell=True)</a:t>
            </a:r>
            <a:endParaRPr lang="en-US" sz="1520" dirty="0"/>
          </a:p>
          <a:p>
            <a:pPr algn="l" indent="0" marL="0">
              <a:buNone/>
            </a:pPr>
            <a:endParaRPr lang="en-US" sz="1520" dirty="0"/>
          </a:p>
          <a:p>
            <a:pPr algn="l" indent="0" marL="0">
              <a:buNone/>
            </a:pPr>
            <a:r>
              <a:rPr lang="en-US" sz="1520" dirty="0">
                <a:solidFill>
                  <a:srgbClr val="F4F7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lepšie</a:t>
            </a:r>
            <a:endParaRPr lang="en-US" sz="1520" dirty="0"/>
          </a:p>
          <a:p>
            <a:pPr algn="l" indent="0" marL="0">
              <a:buNone/>
            </a:pPr>
            <a:r>
              <a:rPr lang="en-US" sz="1520" dirty="0">
                <a:solidFill>
                  <a:srgbClr val="F4F7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subprocess.run(</a:t>
            </a:r>
            <a:endParaRPr lang="en-US" sz="1520" dirty="0"/>
          </a:p>
          <a:p>
            <a:pPr algn="l" indent="0" marL="0">
              <a:buNone/>
            </a:pPr>
            <a:r>
              <a:rPr lang="en-US" sz="1520" dirty="0">
                <a:solidFill>
                  <a:srgbClr val="F4F7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["ping", "-n", "1", host],</a:t>
            </a:r>
            <a:endParaRPr lang="en-US" sz="1520" dirty="0"/>
          </a:p>
          <a:p>
            <a:pPr algn="l" indent="0" marL="0">
              <a:buNone/>
            </a:pPr>
            <a:r>
              <a:rPr lang="en-US" sz="1520" dirty="0">
                <a:solidFill>
                  <a:srgbClr val="F4F7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check=True,</a:t>
            </a:r>
            <a:endParaRPr lang="en-US" sz="1520" dirty="0"/>
          </a:p>
          <a:p>
            <a:pPr algn="l" indent="0" marL="0">
              <a:buNone/>
            </a:pPr>
            <a:r>
              <a:rPr lang="en-US" sz="1520" dirty="0">
                <a:solidFill>
                  <a:srgbClr val="F4F7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152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877B9"/>
          </a:solidFill>
          <a:ln w="12700">
            <a:solidFill>
              <a:srgbClr val="1877B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310896"/>
            <a:ext cx="4663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80" b="1" spc="50" kern="0" dirty="0">
                <a:solidFill>
                  <a:srgbClr val="1877B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PROGRAMOVANIE V PYTHONE</a:t>
            </a:r>
            <a:endParaRPr lang="en-US" sz="880" dirty="0"/>
          </a:p>
        </p:txBody>
      </p:sp>
      <p:sp>
        <p:nvSpPr>
          <p:cNvPr id="4" name="Text 2"/>
          <p:cNvSpPr/>
          <p:nvPr/>
        </p:nvSpPr>
        <p:spPr>
          <a:xfrm>
            <a:off x="9829800" y="310896"/>
            <a:ext cx="1783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80" b="1" dirty="0">
                <a:solidFill>
                  <a:srgbClr val="5E6B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PREDNÁŠKA 09</a:t>
            </a:r>
            <a:endParaRPr lang="en-US" sz="880" dirty="0"/>
          </a:p>
        </p:txBody>
      </p:sp>
      <p:sp>
        <p:nvSpPr>
          <p:cNvPr id="5" name="Shape 3"/>
          <p:cNvSpPr/>
          <p:nvPr/>
        </p:nvSpPr>
        <p:spPr>
          <a:xfrm>
            <a:off x="566928" y="658368"/>
            <a:ext cx="11045952" cy="0"/>
          </a:xfrm>
          <a:prstGeom prst="line">
            <a:avLst/>
          </a:prstGeom>
          <a:noFill/>
          <a:ln w="12700">
            <a:solidFill>
              <a:srgbClr val="D8E0E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66928" y="6419088"/>
            <a:ext cx="11045952" cy="0"/>
          </a:xfrm>
          <a:prstGeom prst="line">
            <a:avLst/>
          </a:prstGeom>
          <a:noFill/>
          <a:ln w="12700">
            <a:solidFill>
              <a:srgbClr val="D8E0E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771632" y="6501384"/>
            <a:ext cx="80467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780" dirty="0">
                <a:solidFill>
                  <a:srgbClr val="5E6B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 / 27</a:t>
            </a:r>
            <a:endParaRPr lang="en-US" sz="780" dirty="0"/>
          </a:p>
        </p:txBody>
      </p:sp>
      <p:sp>
        <p:nvSpPr>
          <p:cNvPr id="8" name="Text 6"/>
          <p:cNvSpPr/>
          <p:nvPr/>
        </p:nvSpPr>
        <p:spPr>
          <a:xfrm>
            <a:off x="658368" y="914400"/>
            <a:ext cx="108813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850" b="1" dirty="0">
                <a:solidFill>
                  <a:srgbClr val="16324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shell=True je hranica navyše</a:t>
            </a:r>
            <a:endParaRPr lang="en-US" sz="2850" dirty="0"/>
          </a:p>
        </p:txBody>
      </p:sp>
      <p:sp>
        <p:nvSpPr>
          <p:cNvPr id="9" name="Text 7"/>
          <p:cNvSpPr/>
          <p:nvPr/>
        </p:nvSpPr>
        <p:spPr>
          <a:xfrm>
            <a:off x="685800" y="1719072"/>
            <a:ext cx="99669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5E6B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Pri shelli už nespúšťame len program s argumentmi. Odovzdávame text ďalšiemu interpretru.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868680" y="2487168"/>
            <a:ext cx="9921240" cy="38862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228600" indent="-228600">
              <a:buSzPct val="100000"/>
              <a:buChar char="•"/>
            </a:pPr>
            <a:r>
              <a:rPr lang="en-US" sz="1800" dirty="0">
                <a:solidFill>
                  <a:srgbClr val="18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ak shell nepotrebujete, nepoužívajte ho</a:t>
            </a:r>
            <a:endParaRPr lang="en-US" sz="1800" dirty="0"/>
          </a:p>
          <a:p>
            <a:pPr marL="228600" indent="-228600">
              <a:buSzPct val="100000"/>
              <a:buChar char="•"/>
            </a:pPr>
            <a:r>
              <a:rPr lang="en-US" sz="1800" dirty="0">
                <a:solidFill>
                  <a:srgbClr val="18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argument list jasne oddeľuje program a hodnoty</a:t>
            </a:r>
            <a:endParaRPr lang="en-US" sz="1800" dirty="0"/>
          </a:p>
          <a:p>
            <a:pPr marL="228600" indent="-228600">
              <a:buSzPct val="100000"/>
              <a:buChar char="•"/>
            </a:pPr>
            <a:r>
              <a:rPr lang="en-US" sz="1800" dirty="0">
                <a:solidFill>
                  <a:srgbClr val="18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validácia vstupu stále zostáva potrebná</a:t>
            </a:r>
            <a:endParaRPr lang="en-US" sz="1800" dirty="0"/>
          </a:p>
          <a:p>
            <a:pPr marL="228600" indent="-228600">
              <a:buSzPct val="100000"/>
              <a:buChar char="•"/>
            </a:pPr>
            <a:r>
              <a:rPr lang="en-US" sz="1800" dirty="0">
                <a:solidFill>
                  <a:srgbClr val="18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logujte zlyhanie bez citlivých údajov</a:t>
            </a:r>
            <a:endParaRPr lang="en-US" sz="1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877B9"/>
          </a:solidFill>
          <a:ln w="12700">
            <a:solidFill>
              <a:srgbClr val="1877B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310896"/>
            <a:ext cx="4663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80" b="1" spc="50" kern="0" dirty="0">
                <a:solidFill>
                  <a:srgbClr val="1877B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PROGRAMOVANIE V PYTHONE</a:t>
            </a:r>
            <a:endParaRPr lang="en-US" sz="880" dirty="0"/>
          </a:p>
        </p:txBody>
      </p:sp>
      <p:sp>
        <p:nvSpPr>
          <p:cNvPr id="4" name="Text 2"/>
          <p:cNvSpPr/>
          <p:nvPr/>
        </p:nvSpPr>
        <p:spPr>
          <a:xfrm>
            <a:off x="9829800" y="310896"/>
            <a:ext cx="1783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80" b="1" dirty="0">
                <a:solidFill>
                  <a:srgbClr val="5E6B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PREDNÁŠKA 09</a:t>
            </a:r>
            <a:endParaRPr lang="en-US" sz="880" dirty="0"/>
          </a:p>
        </p:txBody>
      </p:sp>
      <p:sp>
        <p:nvSpPr>
          <p:cNvPr id="5" name="Shape 3"/>
          <p:cNvSpPr/>
          <p:nvPr/>
        </p:nvSpPr>
        <p:spPr>
          <a:xfrm>
            <a:off x="566928" y="658368"/>
            <a:ext cx="11045952" cy="0"/>
          </a:xfrm>
          <a:prstGeom prst="line">
            <a:avLst/>
          </a:prstGeom>
          <a:noFill/>
          <a:ln w="12700">
            <a:solidFill>
              <a:srgbClr val="D8E0E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66928" y="6419088"/>
            <a:ext cx="11045952" cy="0"/>
          </a:xfrm>
          <a:prstGeom prst="line">
            <a:avLst/>
          </a:prstGeom>
          <a:noFill/>
          <a:ln w="12700">
            <a:solidFill>
              <a:srgbClr val="D8E0E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771632" y="6501384"/>
            <a:ext cx="80467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780" dirty="0">
                <a:solidFill>
                  <a:srgbClr val="5E6B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11 / 27</a:t>
            </a:r>
            <a:endParaRPr lang="en-US" sz="780" dirty="0"/>
          </a:p>
        </p:txBody>
      </p:sp>
      <p:sp>
        <p:nvSpPr>
          <p:cNvPr id="8" name="Text 6"/>
          <p:cNvSpPr/>
          <p:nvPr/>
        </p:nvSpPr>
        <p:spPr>
          <a:xfrm>
            <a:off x="676656" y="1298448"/>
            <a:ext cx="155448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1877B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03</a:t>
            </a:r>
            <a:endParaRPr lang="en-US" sz="1900" dirty="0"/>
          </a:p>
        </p:txBody>
      </p:sp>
      <p:sp>
        <p:nvSpPr>
          <p:cNvPr id="9" name="Shape 7"/>
          <p:cNvSpPr/>
          <p:nvPr/>
        </p:nvSpPr>
        <p:spPr>
          <a:xfrm>
            <a:off x="749808" y="1901952"/>
            <a:ext cx="2148840" cy="0"/>
          </a:xfrm>
          <a:prstGeom prst="line">
            <a:avLst/>
          </a:prstGeom>
          <a:noFill/>
          <a:ln w="12700">
            <a:solidFill>
              <a:srgbClr val="1877B9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13232" y="2139696"/>
            <a:ext cx="9875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16324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Text nie je kód</a:t>
            </a:r>
            <a:endParaRPr lang="en-US" sz="3600" dirty="0"/>
          </a:p>
        </p:txBody>
      </p:sp>
      <p:sp>
        <p:nvSpPr>
          <p:cNvPr id="11" name="Text 9"/>
          <p:cNvSpPr/>
          <p:nvPr/>
        </p:nvSpPr>
        <p:spPr>
          <a:xfrm>
            <a:off x="749808" y="3200400"/>
            <a:ext cx="8138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920" dirty="0">
                <a:solidFill>
                  <a:srgbClr val="5E6B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Parser a interpreter sú rozdielne nástroje.</a:t>
            </a:r>
            <a:endParaRPr lang="en-US" sz="192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877B9"/>
          </a:solidFill>
          <a:ln w="12700">
            <a:solidFill>
              <a:srgbClr val="1877B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310896"/>
            <a:ext cx="4663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80" b="1" spc="50" kern="0" dirty="0">
                <a:solidFill>
                  <a:srgbClr val="1877B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PROGRAMOVANIE V PYTHONE</a:t>
            </a:r>
            <a:endParaRPr lang="en-US" sz="880" dirty="0"/>
          </a:p>
        </p:txBody>
      </p:sp>
      <p:sp>
        <p:nvSpPr>
          <p:cNvPr id="4" name="Text 2"/>
          <p:cNvSpPr/>
          <p:nvPr/>
        </p:nvSpPr>
        <p:spPr>
          <a:xfrm>
            <a:off x="9829800" y="310896"/>
            <a:ext cx="1783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80" b="1" dirty="0">
                <a:solidFill>
                  <a:srgbClr val="5E6B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PREDNÁŠKA 09</a:t>
            </a:r>
            <a:endParaRPr lang="en-US" sz="880" dirty="0"/>
          </a:p>
        </p:txBody>
      </p:sp>
      <p:sp>
        <p:nvSpPr>
          <p:cNvPr id="5" name="Shape 3"/>
          <p:cNvSpPr/>
          <p:nvPr/>
        </p:nvSpPr>
        <p:spPr>
          <a:xfrm>
            <a:off x="566928" y="658368"/>
            <a:ext cx="11045952" cy="0"/>
          </a:xfrm>
          <a:prstGeom prst="line">
            <a:avLst/>
          </a:prstGeom>
          <a:noFill/>
          <a:ln w="12700">
            <a:solidFill>
              <a:srgbClr val="D8E0E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66928" y="6419088"/>
            <a:ext cx="11045952" cy="0"/>
          </a:xfrm>
          <a:prstGeom prst="line">
            <a:avLst/>
          </a:prstGeom>
          <a:noFill/>
          <a:ln w="12700">
            <a:solidFill>
              <a:srgbClr val="D8E0E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771632" y="6501384"/>
            <a:ext cx="80467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780" dirty="0">
                <a:solidFill>
                  <a:srgbClr val="5E6B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12 / 27</a:t>
            </a:r>
            <a:endParaRPr lang="en-US" sz="780" dirty="0"/>
          </a:p>
        </p:txBody>
      </p:sp>
      <p:sp>
        <p:nvSpPr>
          <p:cNvPr id="8" name="Text 6"/>
          <p:cNvSpPr/>
          <p:nvPr/>
        </p:nvSpPr>
        <p:spPr>
          <a:xfrm>
            <a:off x="658368" y="914400"/>
            <a:ext cx="108813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850" b="1" dirty="0">
                <a:solidFill>
                  <a:srgbClr val="16324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eval() nie je parser konfigurácie</a:t>
            </a:r>
            <a:endParaRPr lang="en-US" sz="2850" dirty="0"/>
          </a:p>
        </p:txBody>
      </p:sp>
      <p:sp>
        <p:nvSpPr>
          <p:cNvPr id="9" name="Shape 7"/>
          <p:cNvSpPr/>
          <p:nvPr/>
        </p:nvSpPr>
        <p:spPr>
          <a:xfrm>
            <a:off x="658368" y="1828800"/>
            <a:ext cx="6903720" cy="4069080"/>
          </a:xfrm>
          <a:prstGeom prst="rect">
            <a:avLst/>
          </a:prstGeom>
          <a:solidFill>
            <a:srgbClr val="17212B"/>
          </a:solidFill>
          <a:ln w="12700">
            <a:solidFill>
              <a:srgbClr val="243242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58368" y="1828800"/>
            <a:ext cx="6903720" cy="347472"/>
          </a:xfrm>
          <a:prstGeom prst="rect">
            <a:avLst/>
          </a:prstGeom>
          <a:solidFill>
            <a:srgbClr val="223044"/>
          </a:solidFill>
          <a:ln w="12700">
            <a:solidFill>
              <a:srgbClr val="22304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68680" y="1947672"/>
            <a:ext cx="63093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20" b="1" spc="35" kern="0" dirty="0">
                <a:solidFill>
                  <a:srgbClr val="8FD3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python</a:t>
            </a:r>
            <a:endParaRPr lang="en-US" sz="820" dirty="0"/>
          </a:p>
        </p:txBody>
      </p:sp>
      <p:sp>
        <p:nvSpPr>
          <p:cNvPr id="12" name="Text 10"/>
          <p:cNvSpPr/>
          <p:nvPr/>
        </p:nvSpPr>
        <p:spPr>
          <a:xfrm>
            <a:off x="877824" y="2359152"/>
            <a:ext cx="6382512" cy="32461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600" dirty="0">
                <a:solidFill>
                  <a:srgbClr val="F4F7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zle</a:t>
            </a:r>
            <a:endParaRPr lang="en-US" sz="1600" dirty="0"/>
          </a:p>
          <a:p>
            <a:pPr algn="l" indent="0" marL="0">
              <a:buNone/>
            </a:pPr>
            <a:r>
              <a:rPr lang="en-US" sz="1600" dirty="0">
                <a:solidFill>
                  <a:srgbClr val="F4F7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settings = eval(user_text)</a:t>
            </a:r>
            <a:endParaRPr lang="en-US" sz="1600" dirty="0"/>
          </a:p>
          <a:p>
            <a:pPr algn="l" indent="0" marL="0">
              <a:buNone/>
            </a:pPr>
            <a:endParaRPr lang="en-US" sz="1600" dirty="0"/>
          </a:p>
          <a:p>
            <a:pPr algn="l" indent="0" marL="0">
              <a:buNone/>
            </a:pPr>
            <a:r>
              <a:rPr lang="en-US" sz="1600" dirty="0">
                <a:solidFill>
                  <a:srgbClr val="F4F7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lepšie pre dátový formát</a:t>
            </a:r>
            <a:endParaRPr lang="en-US" sz="1600" dirty="0"/>
          </a:p>
          <a:p>
            <a:pPr algn="l" indent="0" marL="0">
              <a:buNone/>
            </a:pPr>
            <a:r>
              <a:rPr lang="en-US" sz="1600" dirty="0">
                <a:solidFill>
                  <a:srgbClr val="F4F7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settings = json.loads(user_text)</a:t>
            </a:r>
            <a:endParaRPr lang="en-US" sz="1600" dirty="0"/>
          </a:p>
          <a:p>
            <a:pPr algn="l" indent="0" marL="0">
              <a:buNone/>
            </a:pPr>
            <a:endParaRPr lang="en-US" sz="1600" dirty="0"/>
          </a:p>
          <a:p>
            <a:pPr algn="l" indent="0" marL="0">
              <a:buNone/>
            </a:pPr>
            <a:r>
              <a:rPr lang="en-US" sz="1600" dirty="0">
                <a:solidFill>
                  <a:srgbClr val="F4F7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 not isinstance(settings, dict):</a:t>
            </a:r>
            <a:endParaRPr lang="en-US" sz="1600" dirty="0"/>
          </a:p>
          <a:p>
            <a:pPr algn="l" indent="0" marL="0">
              <a:buNone/>
            </a:pPr>
            <a:r>
              <a:rPr lang="en-US" sz="1600" dirty="0">
                <a:solidFill>
                  <a:srgbClr val="F4F7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raise ValueError("settings must be an object")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7936992" y="1883664"/>
            <a:ext cx="0" cy="3639312"/>
          </a:xfrm>
          <a:prstGeom prst="line">
            <a:avLst/>
          </a:prstGeom>
          <a:noFill/>
          <a:ln w="12700">
            <a:solidFill>
              <a:srgbClr val="1877B9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229600" y="2084832"/>
            <a:ext cx="2816352" cy="2514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720" dirty="0">
                <a:solidFill>
                  <a:srgbClr val="5E6B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Ak čakáte dáta, použite dátový formát. Spúšťanie Python výrazu je iná kategória rizika.</a:t>
            </a:r>
            <a:endParaRPr lang="en-US" sz="172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877B9"/>
          </a:solidFill>
          <a:ln w="12700">
            <a:solidFill>
              <a:srgbClr val="1877B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310896"/>
            <a:ext cx="4663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80" b="1" spc="50" kern="0" dirty="0">
                <a:solidFill>
                  <a:srgbClr val="1877B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PROGRAMOVANIE V PYTHONE</a:t>
            </a:r>
            <a:endParaRPr lang="en-US" sz="880" dirty="0"/>
          </a:p>
        </p:txBody>
      </p:sp>
      <p:sp>
        <p:nvSpPr>
          <p:cNvPr id="4" name="Text 2"/>
          <p:cNvSpPr/>
          <p:nvPr/>
        </p:nvSpPr>
        <p:spPr>
          <a:xfrm>
            <a:off x="9829800" y="310896"/>
            <a:ext cx="1783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80" b="1" dirty="0">
                <a:solidFill>
                  <a:srgbClr val="5E6B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PREDNÁŠKA 09</a:t>
            </a:r>
            <a:endParaRPr lang="en-US" sz="880" dirty="0"/>
          </a:p>
        </p:txBody>
      </p:sp>
      <p:sp>
        <p:nvSpPr>
          <p:cNvPr id="5" name="Shape 3"/>
          <p:cNvSpPr/>
          <p:nvPr/>
        </p:nvSpPr>
        <p:spPr>
          <a:xfrm>
            <a:off x="566928" y="658368"/>
            <a:ext cx="11045952" cy="0"/>
          </a:xfrm>
          <a:prstGeom prst="line">
            <a:avLst/>
          </a:prstGeom>
          <a:noFill/>
          <a:ln w="12700">
            <a:solidFill>
              <a:srgbClr val="D8E0E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66928" y="6419088"/>
            <a:ext cx="11045952" cy="0"/>
          </a:xfrm>
          <a:prstGeom prst="line">
            <a:avLst/>
          </a:prstGeom>
          <a:noFill/>
          <a:ln w="12700">
            <a:solidFill>
              <a:srgbClr val="D8E0E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771632" y="6501384"/>
            <a:ext cx="80467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780" dirty="0">
                <a:solidFill>
                  <a:srgbClr val="5E6B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13 / 27</a:t>
            </a:r>
            <a:endParaRPr lang="en-US" sz="780" dirty="0"/>
          </a:p>
        </p:txBody>
      </p:sp>
      <p:sp>
        <p:nvSpPr>
          <p:cNvPr id="8" name="Text 6"/>
          <p:cNvSpPr/>
          <p:nvPr/>
        </p:nvSpPr>
        <p:spPr>
          <a:xfrm>
            <a:off x="658368" y="914400"/>
            <a:ext cx="108813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850" b="1" dirty="0">
                <a:solidFill>
                  <a:srgbClr val="16324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JSON vs pickle</a:t>
            </a:r>
            <a:endParaRPr lang="en-US" sz="2850" dirty="0"/>
          </a:p>
        </p:txBody>
      </p:sp>
      <p:sp>
        <p:nvSpPr>
          <p:cNvPr id="9" name="Shape 7"/>
          <p:cNvSpPr/>
          <p:nvPr/>
        </p:nvSpPr>
        <p:spPr>
          <a:xfrm>
            <a:off x="713232" y="1883664"/>
            <a:ext cx="5010912" cy="0"/>
          </a:xfrm>
          <a:prstGeom prst="line">
            <a:avLst/>
          </a:prstGeom>
          <a:noFill/>
          <a:ln w="12700">
            <a:solidFill>
              <a:srgbClr val="167C8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13232" y="2139696"/>
            <a:ext cx="50109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950" b="1" dirty="0">
                <a:solidFill>
                  <a:srgbClr val="1632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JSON</a:t>
            </a:r>
            <a:endParaRPr lang="en-US" sz="1950" dirty="0"/>
          </a:p>
        </p:txBody>
      </p:sp>
      <p:sp>
        <p:nvSpPr>
          <p:cNvPr id="11" name="Text 9"/>
          <p:cNvSpPr/>
          <p:nvPr/>
        </p:nvSpPr>
        <p:spPr>
          <a:xfrm>
            <a:off x="749808" y="2688336"/>
            <a:ext cx="4919472" cy="38862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228600" indent="-228600">
              <a:buSzPct val="100000"/>
              <a:buChar char="•"/>
            </a:pPr>
            <a:r>
              <a:rPr lang="en-US" sz="1620" dirty="0">
                <a:solidFill>
                  <a:srgbClr val="18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dátový formát</a:t>
            </a:r>
            <a:endParaRPr lang="en-US" sz="1620" dirty="0"/>
          </a:p>
          <a:p>
            <a:pPr marL="228600" indent="-228600">
              <a:buSzPct val="100000"/>
              <a:buChar char="•"/>
            </a:pPr>
            <a:r>
              <a:rPr lang="en-US" sz="1620" dirty="0">
                <a:solidFill>
                  <a:srgbClr val="18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text, čísla, listy, objekty</a:t>
            </a:r>
            <a:endParaRPr lang="en-US" sz="1620" dirty="0"/>
          </a:p>
          <a:p>
            <a:pPr marL="228600" indent="-228600">
              <a:buSzPct val="100000"/>
              <a:buChar char="•"/>
            </a:pPr>
            <a:r>
              <a:rPr lang="en-US" sz="1620" dirty="0">
                <a:solidFill>
                  <a:srgbClr val="18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neobnovuje ľubovoľné Python objekty</a:t>
            </a:r>
            <a:endParaRPr lang="en-US" sz="1620" dirty="0"/>
          </a:p>
          <a:p>
            <a:pPr marL="228600" indent="-228600">
              <a:buSzPct val="100000"/>
              <a:buChar char="•"/>
            </a:pPr>
            <a:r>
              <a:rPr lang="en-US" sz="1620" dirty="0">
                <a:solidFill>
                  <a:srgbClr val="18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stále treba validovať obsah</a:t>
            </a:r>
            <a:endParaRPr lang="en-US" sz="1620" dirty="0"/>
          </a:p>
        </p:txBody>
      </p:sp>
      <p:sp>
        <p:nvSpPr>
          <p:cNvPr id="12" name="Shape 10"/>
          <p:cNvSpPr/>
          <p:nvPr/>
        </p:nvSpPr>
        <p:spPr>
          <a:xfrm>
            <a:off x="6373368" y="1883664"/>
            <a:ext cx="5010912" cy="0"/>
          </a:xfrm>
          <a:prstGeom prst="line">
            <a:avLst/>
          </a:prstGeom>
          <a:noFill/>
          <a:ln w="12700">
            <a:solidFill>
              <a:srgbClr val="E0A03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373368" y="2139696"/>
            <a:ext cx="50109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950" b="1" dirty="0">
                <a:solidFill>
                  <a:srgbClr val="1632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pickle</a:t>
            </a:r>
            <a:endParaRPr lang="en-US" sz="1950" dirty="0"/>
          </a:p>
        </p:txBody>
      </p:sp>
      <p:sp>
        <p:nvSpPr>
          <p:cNvPr id="14" name="Text 12"/>
          <p:cNvSpPr/>
          <p:nvPr/>
        </p:nvSpPr>
        <p:spPr>
          <a:xfrm>
            <a:off x="6409944" y="2688336"/>
            <a:ext cx="4919472" cy="38862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228600" indent="-228600">
              <a:buSzPct val="100000"/>
              <a:buChar char="•"/>
            </a:pPr>
            <a:r>
              <a:rPr lang="en-US" sz="1620" dirty="0">
                <a:solidFill>
                  <a:srgbClr val="18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Python serializácia objektov</a:t>
            </a:r>
            <a:endParaRPr lang="en-US" sz="1620" dirty="0"/>
          </a:p>
          <a:p>
            <a:pPr marL="228600" indent="-228600">
              <a:buSzPct val="100000"/>
              <a:buChar char="•"/>
            </a:pPr>
            <a:r>
              <a:rPr lang="en-US" sz="1620" dirty="0">
                <a:solidFill>
                  <a:srgbClr val="18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vhodné len pre dôveryhodné dáta</a:t>
            </a:r>
            <a:endParaRPr lang="en-US" sz="1620" dirty="0"/>
          </a:p>
          <a:p>
            <a:pPr marL="228600" indent="-228600">
              <a:buSzPct val="100000"/>
              <a:buChar char="•"/>
            </a:pPr>
            <a:r>
              <a:rPr lang="en-US" sz="1620" dirty="0">
                <a:solidFill>
                  <a:srgbClr val="18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deserializácia môže spustiť nebezpečné správanie</a:t>
            </a:r>
            <a:endParaRPr lang="en-US" sz="1620" dirty="0"/>
          </a:p>
          <a:p>
            <a:pPr marL="228600" indent="-228600">
              <a:buSzPct val="100000"/>
              <a:buChar char="•"/>
            </a:pPr>
            <a:r>
              <a:rPr lang="en-US" sz="1620" dirty="0">
                <a:solidFill>
                  <a:srgbClr val="18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nie je výmenný formát pre používateľa</a:t>
            </a:r>
            <a:endParaRPr lang="en-US" sz="162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877B9"/>
          </a:solidFill>
          <a:ln w="12700">
            <a:solidFill>
              <a:srgbClr val="1877B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310896"/>
            <a:ext cx="4663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80" b="1" spc="50" kern="0" dirty="0">
                <a:solidFill>
                  <a:srgbClr val="1877B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PROGRAMOVANIE V PYTHONE</a:t>
            </a:r>
            <a:endParaRPr lang="en-US" sz="880" dirty="0"/>
          </a:p>
        </p:txBody>
      </p:sp>
      <p:sp>
        <p:nvSpPr>
          <p:cNvPr id="4" name="Text 2"/>
          <p:cNvSpPr/>
          <p:nvPr/>
        </p:nvSpPr>
        <p:spPr>
          <a:xfrm>
            <a:off x="9829800" y="310896"/>
            <a:ext cx="1783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80" b="1" dirty="0">
                <a:solidFill>
                  <a:srgbClr val="5E6B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PREDNÁŠKA 09</a:t>
            </a:r>
            <a:endParaRPr lang="en-US" sz="880" dirty="0"/>
          </a:p>
        </p:txBody>
      </p:sp>
      <p:sp>
        <p:nvSpPr>
          <p:cNvPr id="5" name="Shape 3"/>
          <p:cNvSpPr/>
          <p:nvPr/>
        </p:nvSpPr>
        <p:spPr>
          <a:xfrm>
            <a:off x="566928" y="658368"/>
            <a:ext cx="11045952" cy="0"/>
          </a:xfrm>
          <a:prstGeom prst="line">
            <a:avLst/>
          </a:prstGeom>
          <a:noFill/>
          <a:ln w="12700">
            <a:solidFill>
              <a:srgbClr val="D8E0E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66928" y="6419088"/>
            <a:ext cx="11045952" cy="0"/>
          </a:xfrm>
          <a:prstGeom prst="line">
            <a:avLst/>
          </a:prstGeom>
          <a:noFill/>
          <a:ln w="12700">
            <a:solidFill>
              <a:srgbClr val="D8E0E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771632" y="6501384"/>
            <a:ext cx="80467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780" dirty="0">
                <a:solidFill>
                  <a:srgbClr val="5E6B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14 / 27</a:t>
            </a:r>
            <a:endParaRPr lang="en-US" sz="780" dirty="0"/>
          </a:p>
        </p:txBody>
      </p:sp>
      <p:sp>
        <p:nvSpPr>
          <p:cNvPr id="8" name="Text 6"/>
          <p:cNvSpPr/>
          <p:nvPr/>
        </p:nvSpPr>
        <p:spPr>
          <a:xfrm>
            <a:off x="749808" y="1481328"/>
            <a:ext cx="102870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3300" b="1" dirty="0">
                <a:solidFill>
                  <a:srgbClr val="16324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Problém pickle je nedôveryhodná deserializácia.</a:t>
            </a:r>
            <a:endParaRPr lang="en-US" sz="3300" dirty="0"/>
          </a:p>
        </p:txBody>
      </p:sp>
      <p:sp>
        <p:nvSpPr>
          <p:cNvPr id="9" name="Shape 7"/>
          <p:cNvSpPr/>
          <p:nvPr/>
        </p:nvSpPr>
        <p:spPr>
          <a:xfrm>
            <a:off x="768096" y="3438144"/>
            <a:ext cx="1280160" cy="91440"/>
          </a:xfrm>
          <a:prstGeom prst="rect">
            <a:avLst/>
          </a:prstGeom>
          <a:solidFill>
            <a:srgbClr val="E0A03A"/>
          </a:solidFill>
          <a:ln w="12700">
            <a:solidFill>
              <a:srgbClr val="E0A03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68096" y="3858768"/>
            <a:ext cx="900684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100" dirty="0">
                <a:solidFill>
                  <a:srgbClr val="5E6B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Nie je to otázka toho, či má súbor príponu .pickle. Otázka je, kto dáta vytvoril a či ich smieme pustiť do mechanizmu, ktorý obnovuje Python objekty.</a:t>
            </a:r>
            <a:endParaRPr lang="en-US" sz="21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877B9"/>
          </a:solidFill>
          <a:ln w="12700">
            <a:solidFill>
              <a:srgbClr val="1877B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310896"/>
            <a:ext cx="4663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80" b="1" spc="50" kern="0" dirty="0">
                <a:solidFill>
                  <a:srgbClr val="1877B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PROGRAMOVANIE V PYTHONE</a:t>
            </a:r>
            <a:endParaRPr lang="en-US" sz="880" dirty="0"/>
          </a:p>
        </p:txBody>
      </p:sp>
      <p:sp>
        <p:nvSpPr>
          <p:cNvPr id="4" name="Text 2"/>
          <p:cNvSpPr/>
          <p:nvPr/>
        </p:nvSpPr>
        <p:spPr>
          <a:xfrm>
            <a:off x="9829800" y="310896"/>
            <a:ext cx="1783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80" b="1" dirty="0">
                <a:solidFill>
                  <a:srgbClr val="5E6B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PREDNÁŠKA 09</a:t>
            </a:r>
            <a:endParaRPr lang="en-US" sz="880" dirty="0"/>
          </a:p>
        </p:txBody>
      </p:sp>
      <p:sp>
        <p:nvSpPr>
          <p:cNvPr id="5" name="Shape 3"/>
          <p:cNvSpPr/>
          <p:nvPr/>
        </p:nvSpPr>
        <p:spPr>
          <a:xfrm>
            <a:off x="566928" y="658368"/>
            <a:ext cx="11045952" cy="0"/>
          </a:xfrm>
          <a:prstGeom prst="line">
            <a:avLst/>
          </a:prstGeom>
          <a:noFill/>
          <a:ln w="12700">
            <a:solidFill>
              <a:srgbClr val="D8E0E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66928" y="6419088"/>
            <a:ext cx="11045952" cy="0"/>
          </a:xfrm>
          <a:prstGeom prst="line">
            <a:avLst/>
          </a:prstGeom>
          <a:noFill/>
          <a:ln w="12700">
            <a:solidFill>
              <a:srgbClr val="D8E0E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771632" y="6501384"/>
            <a:ext cx="80467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780" dirty="0">
                <a:solidFill>
                  <a:srgbClr val="5E6B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15 / 27</a:t>
            </a:r>
            <a:endParaRPr lang="en-US" sz="780" dirty="0"/>
          </a:p>
        </p:txBody>
      </p:sp>
      <p:sp>
        <p:nvSpPr>
          <p:cNvPr id="8" name="Text 6"/>
          <p:cNvSpPr/>
          <p:nvPr/>
        </p:nvSpPr>
        <p:spPr>
          <a:xfrm>
            <a:off x="676656" y="1298448"/>
            <a:ext cx="155448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1877B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04</a:t>
            </a:r>
            <a:endParaRPr lang="en-US" sz="1900" dirty="0"/>
          </a:p>
        </p:txBody>
      </p:sp>
      <p:sp>
        <p:nvSpPr>
          <p:cNvPr id="9" name="Shape 7"/>
          <p:cNvSpPr/>
          <p:nvPr/>
        </p:nvSpPr>
        <p:spPr>
          <a:xfrm>
            <a:off x="749808" y="1901952"/>
            <a:ext cx="2148840" cy="0"/>
          </a:xfrm>
          <a:prstGeom prst="line">
            <a:avLst/>
          </a:prstGeom>
          <a:noFill/>
          <a:ln w="12700">
            <a:solidFill>
              <a:srgbClr val="1877B9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13232" y="2139696"/>
            <a:ext cx="9875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16324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Files and secrets</a:t>
            </a:r>
            <a:endParaRPr lang="en-US" sz="3600" dirty="0"/>
          </a:p>
        </p:txBody>
      </p:sp>
      <p:sp>
        <p:nvSpPr>
          <p:cNvPr id="11" name="Text 9"/>
          <p:cNvSpPr/>
          <p:nvPr/>
        </p:nvSpPr>
        <p:spPr>
          <a:xfrm>
            <a:off x="749808" y="3200400"/>
            <a:ext cx="8138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920" dirty="0">
                <a:solidFill>
                  <a:srgbClr val="5E6B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Cesta k súboru a tajomstvo v konfigurácii sú citlivé hranice.</a:t>
            </a:r>
            <a:endParaRPr lang="en-US" sz="192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877B9"/>
          </a:solidFill>
          <a:ln w="12700">
            <a:solidFill>
              <a:srgbClr val="1877B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310896"/>
            <a:ext cx="4663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80" b="1" spc="50" kern="0" dirty="0">
                <a:solidFill>
                  <a:srgbClr val="1877B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PROGRAMOVANIE V PYTHONE</a:t>
            </a:r>
            <a:endParaRPr lang="en-US" sz="880" dirty="0"/>
          </a:p>
        </p:txBody>
      </p:sp>
      <p:sp>
        <p:nvSpPr>
          <p:cNvPr id="4" name="Text 2"/>
          <p:cNvSpPr/>
          <p:nvPr/>
        </p:nvSpPr>
        <p:spPr>
          <a:xfrm>
            <a:off x="9829800" y="310896"/>
            <a:ext cx="1783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80" b="1" dirty="0">
                <a:solidFill>
                  <a:srgbClr val="5E6B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PREDNÁŠKA 09</a:t>
            </a:r>
            <a:endParaRPr lang="en-US" sz="880" dirty="0"/>
          </a:p>
        </p:txBody>
      </p:sp>
      <p:sp>
        <p:nvSpPr>
          <p:cNvPr id="5" name="Shape 3"/>
          <p:cNvSpPr/>
          <p:nvPr/>
        </p:nvSpPr>
        <p:spPr>
          <a:xfrm>
            <a:off x="566928" y="658368"/>
            <a:ext cx="11045952" cy="0"/>
          </a:xfrm>
          <a:prstGeom prst="line">
            <a:avLst/>
          </a:prstGeom>
          <a:noFill/>
          <a:ln w="12700">
            <a:solidFill>
              <a:srgbClr val="D8E0E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66928" y="6419088"/>
            <a:ext cx="11045952" cy="0"/>
          </a:xfrm>
          <a:prstGeom prst="line">
            <a:avLst/>
          </a:prstGeom>
          <a:noFill/>
          <a:ln w="12700">
            <a:solidFill>
              <a:srgbClr val="D8E0E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771632" y="6501384"/>
            <a:ext cx="80467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780" dirty="0">
                <a:solidFill>
                  <a:srgbClr val="5E6B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16 / 27</a:t>
            </a:r>
            <a:endParaRPr lang="en-US" sz="780" dirty="0"/>
          </a:p>
        </p:txBody>
      </p:sp>
      <p:sp>
        <p:nvSpPr>
          <p:cNvPr id="8" name="Text 6"/>
          <p:cNvSpPr/>
          <p:nvPr/>
        </p:nvSpPr>
        <p:spPr>
          <a:xfrm>
            <a:off x="658368" y="914400"/>
            <a:ext cx="108813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850" b="1" dirty="0">
                <a:solidFill>
                  <a:srgbClr val="16324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Path traversal</a:t>
            </a:r>
            <a:endParaRPr lang="en-US" sz="2850" dirty="0"/>
          </a:p>
        </p:txBody>
      </p:sp>
      <p:sp>
        <p:nvSpPr>
          <p:cNvPr id="9" name="Text 7"/>
          <p:cNvSpPr/>
          <p:nvPr/>
        </p:nvSpPr>
        <p:spPr>
          <a:xfrm>
            <a:off x="749808" y="1920240"/>
            <a:ext cx="4160520" cy="38862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228600" indent="-228600">
              <a:buSzPct val="100000"/>
              <a:buChar char="•"/>
            </a:pPr>
            <a:r>
              <a:rPr lang="en-US" sz="1650" dirty="0">
                <a:solidFill>
                  <a:srgbClr val="18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problém: používateľ určuje celú cestu</a:t>
            </a:r>
            <a:endParaRPr lang="en-US" sz="1650" dirty="0"/>
          </a:p>
          <a:p>
            <a:pPr marL="228600" indent="-228600">
              <a:buSzPct val="100000"/>
              <a:buChar char="•"/>
            </a:pPr>
            <a:r>
              <a:rPr lang="en-US" sz="1650" dirty="0">
                <a:solidFill>
                  <a:srgbClr val="18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riziko: únik mimo povolený adresár</a:t>
            </a:r>
            <a:endParaRPr lang="en-US" sz="1650" dirty="0"/>
          </a:p>
          <a:p>
            <a:pPr marL="228600" indent="-228600">
              <a:buSzPct val="100000"/>
              <a:buChar char="•"/>
            </a:pPr>
            <a:r>
              <a:rPr lang="en-US" sz="1650" dirty="0">
                <a:solidFill>
                  <a:srgbClr val="18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pattern: resolve + kontrola prefixu</a:t>
            </a:r>
            <a:endParaRPr lang="en-US" sz="1650" dirty="0"/>
          </a:p>
        </p:txBody>
      </p:sp>
      <p:sp>
        <p:nvSpPr>
          <p:cNvPr id="10" name="Shape 8"/>
          <p:cNvSpPr/>
          <p:nvPr/>
        </p:nvSpPr>
        <p:spPr>
          <a:xfrm>
            <a:off x="5413248" y="1792224"/>
            <a:ext cx="5925312" cy="4160520"/>
          </a:xfrm>
          <a:prstGeom prst="rect">
            <a:avLst/>
          </a:prstGeom>
          <a:solidFill>
            <a:srgbClr val="17212B"/>
          </a:solidFill>
          <a:ln w="12700">
            <a:solidFill>
              <a:srgbClr val="243242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413248" y="1792224"/>
            <a:ext cx="5925312" cy="329184"/>
          </a:xfrm>
          <a:prstGeom prst="rect">
            <a:avLst/>
          </a:prstGeom>
          <a:solidFill>
            <a:srgbClr val="223044"/>
          </a:solidFill>
          <a:ln w="12700">
            <a:solidFill>
              <a:srgbClr val="223044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641848" y="1901952"/>
            <a:ext cx="53949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10" b="1" spc="35" kern="0" dirty="0">
                <a:solidFill>
                  <a:srgbClr val="8FD3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python</a:t>
            </a:r>
            <a:endParaRPr lang="en-US" sz="810" dirty="0"/>
          </a:p>
        </p:txBody>
      </p:sp>
      <p:sp>
        <p:nvSpPr>
          <p:cNvPr id="13" name="Text 11"/>
          <p:cNvSpPr/>
          <p:nvPr/>
        </p:nvSpPr>
        <p:spPr>
          <a:xfrm>
            <a:off x="5641848" y="2331720"/>
            <a:ext cx="5340096" cy="31821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520" dirty="0">
                <a:solidFill>
                  <a:srgbClr val="F4F7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base = Path("uploads").resolve()</a:t>
            </a:r>
            <a:endParaRPr lang="en-US" sz="1520" dirty="0"/>
          </a:p>
          <a:p>
            <a:pPr algn="l" indent="0" marL="0">
              <a:buNone/>
            </a:pPr>
            <a:r>
              <a:rPr lang="en-US" sz="1520" dirty="0">
                <a:solidFill>
                  <a:srgbClr val="F4F7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target = (base / filename).resolve()</a:t>
            </a:r>
            <a:endParaRPr lang="en-US" sz="1520" dirty="0"/>
          </a:p>
          <a:p>
            <a:pPr algn="l" indent="0" marL="0">
              <a:buNone/>
            </a:pPr>
            <a:endParaRPr lang="en-US" sz="1520" dirty="0"/>
          </a:p>
          <a:p>
            <a:pPr algn="l" indent="0" marL="0">
              <a:buNone/>
            </a:pPr>
            <a:r>
              <a:rPr lang="en-US" sz="1520" dirty="0">
                <a:solidFill>
                  <a:srgbClr val="F4F7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 not target.is_relative_to(base):</a:t>
            </a:r>
            <a:endParaRPr lang="en-US" sz="1520" dirty="0"/>
          </a:p>
          <a:p>
            <a:pPr algn="l" indent="0" marL="0">
              <a:buNone/>
            </a:pPr>
            <a:r>
              <a:rPr lang="en-US" sz="1520" dirty="0">
                <a:solidFill>
                  <a:srgbClr val="F4F7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raise ValueError("invalid path")</a:t>
            </a:r>
            <a:endParaRPr lang="en-US" sz="1520" dirty="0"/>
          </a:p>
          <a:p>
            <a:pPr algn="l" indent="0" marL="0">
              <a:buNone/>
            </a:pPr>
            <a:endParaRPr lang="en-US" sz="1520" dirty="0"/>
          </a:p>
          <a:p>
            <a:pPr algn="l" indent="0" marL="0">
              <a:buNone/>
            </a:pPr>
            <a:r>
              <a:rPr lang="en-US" sz="1520" dirty="0">
                <a:solidFill>
                  <a:srgbClr val="F4F7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content = target.read_text(encoding="utf-8")</a:t>
            </a:r>
            <a:endParaRPr lang="en-US" sz="152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877B9"/>
          </a:solidFill>
          <a:ln w="12700">
            <a:solidFill>
              <a:srgbClr val="1877B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310896"/>
            <a:ext cx="4663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80" b="1" spc="50" kern="0" dirty="0">
                <a:solidFill>
                  <a:srgbClr val="1877B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PROGRAMOVANIE V PYTHONE</a:t>
            </a:r>
            <a:endParaRPr lang="en-US" sz="880" dirty="0"/>
          </a:p>
        </p:txBody>
      </p:sp>
      <p:sp>
        <p:nvSpPr>
          <p:cNvPr id="4" name="Text 2"/>
          <p:cNvSpPr/>
          <p:nvPr/>
        </p:nvSpPr>
        <p:spPr>
          <a:xfrm>
            <a:off x="9829800" y="310896"/>
            <a:ext cx="1783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80" b="1" dirty="0">
                <a:solidFill>
                  <a:srgbClr val="5E6B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PREDNÁŠKA 09</a:t>
            </a:r>
            <a:endParaRPr lang="en-US" sz="880" dirty="0"/>
          </a:p>
        </p:txBody>
      </p:sp>
      <p:sp>
        <p:nvSpPr>
          <p:cNvPr id="5" name="Shape 3"/>
          <p:cNvSpPr/>
          <p:nvPr/>
        </p:nvSpPr>
        <p:spPr>
          <a:xfrm>
            <a:off x="566928" y="658368"/>
            <a:ext cx="11045952" cy="0"/>
          </a:xfrm>
          <a:prstGeom prst="line">
            <a:avLst/>
          </a:prstGeom>
          <a:noFill/>
          <a:ln w="12700">
            <a:solidFill>
              <a:srgbClr val="D8E0E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66928" y="6419088"/>
            <a:ext cx="11045952" cy="0"/>
          </a:xfrm>
          <a:prstGeom prst="line">
            <a:avLst/>
          </a:prstGeom>
          <a:noFill/>
          <a:ln w="12700">
            <a:solidFill>
              <a:srgbClr val="D8E0E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771632" y="6501384"/>
            <a:ext cx="80467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780" dirty="0">
                <a:solidFill>
                  <a:srgbClr val="5E6B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17 / 27</a:t>
            </a:r>
            <a:endParaRPr lang="en-US" sz="780" dirty="0"/>
          </a:p>
        </p:txBody>
      </p:sp>
      <p:sp>
        <p:nvSpPr>
          <p:cNvPr id="8" name="Text 6"/>
          <p:cNvSpPr/>
          <p:nvPr/>
        </p:nvSpPr>
        <p:spPr>
          <a:xfrm>
            <a:off x="658368" y="914400"/>
            <a:ext cx="108813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850" b="1" dirty="0">
                <a:solidFill>
                  <a:srgbClr val="16324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Pri súboroch nestačí názov</a:t>
            </a:r>
            <a:endParaRPr lang="en-US" sz="2850" dirty="0"/>
          </a:p>
        </p:txBody>
      </p:sp>
      <p:sp>
        <p:nvSpPr>
          <p:cNvPr id="9" name="Text 7"/>
          <p:cNvSpPr/>
          <p:nvPr/>
        </p:nvSpPr>
        <p:spPr>
          <a:xfrm>
            <a:off x="868680" y="1938528"/>
            <a:ext cx="9921240" cy="38862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228600" indent="-228600">
              <a:buSzPct val="100000"/>
              <a:buChar char="•"/>
            </a:pPr>
            <a:r>
              <a:rPr lang="en-US" sz="1800" dirty="0">
                <a:solidFill>
                  <a:srgbClr val="18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extension nie je dôkaz obsahu</a:t>
            </a:r>
            <a:endParaRPr lang="en-US" sz="1800" dirty="0"/>
          </a:p>
          <a:p>
            <a:pPr marL="228600" indent="-228600">
              <a:buSzPct val="100000"/>
              <a:buChar char="•"/>
            </a:pPr>
            <a:r>
              <a:rPr lang="en-US" sz="1800" dirty="0">
                <a:solidFill>
                  <a:srgbClr val="18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veľkosť súboru je bezpečnostný aj prevádzkový limit</a:t>
            </a:r>
            <a:endParaRPr lang="en-US" sz="1800" dirty="0"/>
          </a:p>
          <a:p>
            <a:pPr marL="228600" indent="-228600">
              <a:buSzPct val="100000"/>
              <a:buChar char="•"/>
            </a:pPr>
            <a:r>
              <a:rPr lang="en-US" sz="1800" dirty="0">
                <a:solidFill>
                  <a:srgbClr val="18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relatívna cesta sa musí vyriešiť voči povolenému adresáru</a:t>
            </a:r>
            <a:endParaRPr lang="en-US" sz="1800" dirty="0"/>
          </a:p>
          <a:p>
            <a:pPr marL="228600" indent="-228600">
              <a:buSzPct val="100000"/>
              <a:buChar char="•"/>
            </a:pPr>
            <a:r>
              <a:rPr lang="en-US" sz="1800" dirty="0">
                <a:solidFill>
                  <a:srgbClr val="18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chyba nemá prezradiť interné cesty</a:t>
            </a:r>
            <a:endParaRPr lang="en-US" sz="18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877B9"/>
          </a:solidFill>
          <a:ln w="12700">
            <a:solidFill>
              <a:srgbClr val="1877B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310896"/>
            <a:ext cx="4663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80" b="1" spc="50" kern="0" dirty="0">
                <a:solidFill>
                  <a:srgbClr val="1877B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PROGRAMOVANIE V PYTHONE</a:t>
            </a:r>
            <a:endParaRPr lang="en-US" sz="880" dirty="0"/>
          </a:p>
        </p:txBody>
      </p:sp>
      <p:sp>
        <p:nvSpPr>
          <p:cNvPr id="4" name="Text 2"/>
          <p:cNvSpPr/>
          <p:nvPr/>
        </p:nvSpPr>
        <p:spPr>
          <a:xfrm>
            <a:off x="9829800" y="310896"/>
            <a:ext cx="1783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80" b="1" dirty="0">
                <a:solidFill>
                  <a:srgbClr val="5E6B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PREDNÁŠKA 09</a:t>
            </a:r>
            <a:endParaRPr lang="en-US" sz="880" dirty="0"/>
          </a:p>
        </p:txBody>
      </p:sp>
      <p:sp>
        <p:nvSpPr>
          <p:cNvPr id="5" name="Shape 3"/>
          <p:cNvSpPr/>
          <p:nvPr/>
        </p:nvSpPr>
        <p:spPr>
          <a:xfrm>
            <a:off x="566928" y="658368"/>
            <a:ext cx="11045952" cy="0"/>
          </a:xfrm>
          <a:prstGeom prst="line">
            <a:avLst/>
          </a:prstGeom>
          <a:noFill/>
          <a:ln w="12700">
            <a:solidFill>
              <a:srgbClr val="D8E0E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66928" y="6419088"/>
            <a:ext cx="11045952" cy="0"/>
          </a:xfrm>
          <a:prstGeom prst="line">
            <a:avLst/>
          </a:prstGeom>
          <a:noFill/>
          <a:ln w="12700">
            <a:solidFill>
              <a:srgbClr val="D8E0E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771632" y="6501384"/>
            <a:ext cx="80467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780" dirty="0">
                <a:solidFill>
                  <a:srgbClr val="5E6B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18 / 27</a:t>
            </a:r>
            <a:endParaRPr lang="en-US" sz="780" dirty="0"/>
          </a:p>
        </p:txBody>
      </p:sp>
      <p:sp>
        <p:nvSpPr>
          <p:cNvPr id="8" name="Text 6"/>
          <p:cNvSpPr/>
          <p:nvPr/>
        </p:nvSpPr>
        <p:spPr>
          <a:xfrm>
            <a:off x="658368" y="914400"/>
            <a:ext cx="108813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850" b="1" dirty="0">
                <a:solidFill>
                  <a:srgbClr val="16324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Secret nepatrí do commitu</a:t>
            </a:r>
            <a:endParaRPr lang="en-US" sz="2850" dirty="0"/>
          </a:p>
        </p:txBody>
      </p:sp>
      <p:sp>
        <p:nvSpPr>
          <p:cNvPr id="9" name="Text 7"/>
          <p:cNvSpPr/>
          <p:nvPr/>
        </p:nvSpPr>
        <p:spPr>
          <a:xfrm>
            <a:off x="749808" y="1920240"/>
            <a:ext cx="4160520" cy="38862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228600" indent="-228600">
              <a:buSzPct val="100000"/>
              <a:buChar char="•"/>
            </a:pPr>
            <a:r>
              <a:rPr lang="en-US" sz="1650" dirty="0">
                <a:solidFill>
                  <a:srgbClr val="18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hardcoded token sa ľahko dostane do histórie Gitu</a:t>
            </a:r>
            <a:endParaRPr lang="en-US" sz="1650" dirty="0"/>
          </a:p>
          <a:p>
            <a:pPr marL="228600" indent="-228600">
              <a:buSzPct val="100000"/>
              <a:buChar char="•"/>
            </a:pPr>
            <a:r>
              <a:rPr lang="en-US" sz="1650" dirty="0">
                <a:solidFill>
                  <a:srgbClr val="18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environment alebo secret manager dodá hodnotu pri behu</a:t>
            </a:r>
            <a:endParaRPr lang="en-US" sz="1650" dirty="0"/>
          </a:p>
          <a:p>
            <a:pPr marL="228600" indent="-228600">
              <a:buSzPct val="100000"/>
              <a:buChar char="•"/>
            </a:pPr>
            <a:r>
              <a:rPr lang="en-US" sz="1650" dirty="0">
                <a:solidFill>
                  <a:srgbClr val="18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.env je lokálna pomôcka, nie verejný zdroj</a:t>
            </a:r>
            <a:endParaRPr lang="en-US" sz="1650" dirty="0"/>
          </a:p>
        </p:txBody>
      </p:sp>
      <p:sp>
        <p:nvSpPr>
          <p:cNvPr id="10" name="Shape 8"/>
          <p:cNvSpPr/>
          <p:nvPr/>
        </p:nvSpPr>
        <p:spPr>
          <a:xfrm>
            <a:off x="5413248" y="1792224"/>
            <a:ext cx="5925312" cy="4160520"/>
          </a:xfrm>
          <a:prstGeom prst="rect">
            <a:avLst/>
          </a:prstGeom>
          <a:solidFill>
            <a:srgbClr val="17212B"/>
          </a:solidFill>
          <a:ln w="12700">
            <a:solidFill>
              <a:srgbClr val="243242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413248" y="1792224"/>
            <a:ext cx="5925312" cy="329184"/>
          </a:xfrm>
          <a:prstGeom prst="rect">
            <a:avLst/>
          </a:prstGeom>
          <a:solidFill>
            <a:srgbClr val="223044"/>
          </a:solidFill>
          <a:ln w="12700">
            <a:solidFill>
              <a:srgbClr val="223044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641848" y="1901952"/>
            <a:ext cx="53949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10" b="1" spc="35" kern="0" dirty="0">
                <a:solidFill>
                  <a:srgbClr val="8FD3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python</a:t>
            </a:r>
            <a:endParaRPr lang="en-US" sz="810" dirty="0"/>
          </a:p>
        </p:txBody>
      </p:sp>
      <p:sp>
        <p:nvSpPr>
          <p:cNvPr id="13" name="Text 11"/>
          <p:cNvSpPr/>
          <p:nvPr/>
        </p:nvSpPr>
        <p:spPr>
          <a:xfrm>
            <a:off x="5641848" y="2331720"/>
            <a:ext cx="5340096" cy="31821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520" dirty="0">
                <a:solidFill>
                  <a:srgbClr val="F4F7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zle</a:t>
            </a:r>
            <a:endParaRPr lang="en-US" sz="1520" dirty="0"/>
          </a:p>
          <a:p>
            <a:pPr algn="l" indent="0" marL="0">
              <a:buNone/>
            </a:pPr>
            <a:r>
              <a:rPr lang="en-US" sz="1520" dirty="0">
                <a:solidFill>
                  <a:srgbClr val="F4F7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API_KEY = "sk_live_..."</a:t>
            </a:r>
            <a:endParaRPr lang="en-US" sz="1520" dirty="0"/>
          </a:p>
          <a:p>
            <a:pPr algn="l" indent="0" marL="0">
              <a:buNone/>
            </a:pPr>
            <a:endParaRPr lang="en-US" sz="1520" dirty="0"/>
          </a:p>
          <a:p>
            <a:pPr algn="l" indent="0" marL="0">
              <a:buNone/>
            </a:pPr>
            <a:r>
              <a:rPr lang="en-US" sz="1520" dirty="0">
                <a:solidFill>
                  <a:srgbClr val="F4F7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lepšie</a:t>
            </a:r>
            <a:endParaRPr lang="en-US" sz="1520" dirty="0"/>
          </a:p>
          <a:p>
            <a:pPr algn="l" indent="0" marL="0">
              <a:buNone/>
            </a:pPr>
            <a:r>
              <a:rPr lang="en-US" sz="1520" dirty="0">
                <a:solidFill>
                  <a:srgbClr val="F4F7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api_key = os.getenv("API_KEY")</a:t>
            </a:r>
            <a:endParaRPr lang="en-US" sz="1520" dirty="0"/>
          </a:p>
          <a:p>
            <a:pPr algn="l" indent="0" marL="0">
              <a:buNone/>
            </a:pPr>
            <a:r>
              <a:rPr lang="en-US" sz="1520" dirty="0">
                <a:solidFill>
                  <a:srgbClr val="F4F7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 api_key is None:</a:t>
            </a:r>
            <a:endParaRPr lang="en-US" sz="1520" dirty="0"/>
          </a:p>
          <a:p>
            <a:pPr algn="l" indent="0" marL="0">
              <a:buNone/>
            </a:pPr>
            <a:r>
              <a:rPr lang="en-US" sz="1520" dirty="0">
                <a:solidFill>
                  <a:srgbClr val="F4F7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raise RuntimeError("API_KEY is missing")</a:t>
            </a:r>
            <a:endParaRPr lang="en-US" sz="152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877B9"/>
          </a:solidFill>
          <a:ln w="12700">
            <a:solidFill>
              <a:srgbClr val="1877B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310896"/>
            <a:ext cx="4663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80" b="1" spc="50" kern="0" dirty="0">
                <a:solidFill>
                  <a:srgbClr val="1877B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PROGRAMOVANIE V PYTHONE</a:t>
            </a:r>
            <a:endParaRPr lang="en-US" sz="880" dirty="0"/>
          </a:p>
        </p:txBody>
      </p:sp>
      <p:sp>
        <p:nvSpPr>
          <p:cNvPr id="4" name="Text 2"/>
          <p:cNvSpPr/>
          <p:nvPr/>
        </p:nvSpPr>
        <p:spPr>
          <a:xfrm>
            <a:off x="9829800" y="310896"/>
            <a:ext cx="1783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80" b="1" dirty="0">
                <a:solidFill>
                  <a:srgbClr val="5E6B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PREDNÁŠKA 09</a:t>
            </a:r>
            <a:endParaRPr lang="en-US" sz="880" dirty="0"/>
          </a:p>
        </p:txBody>
      </p:sp>
      <p:sp>
        <p:nvSpPr>
          <p:cNvPr id="5" name="Shape 3"/>
          <p:cNvSpPr/>
          <p:nvPr/>
        </p:nvSpPr>
        <p:spPr>
          <a:xfrm>
            <a:off x="566928" y="658368"/>
            <a:ext cx="11045952" cy="0"/>
          </a:xfrm>
          <a:prstGeom prst="line">
            <a:avLst/>
          </a:prstGeom>
          <a:noFill/>
          <a:ln w="12700">
            <a:solidFill>
              <a:srgbClr val="D8E0E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66928" y="6419088"/>
            <a:ext cx="11045952" cy="0"/>
          </a:xfrm>
          <a:prstGeom prst="line">
            <a:avLst/>
          </a:prstGeom>
          <a:noFill/>
          <a:ln w="12700">
            <a:solidFill>
              <a:srgbClr val="D8E0E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771632" y="6501384"/>
            <a:ext cx="80467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780" dirty="0">
                <a:solidFill>
                  <a:srgbClr val="5E6B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19 / 27</a:t>
            </a:r>
            <a:endParaRPr lang="en-US" sz="780" dirty="0"/>
          </a:p>
        </p:txBody>
      </p:sp>
      <p:sp>
        <p:nvSpPr>
          <p:cNvPr id="8" name="Text 6"/>
          <p:cNvSpPr/>
          <p:nvPr/>
        </p:nvSpPr>
        <p:spPr>
          <a:xfrm>
            <a:off x="658368" y="914400"/>
            <a:ext cx="108813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850" b="1" dirty="0">
                <a:solidFill>
                  <a:srgbClr val="16324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random vs secrets</a:t>
            </a:r>
            <a:endParaRPr lang="en-US" sz="2850" dirty="0"/>
          </a:p>
        </p:txBody>
      </p:sp>
      <p:sp>
        <p:nvSpPr>
          <p:cNvPr id="9" name="Shape 7"/>
          <p:cNvSpPr/>
          <p:nvPr/>
        </p:nvSpPr>
        <p:spPr>
          <a:xfrm>
            <a:off x="713232" y="1883664"/>
            <a:ext cx="5010912" cy="0"/>
          </a:xfrm>
          <a:prstGeom prst="line">
            <a:avLst/>
          </a:prstGeom>
          <a:noFill/>
          <a:ln w="12700">
            <a:solidFill>
              <a:srgbClr val="167C8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13232" y="2139696"/>
            <a:ext cx="50109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950" b="1" dirty="0">
                <a:solidFill>
                  <a:srgbClr val="1632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random</a:t>
            </a:r>
            <a:endParaRPr lang="en-US" sz="1950" dirty="0"/>
          </a:p>
        </p:txBody>
      </p:sp>
      <p:sp>
        <p:nvSpPr>
          <p:cNvPr id="11" name="Text 9"/>
          <p:cNvSpPr/>
          <p:nvPr/>
        </p:nvSpPr>
        <p:spPr>
          <a:xfrm>
            <a:off x="749808" y="2688336"/>
            <a:ext cx="4919472" cy="38862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228600" indent="-228600">
              <a:buSzPct val="100000"/>
              <a:buChar char="•"/>
            </a:pPr>
            <a:r>
              <a:rPr lang="en-US" sz="1620" dirty="0">
                <a:solidFill>
                  <a:srgbClr val="18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simulácie a náhodné testovacie dáta</a:t>
            </a:r>
            <a:endParaRPr lang="en-US" sz="1620" dirty="0"/>
          </a:p>
          <a:p>
            <a:pPr marL="228600" indent="-228600">
              <a:buSzPct val="100000"/>
              <a:buChar char="•"/>
            </a:pPr>
            <a:r>
              <a:rPr lang="en-US" sz="1620" dirty="0">
                <a:solidFill>
                  <a:srgbClr val="18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reprodukovateľnosť cez seed</a:t>
            </a:r>
            <a:endParaRPr lang="en-US" sz="1620" dirty="0"/>
          </a:p>
          <a:p>
            <a:pPr marL="228600" indent="-228600">
              <a:buSzPct val="100000"/>
              <a:buChar char="•"/>
            </a:pPr>
            <a:r>
              <a:rPr lang="en-US" sz="1620" dirty="0">
                <a:solidFill>
                  <a:srgbClr val="18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nie pre tokeny a heslá</a:t>
            </a:r>
            <a:endParaRPr lang="en-US" sz="1620" dirty="0"/>
          </a:p>
        </p:txBody>
      </p:sp>
      <p:sp>
        <p:nvSpPr>
          <p:cNvPr id="12" name="Shape 10"/>
          <p:cNvSpPr/>
          <p:nvPr/>
        </p:nvSpPr>
        <p:spPr>
          <a:xfrm>
            <a:off x="6373368" y="1883664"/>
            <a:ext cx="5010912" cy="0"/>
          </a:xfrm>
          <a:prstGeom prst="line">
            <a:avLst/>
          </a:prstGeom>
          <a:noFill/>
          <a:ln w="12700">
            <a:solidFill>
              <a:srgbClr val="E0A03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373368" y="2139696"/>
            <a:ext cx="50109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950" b="1" dirty="0">
                <a:solidFill>
                  <a:srgbClr val="1632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secrets</a:t>
            </a:r>
            <a:endParaRPr lang="en-US" sz="1950" dirty="0"/>
          </a:p>
        </p:txBody>
      </p:sp>
      <p:sp>
        <p:nvSpPr>
          <p:cNvPr id="14" name="Text 12"/>
          <p:cNvSpPr/>
          <p:nvPr/>
        </p:nvSpPr>
        <p:spPr>
          <a:xfrm>
            <a:off x="6409944" y="2688336"/>
            <a:ext cx="4919472" cy="38862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228600" indent="-228600">
              <a:buSzPct val="100000"/>
              <a:buChar char="•"/>
            </a:pPr>
            <a:r>
              <a:rPr lang="en-US" sz="1620" dirty="0">
                <a:solidFill>
                  <a:srgbClr val="18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kryptograficky vhodná náhodnosť</a:t>
            </a:r>
            <a:endParaRPr lang="en-US" sz="1620" dirty="0"/>
          </a:p>
          <a:p>
            <a:pPr marL="228600" indent="-228600">
              <a:buSzPct val="100000"/>
              <a:buChar char="•"/>
            </a:pPr>
            <a:r>
              <a:rPr lang="en-US" sz="1620" dirty="0">
                <a:solidFill>
                  <a:srgbClr val="18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token_urlsafe()</a:t>
            </a:r>
            <a:endParaRPr lang="en-US" sz="1620" dirty="0"/>
          </a:p>
          <a:p>
            <a:pPr marL="228600" indent="-228600">
              <a:buSzPct val="100000"/>
              <a:buChar char="•"/>
            </a:pPr>
            <a:r>
              <a:rPr lang="en-US" sz="1620" dirty="0">
                <a:solidFill>
                  <a:srgbClr val="18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reset linky, API tokeny, CSRF hodnoty</a:t>
            </a:r>
            <a:endParaRPr lang="en-US" sz="162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877B9"/>
          </a:solidFill>
          <a:ln w="12700">
            <a:solidFill>
              <a:srgbClr val="1877B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310896"/>
            <a:ext cx="4663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80" b="1" spc="50" kern="0" dirty="0">
                <a:solidFill>
                  <a:srgbClr val="1877B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PROGRAMOVANIE V PYTHONE</a:t>
            </a:r>
            <a:endParaRPr lang="en-US" sz="880" dirty="0"/>
          </a:p>
        </p:txBody>
      </p:sp>
      <p:sp>
        <p:nvSpPr>
          <p:cNvPr id="4" name="Text 2"/>
          <p:cNvSpPr/>
          <p:nvPr/>
        </p:nvSpPr>
        <p:spPr>
          <a:xfrm>
            <a:off x="9829800" y="310896"/>
            <a:ext cx="1783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80" b="1" dirty="0">
                <a:solidFill>
                  <a:srgbClr val="5E6B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PREDNÁŠKA 09</a:t>
            </a:r>
            <a:endParaRPr lang="en-US" sz="880" dirty="0"/>
          </a:p>
        </p:txBody>
      </p:sp>
      <p:sp>
        <p:nvSpPr>
          <p:cNvPr id="5" name="Shape 3"/>
          <p:cNvSpPr/>
          <p:nvPr/>
        </p:nvSpPr>
        <p:spPr>
          <a:xfrm>
            <a:off x="566928" y="658368"/>
            <a:ext cx="11045952" cy="0"/>
          </a:xfrm>
          <a:prstGeom prst="line">
            <a:avLst/>
          </a:prstGeom>
          <a:noFill/>
          <a:ln w="12700">
            <a:solidFill>
              <a:srgbClr val="D8E0E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66928" y="6419088"/>
            <a:ext cx="11045952" cy="0"/>
          </a:xfrm>
          <a:prstGeom prst="line">
            <a:avLst/>
          </a:prstGeom>
          <a:noFill/>
          <a:ln w="12700">
            <a:solidFill>
              <a:srgbClr val="D8E0E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771632" y="6501384"/>
            <a:ext cx="80467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780" dirty="0">
                <a:solidFill>
                  <a:srgbClr val="5E6B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20 / 27</a:t>
            </a:r>
            <a:endParaRPr lang="en-US" sz="780" dirty="0"/>
          </a:p>
        </p:txBody>
      </p:sp>
      <p:sp>
        <p:nvSpPr>
          <p:cNvPr id="8" name="Text 6"/>
          <p:cNvSpPr/>
          <p:nvPr/>
        </p:nvSpPr>
        <p:spPr>
          <a:xfrm>
            <a:off x="658368" y="914400"/>
            <a:ext cx="108813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850" b="1" dirty="0">
                <a:solidFill>
                  <a:srgbClr val="16324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Token cez secrets</a:t>
            </a:r>
            <a:endParaRPr lang="en-US" sz="2850" dirty="0"/>
          </a:p>
        </p:txBody>
      </p:sp>
      <p:sp>
        <p:nvSpPr>
          <p:cNvPr id="9" name="Shape 7"/>
          <p:cNvSpPr/>
          <p:nvPr/>
        </p:nvSpPr>
        <p:spPr>
          <a:xfrm>
            <a:off x="658368" y="1828800"/>
            <a:ext cx="6903720" cy="4069080"/>
          </a:xfrm>
          <a:prstGeom prst="rect">
            <a:avLst/>
          </a:prstGeom>
          <a:solidFill>
            <a:srgbClr val="17212B"/>
          </a:solidFill>
          <a:ln w="12700">
            <a:solidFill>
              <a:srgbClr val="243242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58368" y="1828800"/>
            <a:ext cx="6903720" cy="347472"/>
          </a:xfrm>
          <a:prstGeom prst="rect">
            <a:avLst/>
          </a:prstGeom>
          <a:solidFill>
            <a:srgbClr val="223044"/>
          </a:solidFill>
          <a:ln w="12700">
            <a:solidFill>
              <a:srgbClr val="22304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68680" y="1947672"/>
            <a:ext cx="63093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20" b="1" spc="35" kern="0" dirty="0">
                <a:solidFill>
                  <a:srgbClr val="8FD3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python</a:t>
            </a:r>
            <a:endParaRPr lang="en-US" sz="820" dirty="0"/>
          </a:p>
        </p:txBody>
      </p:sp>
      <p:sp>
        <p:nvSpPr>
          <p:cNvPr id="12" name="Text 10"/>
          <p:cNvSpPr/>
          <p:nvPr/>
        </p:nvSpPr>
        <p:spPr>
          <a:xfrm>
            <a:off x="877824" y="2359152"/>
            <a:ext cx="6382512" cy="32461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600" dirty="0">
                <a:solidFill>
                  <a:srgbClr val="F4F7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 secrets</a:t>
            </a:r>
            <a:endParaRPr lang="en-US" sz="1600" dirty="0"/>
          </a:p>
          <a:p>
            <a:pPr algn="l" indent="0" marL="0">
              <a:buNone/>
            </a:pPr>
            <a:endParaRPr lang="en-US" sz="1600" dirty="0"/>
          </a:p>
          <a:p>
            <a:pPr algn="l" indent="0" marL="0">
              <a:buNone/>
            </a:pPr>
            <a:r>
              <a:rPr lang="en-US" sz="1600" dirty="0">
                <a:solidFill>
                  <a:srgbClr val="F4F7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create_reset_token() -&gt; str:</a:t>
            </a:r>
            <a:endParaRPr lang="en-US" sz="1600" dirty="0"/>
          </a:p>
          <a:p>
            <a:pPr algn="l" indent="0" marL="0">
              <a:buNone/>
            </a:pPr>
            <a:r>
              <a:rPr lang="en-US" sz="1600" dirty="0">
                <a:solidFill>
                  <a:srgbClr val="F4F7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secrets.token_urlsafe(32)</a:t>
            </a:r>
            <a:endParaRPr lang="en-US" sz="1600" dirty="0"/>
          </a:p>
          <a:p>
            <a:pPr algn="l" indent="0" marL="0">
              <a:buNone/>
            </a:pPr>
            <a:endParaRPr lang="en-US" sz="1600" dirty="0"/>
          </a:p>
          <a:p>
            <a:pPr algn="l" indent="0" marL="0">
              <a:buNone/>
            </a:pPr>
            <a:r>
              <a:rPr lang="en-US" sz="1600" dirty="0">
                <a:solidFill>
                  <a:srgbClr val="F4F7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token = create_reset_token()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7936992" y="1883664"/>
            <a:ext cx="0" cy="3639312"/>
          </a:xfrm>
          <a:prstGeom prst="line">
            <a:avLst/>
          </a:prstGeom>
          <a:noFill/>
          <a:ln w="12700">
            <a:solidFill>
              <a:srgbClr val="1877B9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229600" y="2084832"/>
            <a:ext cx="2816352" cy="2514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720" dirty="0">
                <a:solidFill>
                  <a:srgbClr val="5E6B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Token má byť neuhádnuteľný. Nemusí byť zapamätateľný ani reprodukovateľný.</a:t>
            </a:r>
            <a:endParaRPr lang="en-US" sz="172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877B9"/>
          </a:solidFill>
          <a:ln w="12700">
            <a:solidFill>
              <a:srgbClr val="1877B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310896"/>
            <a:ext cx="4663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80" b="1" spc="50" kern="0" dirty="0">
                <a:solidFill>
                  <a:srgbClr val="1877B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PROGRAMOVANIE V PYTHONE</a:t>
            </a:r>
            <a:endParaRPr lang="en-US" sz="880" dirty="0"/>
          </a:p>
        </p:txBody>
      </p:sp>
      <p:sp>
        <p:nvSpPr>
          <p:cNvPr id="4" name="Text 2"/>
          <p:cNvSpPr/>
          <p:nvPr/>
        </p:nvSpPr>
        <p:spPr>
          <a:xfrm>
            <a:off x="9829800" y="310896"/>
            <a:ext cx="1783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80" b="1" dirty="0">
                <a:solidFill>
                  <a:srgbClr val="5E6B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PREDNÁŠKA 09</a:t>
            </a:r>
            <a:endParaRPr lang="en-US" sz="880" dirty="0"/>
          </a:p>
        </p:txBody>
      </p:sp>
      <p:sp>
        <p:nvSpPr>
          <p:cNvPr id="5" name="Shape 3"/>
          <p:cNvSpPr/>
          <p:nvPr/>
        </p:nvSpPr>
        <p:spPr>
          <a:xfrm>
            <a:off x="566928" y="658368"/>
            <a:ext cx="11045952" cy="0"/>
          </a:xfrm>
          <a:prstGeom prst="line">
            <a:avLst/>
          </a:prstGeom>
          <a:noFill/>
          <a:ln w="12700">
            <a:solidFill>
              <a:srgbClr val="D8E0E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66928" y="6419088"/>
            <a:ext cx="11045952" cy="0"/>
          </a:xfrm>
          <a:prstGeom prst="line">
            <a:avLst/>
          </a:prstGeom>
          <a:noFill/>
          <a:ln w="12700">
            <a:solidFill>
              <a:srgbClr val="D8E0E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771632" y="6501384"/>
            <a:ext cx="80467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780" dirty="0">
                <a:solidFill>
                  <a:srgbClr val="5E6B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21 / 27</a:t>
            </a:r>
            <a:endParaRPr lang="en-US" sz="780" dirty="0"/>
          </a:p>
        </p:txBody>
      </p:sp>
      <p:sp>
        <p:nvSpPr>
          <p:cNvPr id="8" name="Text 6"/>
          <p:cNvSpPr/>
          <p:nvPr/>
        </p:nvSpPr>
        <p:spPr>
          <a:xfrm>
            <a:off x="676656" y="1298448"/>
            <a:ext cx="155448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1877B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05</a:t>
            </a:r>
            <a:endParaRPr lang="en-US" sz="1900" dirty="0"/>
          </a:p>
        </p:txBody>
      </p:sp>
      <p:sp>
        <p:nvSpPr>
          <p:cNvPr id="9" name="Shape 7"/>
          <p:cNvSpPr/>
          <p:nvPr/>
        </p:nvSpPr>
        <p:spPr>
          <a:xfrm>
            <a:off x="749808" y="1901952"/>
            <a:ext cx="2148840" cy="0"/>
          </a:xfrm>
          <a:prstGeom prst="line">
            <a:avLst/>
          </a:prstGeom>
          <a:noFill/>
          <a:ln w="12700">
            <a:solidFill>
              <a:srgbClr val="1877B9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13232" y="2139696"/>
            <a:ext cx="9875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16324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Passwords and crypto terms</a:t>
            </a:r>
            <a:endParaRPr lang="en-US" sz="3600" dirty="0"/>
          </a:p>
        </p:txBody>
      </p:sp>
      <p:sp>
        <p:nvSpPr>
          <p:cNvPr id="11" name="Text 9"/>
          <p:cNvSpPr/>
          <p:nvPr/>
        </p:nvSpPr>
        <p:spPr>
          <a:xfrm>
            <a:off x="749808" y="3200400"/>
            <a:ext cx="8138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920" dirty="0">
                <a:solidFill>
                  <a:srgbClr val="5E6B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Encoding, hashing a encryption riešia rozdielne problémy.</a:t>
            </a:r>
            <a:endParaRPr lang="en-US" sz="192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877B9"/>
          </a:solidFill>
          <a:ln w="12700">
            <a:solidFill>
              <a:srgbClr val="1877B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310896"/>
            <a:ext cx="4663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80" b="1" spc="50" kern="0" dirty="0">
                <a:solidFill>
                  <a:srgbClr val="1877B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PROGRAMOVANIE V PYTHONE</a:t>
            </a:r>
            <a:endParaRPr lang="en-US" sz="880" dirty="0"/>
          </a:p>
        </p:txBody>
      </p:sp>
      <p:sp>
        <p:nvSpPr>
          <p:cNvPr id="4" name="Text 2"/>
          <p:cNvSpPr/>
          <p:nvPr/>
        </p:nvSpPr>
        <p:spPr>
          <a:xfrm>
            <a:off x="9829800" y="310896"/>
            <a:ext cx="1783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80" b="1" dirty="0">
                <a:solidFill>
                  <a:srgbClr val="5E6B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PREDNÁŠKA 09</a:t>
            </a:r>
            <a:endParaRPr lang="en-US" sz="880" dirty="0"/>
          </a:p>
        </p:txBody>
      </p:sp>
      <p:sp>
        <p:nvSpPr>
          <p:cNvPr id="5" name="Shape 3"/>
          <p:cNvSpPr/>
          <p:nvPr/>
        </p:nvSpPr>
        <p:spPr>
          <a:xfrm>
            <a:off x="566928" y="658368"/>
            <a:ext cx="11045952" cy="0"/>
          </a:xfrm>
          <a:prstGeom prst="line">
            <a:avLst/>
          </a:prstGeom>
          <a:noFill/>
          <a:ln w="12700">
            <a:solidFill>
              <a:srgbClr val="D8E0E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66928" y="6419088"/>
            <a:ext cx="11045952" cy="0"/>
          </a:xfrm>
          <a:prstGeom prst="line">
            <a:avLst/>
          </a:prstGeom>
          <a:noFill/>
          <a:ln w="12700">
            <a:solidFill>
              <a:srgbClr val="D8E0E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771632" y="6501384"/>
            <a:ext cx="80467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780" dirty="0">
                <a:solidFill>
                  <a:srgbClr val="5E6B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22 / 27</a:t>
            </a:r>
            <a:endParaRPr lang="en-US" sz="780" dirty="0"/>
          </a:p>
        </p:txBody>
      </p:sp>
      <p:sp>
        <p:nvSpPr>
          <p:cNvPr id="8" name="Text 6"/>
          <p:cNvSpPr/>
          <p:nvPr/>
        </p:nvSpPr>
        <p:spPr>
          <a:xfrm>
            <a:off x="658368" y="914400"/>
            <a:ext cx="108813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850" b="1" dirty="0">
                <a:solidFill>
                  <a:srgbClr val="16324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Encoding / hashing / encryption</a:t>
            </a:r>
            <a:endParaRPr lang="en-US" sz="2850" dirty="0"/>
          </a:p>
        </p:txBody>
      </p:sp>
      <p:graphicFrame>
        <p:nvGraphicFramePr>
          <p:cNvPr id="2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58368" y="1828800"/>
          <a:ext cx="10899648" cy="3566160"/>
        </p:xfrm>
        <a:graphic>
          <a:graphicData uri="http://schemas.openxmlformats.org/drawingml/2006/table">
            <a:tbl>
              <a:tblPr/>
              <a:tblGrid>
                <a:gridCol w="1828800"/>
                <a:gridCol w="4846320"/>
                <a:gridCol w="4224528"/>
              </a:tblGrid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8212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Pojem</a:t>
                      </a:r>
                      <a:endParaRPr lang="en-US" sz="15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91440" marB="91440" anchor="mid">
                    <a:lnL w="5715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8212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Na čo slúži</a:t>
                      </a:r>
                      <a:endParaRPr lang="en-US" sz="15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91440" marB="91440" anchor="mid">
                    <a:lnL w="5715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8212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Príklad</a:t>
                      </a:r>
                      <a:endParaRPr lang="en-US" sz="15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91440" marB="91440" anchor="mid">
                    <a:lnL w="5715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8212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encoding</a:t>
                      </a:r>
                      <a:endParaRPr lang="en-US" sz="15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91440" marB="91440" anchor="mid">
                    <a:lnL w="5715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8212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reprezentácia dát v inom tvare</a:t>
                      </a:r>
                      <a:endParaRPr lang="en-US" sz="15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91440" marB="91440" anchor="mid">
                    <a:lnL w="5715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8212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UTF-8, Base64</a:t>
                      </a:r>
                      <a:endParaRPr lang="en-US" sz="15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91440" marB="91440" anchor="mid">
                    <a:lnL w="5715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8212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hashing</a:t>
                      </a:r>
                      <a:endParaRPr lang="en-US" sz="15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91440" marB="91440" anchor="mid">
                    <a:lnL w="5715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8212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jednosmerný odtlačok dát</a:t>
                      </a:r>
                      <a:endParaRPr lang="en-US" sz="15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91440" marB="91440" anchor="mid">
                    <a:lnL w="5715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8212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SHA-256 pre integritu</a:t>
                      </a:r>
                      <a:endParaRPr lang="en-US" sz="15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91440" marB="91440" anchor="mid">
                    <a:lnL w="5715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8212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password hashing</a:t>
                      </a:r>
                      <a:endParaRPr lang="en-US" sz="15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91440" marB="91440" anchor="mid">
                    <a:lnL w="5715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8212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pomalé overenie hesla so salt</a:t>
                      </a:r>
                      <a:endParaRPr lang="en-US" sz="15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91440" marB="91440" anchor="mid">
                    <a:lnL w="5715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8212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Argon2, bcrypt, scrypt</a:t>
                      </a:r>
                      <a:endParaRPr lang="en-US" sz="15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91440" marB="91440" anchor="mid">
                    <a:lnL w="5715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8212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encryption</a:t>
                      </a:r>
                      <a:endParaRPr lang="en-US" sz="15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91440" marB="91440" anchor="mid">
                    <a:lnL w="5715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8212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šifrovanie a dešifrovanie s kľúčom</a:t>
                      </a:r>
                      <a:endParaRPr lang="en-US" sz="15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91440" marB="91440" anchor="mid">
                    <a:lnL w="5715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8212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Fernet, AES-GCM</a:t>
                      </a:r>
                      <a:endParaRPr lang="en-US" sz="15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91440" marB="91440" anchor="mid">
                    <a:lnL w="5715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Shape 7"/>
          <p:cNvSpPr/>
          <p:nvPr/>
        </p:nvSpPr>
        <p:spPr>
          <a:xfrm>
            <a:off x="658368" y="1828800"/>
            <a:ext cx="10899648" cy="530352"/>
          </a:xfrm>
          <a:prstGeom prst="rect">
            <a:avLst/>
          </a:prstGeom>
          <a:solidFill>
            <a:srgbClr val="16324F"/>
          </a:solidFill>
          <a:ln w="12700">
            <a:solidFill>
              <a:srgbClr val="16324F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786384" y="1965960"/>
            <a:ext cx="1554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Pojem</a:t>
            </a:r>
            <a:endParaRPr lang="en-US" sz="1350" dirty="0"/>
          </a:p>
        </p:txBody>
      </p:sp>
      <p:sp>
        <p:nvSpPr>
          <p:cNvPr id="12" name="Text 9"/>
          <p:cNvSpPr/>
          <p:nvPr/>
        </p:nvSpPr>
        <p:spPr>
          <a:xfrm>
            <a:off x="2615184" y="1965960"/>
            <a:ext cx="4617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Na čo slúži</a:t>
            </a:r>
            <a:endParaRPr lang="en-US" sz="1350" dirty="0"/>
          </a:p>
        </p:txBody>
      </p:sp>
      <p:sp>
        <p:nvSpPr>
          <p:cNvPr id="13" name="Text 10"/>
          <p:cNvSpPr/>
          <p:nvPr/>
        </p:nvSpPr>
        <p:spPr>
          <a:xfrm>
            <a:off x="7461504" y="1965960"/>
            <a:ext cx="3840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Príklad</a:t>
            </a:r>
            <a:endParaRPr lang="en-US" sz="135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877B9"/>
          </a:solidFill>
          <a:ln w="12700">
            <a:solidFill>
              <a:srgbClr val="1877B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310896"/>
            <a:ext cx="4663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80" b="1" spc="50" kern="0" dirty="0">
                <a:solidFill>
                  <a:srgbClr val="1877B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PROGRAMOVANIE V PYTHONE</a:t>
            </a:r>
            <a:endParaRPr lang="en-US" sz="880" dirty="0"/>
          </a:p>
        </p:txBody>
      </p:sp>
      <p:sp>
        <p:nvSpPr>
          <p:cNvPr id="4" name="Text 2"/>
          <p:cNvSpPr/>
          <p:nvPr/>
        </p:nvSpPr>
        <p:spPr>
          <a:xfrm>
            <a:off x="9829800" y="310896"/>
            <a:ext cx="1783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80" b="1" dirty="0">
                <a:solidFill>
                  <a:srgbClr val="5E6B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PREDNÁŠKA 09</a:t>
            </a:r>
            <a:endParaRPr lang="en-US" sz="880" dirty="0"/>
          </a:p>
        </p:txBody>
      </p:sp>
      <p:sp>
        <p:nvSpPr>
          <p:cNvPr id="5" name="Shape 3"/>
          <p:cNvSpPr/>
          <p:nvPr/>
        </p:nvSpPr>
        <p:spPr>
          <a:xfrm>
            <a:off x="566928" y="658368"/>
            <a:ext cx="11045952" cy="0"/>
          </a:xfrm>
          <a:prstGeom prst="line">
            <a:avLst/>
          </a:prstGeom>
          <a:noFill/>
          <a:ln w="12700">
            <a:solidFill>
              <a:srgbClr val="D8E0E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66928" y="6419088"/>
            <a:ext cx="11045952" cy="0"/>
          </a:xfrm>
          <a:prstGeom prst="line">
            <a:avLst/>
          </a:prstGeom>
          <a:noFill/>
          <a:ln w="12700">
            <a:solidFill>
              <a:srgbClr val="D8E0E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771632" y="6501384"/>
            <a:ext cx="80467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780" dirty="0">
                <a:solidFill>
                  <a:srgbClr val="5E6B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23 / 27</a:t>
            </a:r>
            <a:endParaRPr lang="en-US" sz="780" dirty="0"/>
          </a:p>
        </p:txBody>
      </p:sp>
      <p:sp>
        <p:nvSpPr>
          <p:cNvPr id="8" name="Text 6"/>
          <p:cNvSpPr/>
          <p:nvPr/>
        </p:nvSpPr>
        <p:spPr>
          <a:xfrm>
            <a:off x="658368" y="914400"/>
            <a:ext cx="108813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850" b="1" dirty="0">
                <a:solidFill>
                  <a:srgbClr val="16324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Heslá neukladáme plaintext ani obyčajný SHA-256</a:t>
            </a:r>
            <a:endParaRPr lang="en-US" sz="2850" dirty="0"/>
          </a:p>
        </p:txBody>
      </p:sp>
      <p:sp>
        <p:nvSpPr>
          <p:cNvPr id="9" name="Text 7"/>
          <p:cNvSpPr/>
          <p:nvPr/>
        </p:nvSpPr>
        <p:spPr>
          <a:xfrm>
            <a:off x="868680" y="1938528"/>
            <a:ext cx="9921240" cy="38862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228600" indent="-228600">
              <a:buSzPct val="100000"/>
              <a:buChar char="•"/>
            </a:pPr>
            <a:r>
              <a:rPr lang="en-US" sz="1800" dirty="0">
                <a:solidFill>
                  <a:srgbClr val="18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každé heslo potrebuje vlastný salt</a:t>
            </a:r>
            <a:endParaRPr lang="en-US" sz="1800" dirty="0"/>
          </a:p>
          <a:p>
            <a:pPr marL="228600" indent="-228600">
              <a:buSzPct val="100000"/>
              <a:buChar char="•"/>
            </a:pPr>
            <a:r>
              <a:rPr lang="en-US" sz="1800" dirty="0">
                <a:solidFill>
                  <a:srgbClr val="18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algoritmus má byť zámerne pomalý</a:t>
            </a:r>
            <a:endParaRPr lang="en-US" sz="1800" dirty="0"/>
          </a:p>
          <a:p>
            <a:pPr marL="228600" indent="-228600">
              <a:buSzPct val="100000"/>
              <a:buChar char="•"/>
            </a:pPr>
            <a:r>
              <a:rPr lang="en-US" sz="1800" dirty="0">
                <a:solidFill>
                  <a:srgbClr val="18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použite overenú knižnicu alebo framework</a:t>
            </a:r>
            <a:endParaRPr lang="en-US" sz="1800" dirty="0"/>
          </a:p>
          <a:p>
            <a:pPr marL="228600" indent="-228600">
              <a:buSzPct val="100000"/>
              <a:buChar char="•"/>
            </a:pPr>
            <a:r>
              <a:rPr lang="en-US" sz="1800" dirty="0">
                <a:solidFill>
                  <a:srgbClr val="18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nikdy nevymýšľajte vlastnú kryptografiu</a:t>
            </a:r>
            <a:endParaRPr lang="en-US" sz="18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877B9"/>
          </a:solidFill>
          <a:ln w="12700">
            <a:solidFill>
              <a:srgbClr val="1877B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310896"/>
            <a:ext cx="4663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80" b="1" spc="50" kern="0" dirty="0">
                <a:solidFill>
                  <a:srgbClr val="1877B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PROGRAMOVANIE V PYTHONE</a:t>
            </a:r>
            <a:endParaRPr lang="en-US" sz="880" dirty="0"/>
          </a:p>
        </p:txBody>
      </p:sp>
      <p:sp>
        <p:nvSpPr>
          <p:cNvPr id="4" name="Text 2"/>
          <p:cNvSpPr/>
          <p:nvPr/>
        </p:nvSpPr>
        <p:spPr>
          <a:xfrm>
            <a:off x="9829800" y="310896"/>
            <a:ext cx="1783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80" b="1" dirty="0">
                <a:solidFill>
                  <a:srgbClr val="5E6B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PREDNÁŠKA 09</a:t>
            </a:r>
            <a:endParaRPr lang="en-US" sz="880" dirty="0"/>
          </a:p>
        </p:txBody>
      </p:sp>
      <p:sp>
        <p:nvSpPr>
          <p:cNvPr id="5" name="Shape 3"/>
          <p:cNvSpPr/>
          <p:nvPr/>
        </p:nvSpPr>
        <p:spPr>
          <a:xfrm>
            <a:off x="566928" y="658368"/>
            <a:ext cx="11045952" cy="0"/>
          </a:xfrm>
          <a:prstGeom prst="line">
            <a:avLst/>
          </a:prstGeom>
          <a:noFill/>
          <a:ln w="12700">
            <a:solidFill>
              <a:srgbClr val="D8E0E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66928" y="6419088"/>
            <a:ext cx="11045952" cy="0"/>
          </a:xfrm>
          <a:prstGeom prst="line">
            <a:avLst/>
          </a:prstGeom>
          <a:noFill/>
          <a:ln w="12700">
            <a:solidFill>
              <a:srgbClr val="D8E0E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771632" y="6501384"/>
            <a:ext cx="80467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780" dirty="0">
                <a:solidFill>
                  <a:srgbClr val="5E6B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24 / 27</a:t>
            </a:r>
            <a:endParaRPr lang="en-US" sz="780" dirty="0"/>
          </a:p>
        </p:txBody>
      </p:sp>
      <p:sp>
        <p:nvSpPr>
          <p:cNvPr id="8" name="Text 6"/>
          <p:cNvSpPr/>
          <p:nvPr/>
        </p:nvSpPr>
        <p:spPr>
          <a:xfrm>
            <a:off x="676656" y="1298448"/>
            <a:ext cx="155448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1877B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06</a:t>
            </a:r>
            <a:endParaRPr lang="en-US" sz="1900" dirty="0"/>
          </a:p>
        </p:txBody>
      </p:sp>
      <p:sp>
        <p:nvSpPr>
          <p:cNvPr id="9" name="Shape 7"/>
          <p:cNvSpPr/>
          <p:nvPr/>
        </p:nvSpPr>
        <p:spPr>
          <a:xfrm>
            <a:off x="749808" y="1901952"/>
            <a:ext cx="2148840" cy="0"/>
          </a:xfrm>
          <a:prstGeom prst="line">
            <a:avLst/>
          </a:prstGeom>
          <a:noFill/>
          <a:ln w="12700">
            <a:solidFill>
              <a:srgbClr val="1877B9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13232" y="2139696"/>
            <a:ext cx="9875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16324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Dependencies and logging</a:t>
            </a:r>
            <a:endParaRPr lang="en-US" sz="3600" dirty="0"/>
          </a:p>
        </p:txBody>
      </p:sp>
      <p:sp>
        <p:nvSpPr>
          <p:cNvPr id="11" name="Text 9"/>
          <p:cNvSpPr/>
          <p:nvPr/>
        </p:nvSpPr>
        <p:spPr>
          <a:xfrm>
            <a:off x="749808" y="3200400"/>
            <a:ext cx="8138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920" dirty="0">
                <a:solidFill>
                  <a:srgbClr val="5E6B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Bezpečnosť sa nekončí pri vlastnom kóde.</a:t>
            </a:r>
            <a:endParaRPr lang="en-US" sz="192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877B9"/>
          </a:solidFill>
          <a:ln w="12700">
            <a:solidFill>
              <a:srgbClr val="1877B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310896"/>
            <a:ext cx="4663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80" b="1" spc="50" kern="0" dirty="0">
                <a:solidFill>
                  <a:srgbClr val="1877B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PROGRAMOVANIE V PYTHONE</a:t>
            </a:r>
            <a:endParaRPr lang="en-US" sz="880" dirty="0"/>
          </a:p>
        </p:txBody>
      </p:sp>
      <p:sp>
        <p:nvSpPr>
          <p:cNvPr id="4" name="Text 2"/>
          <p:cNvSpPr/>
          <p:nvPr/>
        </p:nvSpPr>
        <p:spPr>
          <a:xfrm>
            <a:off x="9829800" y="310896"/>
            <a:ext cx="1783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80" b="1" dirty="0">
                <a:solidFill>
                  <a:srgbClr val="5E6B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PREDNÁŠKA 09</a:t>
            </a:r>
            <a:endParaRPr lang="en-US" sz="880" dirty="0"/>
          </a:p>
        </p:txBody>
      </p:sp>
      <p:sp>
        <p:nvSpPr>
          <p:cNvPr id="5" name="Shape 3"/>
          <p:cNvSpPr/>
          <p:nvPr/>
        </p:nvSpPr>
        <p:spPr>
          <a:xfrm>
            <a:off x="566928" y="658368"/>
            <a:ext cx="11045952" cy="0"/>
          </a:xfrm>
          <a:prstGeom prst="line">
            <a:avLst/>
          </a:prstGeom>
          <a:noFill/>
          <a:ln w="12700">
            <a:solidFill>
              <a:srgbClr val="D8E0E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66928" y="6419088"/>
            <a:ext cx="11045952" cy="0"/>
          </a:xfrm>
          <a:prstGeom prst="line">
            <a:avLst/>
          </a:prstGeom>
          <a:noFill/>
          <a:ln w="12700">
            <a:solidFill>
              <a:srgbClr val="D8E0E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771632" y="6501384"/>
            <a:ext cx="80467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780" dirty="0">
                <a:solidFill>
                  <a:srgbClr val="5E6B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25 / 27</a:t>
            </a:r>
            <a:endParaRPr lang="en-US" sz="780" dirty="0"/>
          </a:p>
        </p:txBody>
      </p:sp>
      <p:sp>
        <p:nvSpPr>
          <p:cNvPr id="8" name="Text 6"/>
          <p:cNvSpPr/>
          <p:nvPr/>
        </p:nvSpPr>
        <p:spPr>
          <a:xfrm>
            <a:off x="658368" y="914400"/>
            <a:ext cx="108813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850" b="1" dirty="0">
                <a:solidFill>
                  <a:srgbClr val="16324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Nástroje hľadajú rôzne triedy problémov</a:t>
            </a:r>
            <a:endParaRPr lang="en-US" sz="2850" dirty="0"/>
          </a:p>
        </p:txBody>
      </p:sp>
      <p:graphicFrame>
        <p:nvGraphicFramePr>
          <p:cNvPr id="2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58368" y="1828800"/>
          <a:ext cx="10899648" cy="3566160"/>
        </p:xfrm>
        <a:graphic>
          <a:graphicData uri="http://schemas.openxmlformats.org/drawingml/2006/table">
            <a:tbl>
              <a:tblPr/>
              <a:tblGrid>
                <a:gridCol w="1828800"/>
                <a:gridCol w="4846320"/>
                <a:gridCol w="4224528"/>
              </a:tblGrid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8212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Nástroj</a:t>
                      </a:r>
                      <a:endParaRPr lang="en-US" sz="15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91440" marB="91440" anchor="mid">
                    <a:lnL w="5715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8212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Čo vie nájsť</a:t>
                      </a:r>
                      <a:endParaRPr lang="en-US" sz="15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91440" marB="91440" anchor="mid">
                    <a:lnL w="5715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8212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Limit</a:t>
                      </a:r>
                      <a:endParaRPr lang="en-US" sz="15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91440" marB="91440" anchor="mid">
                    <a:lnL w="5715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8212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Bandit</a:t>
                      </a:r>
                      <a:endParaRPr lang="en-US" sz="15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91440" marB="91440" anchor="mid">
                    <a:lnL w="5715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8212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podozrivé bezpečnostné vzory v Pythone</a:t>
                      </a:r>
                      <a:endParaRPr lang="en-US" sz="15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91440" marB="91440" anchor="mid">
                    <a:lnL w="5715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8212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nález treba interpretovať</a:t>
                      </a:r>
                      <a:endParaRPr lang="en-US" sz="15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91440" marB="91440" anchor="mid">
                    <a:lnL w="5715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8212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pip-audit</a:t>
                      </a:r>
                      <a:endParaRPr lang="en-US" sz="15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91440" marB="91440" anchor="mid">
                    <a:lnL w="5715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8212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známe CVE v dependencies</a:t>
                      </a:r>
                      <a:endParaRPr lang="en-US" sz="15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91440" marB="91440" anchor="mid">
                    <a:lnL w="5715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8212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nevidí vlastnú logiku</a:t>
                      </a:r>
                      <a:endParaRPr lang="en-US" sz="15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91440" marB="91440" anchor="mid">
                    <a:lnL w="5715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8212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updates</a:t>
                      </a:r>
                      <a:endParaRPr lang="en-US" sz="15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91440" marB="91440" anchor="mid">
                    <a:lnL w="5715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8212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opravy vo frameworkoch a knižniciach</a:t>
                      </a:r>
                      <a:endParaRPr lang="en-US" sz="15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91440" marB="91440" anchor="mid">
                    <a:lnL w="5715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8212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môžu meniť správanie</a:t>
                      </a:r>
                      <a:endParaRPr lang="en-US" sz="15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91440" marB="91440" anchor="mid">
                    <a:lnL w="5715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8212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tests</a:t>
                      </a:r>
                      <a:endParaRPr lang="en-US" sz="15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91440" marB="91440" anchor="mid">
                    <a:lnL w="5715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8212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regresie po bezpečnostnej oprave</a:t>
                      </a:r>
                      <a:endParaRPr lang="en-US" sz="15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91440" marB="91440" anchor="mid">
                    <a:lnL w="5715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8212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nie sú security audit</a:t>
                      </a:r>
                      <a:endParaRPr lang="en-US" sz="15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91440" marB="91440" anchor="mid">
                    <a:lnL w="5715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Shape 7"/>
          <p:cNvSpPr/>
          <p:nvPr/>
        </p:nvSpPr>
        <p:spPr>
          <a:xfrm>
            <a:off x="658368" y="1828800"/>
            <a:ext cx="10899648" cy="530352"/>
          </a:xfrm>
          <a:prstGeom prst="rect">
            <a:avLst/>
          </a:prstGeom>
          <a:solidFill>
            <a:srgbClr val="16324F"/>
          </a:solidFill>
          <a:ln w="12700">
            <a:solidFill>
              <a:srgbClr val="16324F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786384" y="1965960"/>
            <a:ext cx="1554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Nástroj</a:t>
            </a:r>
            <a:endParaRPr lang="en-US" sz="1350" dirty="0"/>
          </a:p>
        </p:txBody>
      </p:sp>
      <p:sp>
        <p:nvSpPr>
          <p:cNvPr id="12" name="Text 9"/>
          <p:cNvSpPr/>
          <p:nvPr/>
        </p:nvSpPr>
        <p:spPr>
          <a:xfrm>
            <a:off x="2615184" y="1965960"/>
            <a:ext cx="4617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Čo vie nájsť</a:t>
            </a:r>
            <a:endParaRPr lang="en-US" sz="1350" dirty="0"/>
          </a:p>
        </p:txBody>
      </p:sp>
      <p:sp>
        <p:nvSpPr>
          <p:cNvPr id="13" name="Text 10"/>
          <p:cNvSpPr/>
          <p:nvPr/>
        </p:nvSpPr>
        <p:spPr>
          <a:xfrm>
            <a:off x="7461504" y="1965960"/>
            <a:ext cx="3840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Limit</a:t>
            </a:r>
            <a:endParaRPr lang="en-US" sz="135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877B9"/>
          </a:solidFill>
          <a:ln w="12700">
            <a:solidFill>
              <a:srgbClr val="1877B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310896"/>
            <a:ext cx="4663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80" b="1" spc="50" kern="0" dirty="0">
                <a:solidFill>
                  <a:srgbClr val="1877B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PROGRAMOVANIE V PYTHONE</a:t>
            </a:r>
            <a:endParaRPr lang="en-US" sz="880" dirty="0"/>
          </a:p>
        </p:txBody>
      </p:sp>
      <p:sp>
        <p:nvSpPr>
          <p:cNvPr id="4" name="Text 2"/>
          <p:cNvSpPr/>
          <p:nvPr/>
        </p:nvSpPr>
        <p:spPr>
          <a:xfrm>
            <a:off x="9829800" y="310896"/>
            <a:ext cx="1783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80" b="1" dirty="0">
                <a:solidFill>
                  <a:srgbClr val="5E6B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PREDNÁŠKA 09</a:t>
            </a:r>
            <a:endParaRPr lang="en-US" sz="880" dirty="0"/>
          </a:p>
        </p:txBody>
      </p:sp>
      <p:sp>
        <p:nvSpPr>
          <p:cNvPr id="5" name="Shape 3"/>
          <p:cNvSpPr/>
          <p:nvPr/>
        </p:nvSpPr>
        <p:spPr>
          <a:xfrm>
            <a:off x="566928" y="658368"/>
            <a:ext cx="11045952" cy="0"/>
          </a:xfrm>
          <a:prstGeom prst="line">
            <a:avLst/>
          </a:prstGeom>
          <a:noFill/>
          <a:ln w="12700">
            <a:solidFill>
              <a:srgbClr val="D8E0E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66928" y="6419088"/>
            <a:ext cx="11045952" cy="0"/>
          </a:xfrm>
          <a:prstGeom prst="line">
            <a:avLst/>
          </a:prstGeom>
          <a:noFill/>
          <a:ln w="12700">
            <a:solidFill>
              <a:srgbClr val="D8E0E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771632" y="6501384"/>
            <a:ext cx="80467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780" dirty="0">
                <a:solidFill>
                  <a:srgbClr val="5E6B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26 / 27</a:t>
            </a:r>
            <a:endParaRPr lang="en-US" sz="780" dirty="0"/>
          </a:p>
        </p:txBody>
      </p:sp>
      <p:sp>
        <p:nvSpPr>
          <p:cNvPr id="8" name="Text 6"/>
          <p:cNvSpPr/>
          <p:nvPr/>
        </p:nvSpPr>
        <p:spPr>
          <a:xfrm>
            <a:off x="658368" y="914400"/>
            <a:ext cx="108813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850" b="1" dirty="0">
                <a:solidFill>
                  <a:srgbClr val="16324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Logy nesmú niesť citlivé dáta</a:t>
            </a:r>
            <a:endParaRPr lang="en-US" sz="2850" dirty="0"/>
          </a:p>
        </p:txBody>
      </p:sp>
      <p:sp>
        <p:nvSpPr>
          <p:cNvPr id="9" name="Text 7"/>
          <p:cNvSpPr/>
          <p:nvPr/>
        </p:nvSpPr>
        <p:spPr>
          <a:xfrm>
            <a:off x="749808" y="1920240"/>
            <a:ext cx="4160520" cy="38862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228600" indent="-228600">
              <a:buSzPct val="100000"/>
              <a:buChar char="•"/>
            </a:pPr>
            <a:r>
              <a:rPr lang="en-US" sz="1650" dirty="0">
                <a:solidFill>
                  <a:srgbClr val="18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logy sa často ukladajú dlhšie než request</a:t>
            </a:r>
            <a:endParaRPr lang="en-US" sz="1650" dirty="0"/>
          </a:p>
          <a:p>
            <a:pPr marL="228600" indent="-228600">
              <a:buSzPct val="100000"/>
              <a:buChar char="•"/>
            </a:pPr>
            <a:r>
              <a:rPr lang="en-US" sz="1650" dirty="0">
                <a:solidFill>
                  <a:srgbClr val="18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môže k nim mať prístup viac ľudí</a:t>
            </a:r>
            <a:endParaRPr lang="en-US" sz="1650" dirty="0"/>
          </a:p>
          <a:p>
            <a:pPr marL="228600" indent="-228600">
              <a:buSzPct val="100000"/>
              <a:buChar char="•"/>
            </a:pPr>
            <a:r>
              <a:rPr lang="en-US" sz="1650" dirty="0">
                <a:solidFill>
                  <a:srgbClr val="18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logujte identifikátor udalosti, nie token</a:t>
            </a:r>
            <a:endParaRPr lang="en-US" sz="1650" dirty="0"/>
          </a:p>
        </p:txBody>
      </p:sp>
      <p:sp>
        <p:nvSpPr>
          <p:cNvPr id="10" name="Shape 8"/>
          <p:cNvSpPr/>
          <p:nvPr/>
        </p:nvSpPr>
        <p:spPr>
          <a:xfrm>
            <a:off x="5413248" y="1792224"/>
            <a:ext cx="5925312" cy="4160520"/>
          </a:xfrm>
          <a:prstGeom prst="rect">
            <a:avLst/>
          </a:prstGeom>
          <a:solidFill>
            <a:srgbClr val="17212B"/>
          </a:solidFill>
          <a:ln w="12700">
            <a:solidFill>
              <a:srgbClr val="243242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413248" y="1792224"/>
            <a:ext cx="5925312" cy="329184"/>
          </a:xfrm>
          <a:prstGeom prst="rect">
            <a:avLst/>
          </a:prstGeom>
          <a:solidFill>
            <a:srgbClr val="223044"/>
          </a:solidFill>
          <a:ln w="12700">
            <a:solidFill>
              <a:srgbClr val="223044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641848" y="1901952"/>
            <a:ext cx="53949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10" b="1" spc="35" kern="0" dirty="0">
                <a:solidFill>
                  <a:srgbClr val="8FD3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python</a:t>
            </a:r>
            <a:endParaRPr lang="en-US" sz="810" dirty="0"/>
          </a:p>
        </p:txBody>
      </p:sp>
      <p:sp>
        <p:nvSpPr>
          <p:cNvPr id="13" name="Text 11"/>
          <p:cNvSpPr/>
          <p:nvPr/>
        </p:nvSpPr>
        <p:spPr>
          <a:xfrm>
            <a:off x="5641848" y="2331720"/>
            <a:ext cx="5340096" cy="31821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520" dirty="0">
                <a:solidFill>
                  <a:srgbClr val="F4F7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zle</a:t>
            </a:r>
            <a:endParaRPr lang="en-US" sz="1520" dirty="0"/>
          </a:p>
          <a:p>
            <a:pPr algn="l" indent="0" marL="0">
              <a:buNone/>
            </a:pPr>
            <a:r>
              <a:rPr lang="en-US" sz="1520" dirty="0">
                <a:solidFill>
                  <a:srgbClr val="F4F7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logger.info("Login failed: %s %s", email, password)</a:t>
            </a:r>
            <a:endParaRPr lang="en-US" sz="1520" dirty="0"/>
          </a:p>
          <a:p>
            <a:pPr algn="l" indent="0" marL="0">
              <a:buNone/>
            </a:pPr>
            <a:r>
              <a:rPr lang="en-US" sz="1520" dirty="0">
                <a:solidFill>
                  <a:srgbClr val="F4F7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logger.error("API key: %s", api_key)</a:t>
            </a:r>
            <a:endParaRPr lang="en-US" sz="1520" dirty="0"/>
          </a:p>
          <a:p>
            <a:pPr algn="l" indent="0" marL="0">
              <a:buNone/>
            </a:pPr>
            <a:endParaRPr lang="en-US" sz="1520" dirty="0"/>
          </a:p>
          <a:p>
            <a:pPr algn="l" indent="0" marL="0">
              <a:buNone/>
            </a:pPr>
            <a:r>
              <a:rPr lang="en-US" sz="1520" dirty="0">
                <a:solidFill>
                  <a:srgbClr val="F4F7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lepšie</a:t>
            </a:r>
            <a:endParaRPr lang="en-US" sz="1520" dirty="0"/>
          </a:p>
          <a:p>
            <a:pPr algn="l" indent="0" marL="0">
              <a:buNone/>
            </a:pPr>
            <a:r>
              <a:rPr lang="en-US" sz="1520" dirty="0">
                <a:solidFill>
                  <a:srgbClr val="F4F7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logger.info("Login failed for user_id=%s", user_id)</a:t>
            </a:r>
            <a:endParaRPr lang="en-US" sz="1520" dirty="0"/>
          </a:p>
          <a:p>
            <a:pPr algn="l" indent="0" marL="0">
              <a:buNone/>
            </a:pPr>
            <a:r>
              <a:rPr lang="en-US" sz="1520" dirty="0">
                <a:solidFill>
                  <a:srgbClr val="F4F7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logger.error("External API authentication failed")</a:t>
            </a:r>
            <a:endParaRPr lang="en-US" sz="152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877B9"/>
          </a:solidFill>
          <a:ln w="12700">
            <a:solidFill>
              <a:srgbClr val="1877B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310896"/>
            <a:ext cx="4663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80" b="1" spc="50" kern="0" dirty="0">
                <a:solidFill>
                  <a:srgbClr val="1877B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PROGRAMOVANIE V PYTHONE</a:t>
            </a:r>
            <a:endParaRPr lang="en-US" sz="880" dirty="0"/>
          </a:p>
        </p:txBody>
      </p:sp>
      <p:sp>
        <p:nvSpPr>
          <p:cNvPr id="4" name="Text 2"/>
          <p:cNvSpPr/>
          <p:nvPr/>
        </p:nvSpPr>
        <p:spPr>
          <a:xfrm>
            <a:off x="9829800" y="310896"/>
            <a:ext cx="1783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80" b="1" dirty="0">
                <a:solidFill>
                  <a:srgbClr val="5E6B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PREDNÁŠKA 09</a:t>
            </a:r>
            <a:endParaRPr lang="en-US" sz="880" dirty="0"/>
          </a:p>
        </p:txBody>
      </p:sp>
      <p:sp>
        <p:nvSpPr>
          <p:cNvPr id="5" name="Shape 3"/>
          <p:cNvSpPr/>
          <p:nvPr/>
        </p:nvSpPr>
        <p:spPr>
          <a:xfrm>
            <a:off x="566928" y="658368"/>
            <a:ext cx="11045952" cy="0"/>
          </a:xfrm>
          <a:prstGeom prst="line">
            <a:avLst/>
          </a:prstGeom>
          <a:noFill/>
          <a:ln w="12700">
            <a:solidFill>
              <a:srgbClr val="D8E0E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66928" y="6419088"/>
            <a:ext cx="11045952" cy="0"/>
          </a:xfrm>
          <a:prstGeom prst="line">
            <a:avLst/>
          </a:prstGeom>
          <a:noFill/>
          <a:ln w="12700">
            <a:solidFill>
              <a:srgbClr val="D8E0E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771632" y="6501384"/>
            <a:ext cx="80467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780" dirty="0">
                <a:solidFill>
                  <a:srgbClr val="5E6B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27 / 27</a:t>
            </a:r>
            <a:endParaRPr lang="en-US" sz="780" dirty="0"/>
          </a:p>
        </p:txBody>
      </p:sp>
      <p:sp>
        <p:nvSpPr>
          <p:cNvPr id="8" name="Text 6"/>
          <p:cNvSpPr/>
          <p:nvPr/>
        </p:nvSpPr>
        <p:spPr>
          <a:xfrm>
            <a:off x="658368" y="914400"/>
            <a:ext cx="108813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850" b="1" dirty="0">
                <a:solidFill>
                  <a:srgbClr val="16324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Secure defaults</a:t>
            </a:r>
            <a:endParaRPr lang="en-US" sz="2850" dirty="0"/>
          </a:p>
        </p:txBody>
      </p:sp>
      <p:sp>
        <p:nvSpPr>
          <p:cNvPr id="9" name="Text 7"/>
          <p:cNvSpPr/>
          <p:nvPr/>
        </p:nvSpPr>
        <p:spPr>
          <a:xfrm>
            <a:off x="685800" y="1719072"/>
            <a:ext cx="99669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5E6B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Bezpečné programovanie je séria malých rozhodnutí na hraniciach systému.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868680" y="2487168"/>
            <a:ext cx="9921240" cy="38862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228600" indent="-228600">
              <a:buSzPct val="100000"/>
              <a:buChar char="•"/>
            </a:pPr>
            <a:r>
              <a:rPr lang="en-US" sz="1800" dirty="0">
                <a:solidFill>
                  <a:srgbClr val="18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validovať vstup tam, kde vstup vstupuje do systému</a:t>
            </a:r>
            <a:endParaRPr lang="en-US" sz="1800" dirty="0"/>
          </a:p>
          <a:p>
            <a:pPr marL="228600" indent="-228600">
              <a:buSzPct val="100000"/>
              <a:buChar char="•"/>
            </a:pPr>
            <a:r>
              <a:rPr lang="en-US" sz="1800" dirty="0">
                <a:solidFill>
                  <a:srgbClr val="18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oddeľovať štruktúru príkazu od hodnôt</a:t>
            </a:r>
            <a:endParaRPr lang="en-US" sz="1800" dirty="0"/>
          </a:p>
          <a:p>
            <a:pPr marL="228600" indent="-228600">
              <a:buSzPct val="100000"/>
              <a:buChar char="•"/>
            </a:pPr>
            <a:r>
              <a:rPr lang="en-US" sz="1800" dirty="0">
                <a:solidFill>
                  <a:srgbClr val="18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nepúšťať nedôveryhodné dáta do interpreterov a deserializérov</a:t>
            </a:r>
            <a:endParaRPr lang="en-US" sz="1800" dirty="0"/>
          </a:p>
          <a:p>
            <a:pPr marL="228600" indent="-228600">
              <a:buSzPct val="100000"/>
              <a:buChar char="•"/>
            </a:pPr>
            <a:r>
              <a:rPr lang="en-US" sz="1800" dirty="0">
                <a:solidFill>
                  <a:srgbClr val="18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tajomstvá a heslá spracúvať špecializovanými nástrojmi</a:t>
            </a:r>
            <a:endParaRPr lang="en-US" sz="1800" dirty="0"/>
          </a:p>
          <a:p>
            <a:pPr marL="228600" indent="-228600">
              <a:buSzPct val="100000"/>
              <a:buChar char="•"/>
            </a:pPr>
            <a:r>
              <a:rPr lang="en-US" sz="1800" dirty="0">
                <a:solidFill>
                  <a:srgbClr val="18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diagnostika nesmie zvyšovať únik dát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27</Slides>
  <Notes>27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27</vt:i4>
      </vt:variant>
    </vt:vector>
  </HeadingPairs>
  <TitlesOfParts>
    <vt:vector size="3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</vt:vector>
  </TitlesOfParts>
  <Company>Technická univerzita v Košiciach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Bezpečné programovanie v Pythone</dc:title>
  <dc:subject>Programovanie v Pythone</dc:subject>
  <dc:creator>TUKE FEI</dc:creator>
  <cp:lastModifiedBy>TUKE FEI</cp:lastModifiedBy>
  <cp:revision>1</cp:revision>
  <dcterms:created xsi:type="dcterms:W3CDTF">2026-09-15T21:51:36Z</dcterms:created>
  <dcterms:modified xsi:type="dcterms:W3CDTF">2026-09-15T21:51:36Z</dcterms:modified>
</cp:coreProperties>
</file>