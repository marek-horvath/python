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6858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8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829800" y="68580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920" dirty="0"/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5257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GUI and Event-Driven Programming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786384" y="3154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application, events and user-interface state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6565392" y="1353312"/>
            <a:ext cx="4736592" cy="440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65392" y="1353312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93408" y="1426464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6784848" y="1828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784848" y="2249424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1085" y="2249424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1085" y="2331720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784848" y="2843784"/>
            <a:ext cx="4297680" cy="2020824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2935224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6903720" y="331927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Review callbacks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6784848" y="500176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50749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9665208" y="500176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65208" y="507492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6784848" y="546811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9808" y="5212080"/>
            <a:ext cx="224028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5046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TUKE FEI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0680192" y="62544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44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application will do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2212848" y="16550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6912864" y="1655064"/>
            <a:ext cx="3840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94944" y="2212848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task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2194560" y="1847088"/>
            <a:ext cx="38221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1847088"/>
            <a:ext cx="382219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22576" y="1883664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640" dirty="0"/>
          </a:p>
        </p:txBody>
      </p:sp>
      <p:sp>
        <p:nvSpPr>
          <p:cNvPr id="15" name="Shape 13"/>
          <p:cNvSpPr/>
          <p:nvPr/>
        </p:nvSpPr>
        <p:spPr>
          <a:xfrm>
            <a:off x="2286000" y="2103120"/>
            <a:ext cx="3639312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AAB4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59152" y="2139696"/>
            <a:ext cx="351129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assignment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304288" y="2414016"/>
            <a:ext cx="3602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tasks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304288" y="2807208"/>
            <a:ext cx="3602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620" dirty="0"/>
          </a:p>
        </p:txBody>
      </p:sp>
      <p:sp>
        <p:nvSpPr>
          <p:cNvPr id="19" name="Shape 17"/>
          <p:cNvSpPr/>
          <p:nvPr/>
        </p:nvSpPr>
        <p:spPr>
          <a:xfrm>
            <a:off x="6254496" y="2276856"/>
            <a:ext cx="256032" cy="27432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76288" y="1847088"/>
            <a:ext cx="38221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76288" y="1847088"/>
            <a:ext cx="382219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04304" y="1883664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640" dirty="0"/>
          </a:p>
        </p:txBody>
      </p:sp>
      <p:sp>
        <p:nvSpPr>
          <p:cNvPr id="23" name="Text 21"/>
          <p:cNvSpPr/>
          <p:nvPr/>
        </p:nvSpPr>
        <p:spPr>
          <a:xfrm>
            <a:off x="7013448" y="213969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986016" y="2807208"/>
            <a:ext cx="3602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620" dirty="0"/>
          </a:p>
        </p:txBody>
      </p:sp>
      <p:sp>
        <p:nvSpPr>
          <p:cNvPr id="25" name="Text 23"/>
          <p:cNvSpPr/>
          <p:nvPr/>
        </p:nvSpPr>
        <p:spPr>
          <a:xfrm>
            <a:off x="694944" y="3657600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 as done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2194560" y="3291840"/>
            <a:ext cx="38221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94560" y="3291840"/>
            <a:ext cx="382219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22576" y="3328416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640" dirty="0"/>
          </a:p>
        </p:txBody>
      </p:sp>
      <p:sp>
        <p:nvSpPr>
          <p:cNvPr id="29" name="Shape 27"/>
          <p:cNvSpPr/>
          <p:nvPr/>
        </p:nvSpPr>
        <p:spPr>
          <a:xfrm>
            <a:off x="2276856" y="3566160"/>
            <a:ext cx="3657600" cy="228600"/>
          </a:xfrm>
          <a:prstGeom prst="rect">
            <a:avLst/>
          </a:prstGeom>
          <a:solidFill>
            <a:srgbClr val="DCECF6"/>
          </a:solidFill>
          <a:ln w="12700">
            <a:solidFill>
              <a:srgbClr val="DCE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358444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304288" y="4251960"/>
            <a:ext cx="3602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6254496" y="3721608"/>
            <a:ext cx="256032" cy="27432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76288" y="3291840"/>
            <a:ext cx="38221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76288" y="3291840"/>
            <a:ext cx="382219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04304" y="3328416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640" dirty="0"/>
          </a:p>
        </p:txBody>
      </p:sp>
      <p:sp>
        <p:nvSpPr>
          <p:cNvPr id="36" name="Shape 34"/>
          <p:cNvSpPr/>
          <p:nvPr/>
        </p:nvSpPr>
        <p:spPr>
          <a:xfrm>
            <a:off x="6958584" y="3566160"/>
            <a:ext cx="3657600" cy="228600"/>
          </a:xfrm>
          <a:prstGeom prst="rect">
            <a:avLst/>
          </a:prstGeom>
          <a:solidFill>
            <a:srgbClr val="DCECF6"/>
          </a:solidFill>
          <a:ln w="12700">
            <a:solidFill>
              <a:srgbClr val="DCE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13448" y="3584448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Submit assignment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6986016" y="4251960"/>
            <a:ext cx="3602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620" dirty="0"/>
          </a:p>
        </p:txBody>
      </p:sp>
      <p:sp>
        <p:nvSpPr>
          <p:cNvPr id="39" name="Text 37"/>
          <p:cNvSpPr/>
          <p:nvPr/>
        </p:nvSpPr>
        <p:spPr>
          <a:xfrm>
            <a:off x="694944" y="5102352"/>
            <a:ext cx="1298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 a task</a:t>
            </a:r>
            <a:endParaRPr lang="en-US" sz="1420" dirty="0"/>
          </a:p>
        </p:txBody>
      </p:sp>
      <p:sp>
        <p:nvSpPr>
          <p:cNvPr id="40" name="Shape 38"/>
          <p:cNvSpPr/>
          <p:nvPr/>
        </p:nvSpPr>
        <p:spPr>
          <a:xfrm>
            <a:off x="2194560" y="4736592"/>
            <a:ext cx="38221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94560" y="4736592"/>
            <a:ext cx="382219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22576" y="4773168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640" dirty="0"/>
          </a:p>
        </p:txBody>
      </p:sp>
      <p:sp>
        <p:nvSpPr>
          <p:cNvPr id="43" name="Shape 41"/>
          <p:cNvSpPr/>
          <p:nvPr/>
        </p:nvSpPr>
        <p:spPr>
          <a:xfrm>
            <a:off x="2276856" y="5010912"/>
            <a:ext cx="3657600" cy="228600"/>
          </a:xfrm>
          <a:prstGeom prst="rect">
            <a:avLst/>
          </a:prstGeom>
          <a:solidFill>
            <a:srgbClr val="DCECF6"/>
          </a:solidFill>
          <a:ln w="12700">
            <a:solidFill>
              <a:srgbClr val="DCE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31720" y="5029200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Submit assignment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2304288" y="5696712"/>
            <a:ext cx="3602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6254496" y="5166360"/>
            <a:ext cx="256032" cy="27432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76288" y="4736592"/>
            <a:ext cx="382219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76288" y="4736592"/>
            <a:ext cx="382219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04304" y="4773168"/>
            <a:ext cx="35661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640" dirty="0"/>
          </a:p>
        </p:txBody>
      </p:sp>
      <p:sp>
        <p:nvSpPr>
          <p:cNvPr id="50" name="Text 48"/>
          <p:cNvSpPr/>
          <p:nvPr/>
        </p:nvSpPr>
        <p:spPr>
          <a:xfrm>
            <a:off x="6986016" y="5047488"/>
            <a:ext cx="36027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tasks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986016" y="5696712"/>
            <a:ext cx="3602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Input, event, response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333756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text: Submit assignment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696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2834640"/>
            <a:ext cx="333756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Add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9187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93024" y="2834640"/>
            <a:ext cx="333756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row in the list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script has one execution path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program requests input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processes input at a fixed point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prints a result and continues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input("Task: ")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= text.strip()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print(f"Added: {text}")</a:t>
            </a:r>
            <a:endParaRPr lang="en-US" sz="15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GUI has several possible next steps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3803904" y="1847088"/>
            <a:ext cx="45720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1847088"/>
            <a:ext cx="4572000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920240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023360" y="232257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023360" y="2743200"/>
            <a:ext cx="303141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2825496"/>
            <a:ext cx="28302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assignment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164507" y="2743200"/>
            <a:ext cx="991941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4507" y="2825496"/>
            <a:ext cx="9919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023360" y="3337560"/>
            <a:ext cx="4133088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42232" y="3429000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Review callbacks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4023360" y="5157216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5230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739128" y="5157216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5230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023360" y="5623560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" y="2176272"/>
            <a:ext cx="2578608" cy="694944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232257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3291840" y="2523744"/>
            <a:ext cx="512064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87968" y="2176272"/>
            <a:ext cx="2578608" cy="694944"/>
          </a:xfrm>
          <a:prstGeom prst="rect">
            <a:avLst/>
          </a:prstGeom>
          <a:solidFill>
            <a:srgbClr val="EAF3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97696" y="2322576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8375904" y="2523744"/>
            <a:ext cx="512064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" y="4434840"/>
            <a:ext cx="2578608" cy="694944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5811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 Enter</a:t>
            </a:r>
            <a:endParaRPr lang="en-US" sz="1420" dirty="0"/>
          </a:p>
        </p:txBody>
      </p:sp>
      <p:sp>
        <p:nvSpPr>
          <p:cNvPr id="32" name="Shape 30"/>
          <p:cNvSpPr/>
          <p:nvPr/>
        </p:nvSpPr>
        <p:spPr>
          <a:xfrm>
            <a:off x="3291840" y="4782312"/>
            <a:ext cx="512064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87968" y="4434840"/>
            <a:ext cx="2578608" cy="694944"/>
          </a:xfrm>
          <a:prstGeom prst="rect">
            <a:avLst/>
          </a:prstGeom>
          <a:solidFill>
            <a:srgbClr val="EAF3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97696" y="4581144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the window</a:t>
            </a:r>
            <a:endParaRPr lang="en-US" sz="1420" dirty="0"/>
          </a:p>
        </p:txBody>
      </p:sp>
      <p:sp>
        <p:nvSpPr>
          <p:cNvPr id="35" name="Shape 33"/>
          <p:cNvSpPr/>
          <p:nvPr/>
        </p:nvSpPr>
        <p:spPr>
          <a:xfrm>
            <a:off x="8375904" y="4782312"/>
            <a:ext cx="512064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Lecture objectives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868680" y="1938528"/>
            <a:ext cx="992124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role of mainloop()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a callback to a button and the Enter key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Entry input and change application state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application data and the window in sync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smallest Tkinter window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tkinter as tk</a:t>
            </a:r>
            <a:endParaRPr lang="en-US" sz="1510" dirty="0"/>
          </a:p>
          <a:p>
            <a:pPr algn="l" indent="0" marL="0">
              <a:buNone/>
            </a:pP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root.title("My tasks")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root.mainloop()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Tk() creates the main window; title() sets its title-bar text.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mainloop() keeps the program open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waits for operating-system events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dispatches them to connected callbacks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ends after the main window is closed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root.title("My tasks")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root.mainloop()  # event loop</a:t>
            </a:r>
            <a:endParaRPr lang="en-US" sz="15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without mainloop()?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WITHOUT THE EVENT LOOP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root.title("My tasks")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program reaches its end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THE EVENT LOOP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root.title("My tasks")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root.mainloop()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mainloop(), the program does not provide a persistently usable window; with it, the window stays open and responds.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widget: Label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 = tk.Label(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root,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text="My tasks",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font=("Arial", 16, "bold"),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heading.grid(row=0, column=0, columnspan=2)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a widget and placing it with grid() are two separate steps.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Entry holds the current text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typing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96112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370332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 is empty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9611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14223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4223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896112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typing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48272" y="3026664"/>
            <a:ext cx="3233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assignment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370332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 is empty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= tk.Entry(root, width=34)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entry.grid(row=1, column=0)</a:t>
            </a:r>
            <a:endParaRPr lang="en-US" sz="1320" dirty="0"/>
          </a:p>
        </p:txBody>
      </p:sp>
      <p:sp>
        <p:nvSpPr>
          <p:cNvPr id="44" name="Text 42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text is only in the widget. No operation has run yet.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Button only exists for now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add_button = tk.Button(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root,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text="Add",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add_button.grid(row=1, column=1)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2807208"/>
            <a:ext cx="29553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assignment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348386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 is empty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button is visible, but without command it has no application behaviour yet.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grid() places widgets in rows and columns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965960"/>
            <a:ext cx="47091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22192" y="1965960"/>
            <a:ext cx="0" cy="269748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3154680"/>
            <a:ext cx="470916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69164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13632" y="16916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77824" y="2386584"/>
            <a:ext cx="4379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heading · columnspan=2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3566160"/>
            <a:ext cx="2788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 · row=1, column=0</a:t>
            </a:r>
            <a:endParaRPr lang="en-US" sz="1240" dirty="0"/>
          </a:p>
        </p:txBody>
      </p:sp>
      <p:sp>
        <p:nvSpPr>
          <p:cNvPr id="16" name="Text 14"/>
          <p:cNvSpPr/>
          <p:nvPr/>
        </p:nvSpPr>
        <p:spPr>
          <a:xfrm>
            <a:off x="3913632" y="356616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 · row=1, column=1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5897880" y="1874520"/>
            <a:ext cx="5614416" cy="352044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1874520"/>
            <a:ext cx="5614416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17336" y="1993392"/>
            <a:ext cx="5175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20" name="Text 18"/>
          <p:cNvSpPr/>
          <p:nvPr/>
        </p:nvSpPr>
        <p:spPr>
          <a:xfrm>
            <a:off x="6117336" y="2532888"/>
            <a:ext cx="5138928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heading.grid(row=0, column=0, columnspan=2)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entry.grid(row=1, column=0)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add_button.grid(row=1, column=1)</a:t>
            </a:r>
            <a:endParaRPr lang="en-US" sz="15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Spacing makes the same layout easier to read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spacing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731520" y="2395728"/>
            <a:ext cx="4992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31520" y="2670048"/>
            <a:ext cx="368466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752344"/>
            <a:ext cx="348349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assignment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525914" y="2670048"/>
            <a:ext cx="1198230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5914" y="2752344"/>
            <a:ext cx="119823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731520" y="3118104"/>
            <a:ext cx="499262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282696"/>
            <a:ext cx="4700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 is empty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731520" y="3941064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142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306824" y="3941064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6824" y="40142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31520" y="4407408"/>
            <a:ext cx="4992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padx, pady and sticky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3026664"/>
            <a:ext cx="3233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assignment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84848" y="370332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 is empty</a:t>
            </a:r>
            <a:endParaRPr lang="en-US" sz="920" dirty="0"/>
          </a:p>
        </p:txBody>
      </p:sp>
      <p:sp>
        <p:nvSpPr>
          <p:cNvPr id="36" name="Shape 34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vstup.grid(row=1, column=0, padx=12, pady=8, sticky="ew")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pridat.grid(row=1, column=1, padx=(0, 12), pady=8)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use only the parameters that help this particular layout.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program state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tkinter as tk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root.title("My tasks")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 = tk.Label(root, text="My tasks")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= tk.Entry(root, width=34)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add_button = tk.Button(root, text="Add")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heading.grid(row=0, column=0, columnspan=2)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entry.grid(row=1, column=0, padx=12, pady=8)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add_button.grid(row=1, column=1, padx=(0, 12))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root.mainloop()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2807208"/>
            <a:ext cx="29553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assignment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348386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 is empty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visible element has a matching widget creation and placement call.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click is an event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3803904" y="1847088"/>
            <a:ext cx="457200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03904" y="1847088"/>
            <a:ext cx="4572000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920240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023360" y="2322576"/>
            <a:ext cx="4133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023360" y="2743200"/>
            <a:ext cx="303141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2825496"/>
            <a:ext cx="283025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assignment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164507" y="2743200"/>
            <a:ext cx="991941" cy="393192"/>
          </a:xfrm>
          <a:prstGeom prst="rect">
            <a:avLst/>
          </a:prstGeom>
          <a:solidFill>
            <a:srgbClr val="DCECF6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4507" y="2825496"/>
            <a:ext cx="9919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4023360" y="3337560"/>
            <a:ext cx="4133088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9664" y="3502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 is empty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4023360" y="5157216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5230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739128" y="5157216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39128" y="523036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023360" y="5623560"/>
            <a:ext cx="4133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" y="3127248"/>
            <a:ext cx="2578608" cy="694944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27355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code should run?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3291840" y="3474720"/>
            <a:ext cx="512064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87968" y="3127248"/>
            <a:ext cx="2578608" cy="694944"/>
          </a:xfrm>
          <a:prstGeom prst="rect">
            <a:avLst/>
          </a:prstGeom>
          <a:solidFill>
            <a:srgbClr val="EAF3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97696" y="3273552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should it run?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8375904" y="3474720"/>
            <a:ext cx="512064" cy="0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button response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add_task():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print("Click")</a:t>
            </a:r>
            <a:endParaRPr lang="en-US" sz="1600" dirty="0"/>
          </a:p>
          <a:p>
            <a:pPr algn="l" indent="0" marL="0">
              <a:buNone/>
            </a:pP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add_button = tk.Button(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root, text="Add", command=add_task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Tkinter calls the callback on each click. We do not call it ourselves while creating the button.</a:t>
            </a:r>
            <a:endParaRPr lang="en-US" sz="1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needs a function, not its result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CORRECT · LATER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command=add_task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passes the function object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call comes after a click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 · IMMEDIATELY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command=add_task()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calls the function while creating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button and stores its result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Parentheses mean an immediate call. Without parentheses, we pass the function for Tkinter to call later.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 Entry text at event time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add_task():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entry.get()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print(repr(text))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empty field → ''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 text  → 'Submit assignment'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widget is the source of the current value. We call get() inside the callback.</a:t>
            </a:r>
            <a:endParaRPr lang="en-US" sz="1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Ignore empty input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add_task():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entry.get().strip()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text: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510" dirty="0"/>
          </a:p>
          <a:p>
            <a:pPr algn="l" indent="0" marL="0">
              <a:buNone/>
            </a:pP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print(f"Added: {text}")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14032" y="2807208"/>
            <a:ext cx="295534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 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3483864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 is empty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strip() turns whitespace-only input into an empty string; nothing is added to the list.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Listbox displays the new task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the click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026664"/>
            <a:ext cx="3233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assignment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96112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703320"/>
            <a:ext cx="4370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list is empty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89611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4223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96112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click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3026664"/>
            <a:ext cx="32333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assignment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63016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task_list = tk.Listbox(root, height=7)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task_list.grid(row=2, column=0, columnspan=2, sticky="ew")</a:t>
            </a:r>
            <a:endParaRPr lang="en-US" sz="1320" dirty="0"/>
          </a:p>
          <a:p>
            <a:pPr algn="l" indent="0" marL="0">
              <a:buNone/>
            </a:pP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task_list.insert(tk.END, text)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tk.END inserts after the last existing row.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 the input after adding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add_task():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entry.get().strip()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text: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510" dirty="0"/>
          </a:p>
          <a:p>
            <a:pPr algn="l" indent="0" marL="0">
              <a:buNone/>
            </a:pP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task_list.insert(tk.END, text)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entry.delete(0, tk.END)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341071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matters: read the text, insert it, and only then clear the field.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 triggers the same operation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749808" y="1920240"/>
            <a:ext cx="4160520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button uses command without an argument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bind() passes an event object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logic remains in add_task()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413248" y="1792224"/>
            <a:ext cx="5925312" cy="416052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13248" y="1792224"/>
            <a:ext cx="5925312" cy="329184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41848" y="1901952"/>
            <a:ext cx="5394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3" name="Text 11"/>
          <p:cNvSpPr/>
          <p:nvPr/>
        </p:nvSpPr>
        <p:spPr>
          <a:xfrm>
            <a:off x="5641848" y="2331720"/>
            <a:ext cx="5340096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add_with_enter(event):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add_task()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entry.bind("&lt;Return&gt;", add_with_enter)</a:t>
            </a:r>
            <a:endParaRPr lang="en-US" sz="1520" dirty="0"/>
          </a:p>
          <a:p>
            <a:pPr algn="l" indent="0" marL="0">
              <a:buNone/>
            </a:pP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button: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command=add_task</a:t>
            </a:r>
            <a:endParaRPr lang="en-US" sz="15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ways to connect a response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13232" y="1883664"/>
            <a:ext cx="5010912" cy="0"/>
          </a:xfrm>
          <a:prstGeom prst="line">
            <a:avLst/>
          </a:prstGeom>
          <a:noFill/>
          <a:ln w="12700">
            <a:solidFill>
              <a:srgbClr val="167C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command=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9808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button option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callback without an event parameter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command=add_task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373368" y="1883664"/>
            <a:ext cx="5010912" cy="0"/>
          </a:xfrm>
          <a:prstGeom prst="line">
            <a:avLst/>
          </a:prstGeom>
          <a:noFill/>
          <a:ln w="12700">
            <a:solidFill>
              <a:srgbClr val="E0A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3368" y="2139696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bind()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09944" y="2688336"/>
            <a:ext cx="4919472" cy="3886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 widget event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callback receives event</a:t>
            </a:r>
            <a:endParaRPr lang="en-US" sz="1620" dirty="0"/>
          </a:p>
          <a:p>
            <a:pPr marL="228600" indent="-228600">
              <a:buSzPct val="100000"/>
              <a:buChar char="•"/>
            </a:pPr>
            <a:r>
              <a:rPr lang="en-US" sz="1620" dirty="0">
                <a:solidFill>
                  <a:srgbClr val="18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entry.bind("&lt;Return&gt;", add_with_enter)</a:t>
            </a:r>
            <a:endParaRPr lang="en-US" sz="16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After a callback, the application waits again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window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2633472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846320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059168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2834640"/>
            <a:ext cx="1984248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43216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list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9272016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46336" y="2834640"/>
            <a:ext cx="1984248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56064" y="3063240"/>
            <a:ext cx="1764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again</a:t>
            </a:r>
            <a:endParaRPr lang="en-US" sz="14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task as a data record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= [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"Submit assignment", "done": False},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"Review callbacks", "done": True},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tasks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incomplete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text and completion belong in application data, not only in a rendered row.</a:t>
            </a:r>
            <a:endParaRPr lang="en-US" sz="17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state and its view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76656" y="1847088"/>
            <a:ext cx="4800600" cy="3968496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847088"/>
            <a:ext cx="480060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65960"/>
            <a:ext cx="4361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96112" y="2505456"/>
            <a:ext cx="432511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= [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"Submit assignment", "done": False},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{"text": "Review callbacks", "done": True},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760720" y="3566160"/>
            <a:ext cx="310896" cy="38404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1847088"/>
            <a:ext cx="5084064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847088"/>
            <a:ext cx="5084064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920240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6638544" y="232257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638544" y="2743200"/>
            <a:ext cx="342058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68860" y="2743200"/>
            <a:ext cx="111483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8860" y="2825496"/>
            <a:ext cx="11148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638544" y="3337560"/>
            <a:ext cx="4645152" cy="158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3429000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6757416" y="3813048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Review callbacks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6638544" y="505663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38544" y="51297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866376" y="505663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66376" y="51297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6638544" y="552297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68096" y="6089904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is the source of truth. After changing it, rebuild the window contents from the data.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refresh_view() projects data into the Listbox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refresh_view():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task_list.delete(0, tk.END)</a:t>
            </a:r>
            <a:endParaRPr lang="en-US" sz="1510" dirty="0"/>
          </a:p>
          <a:p>
            <a:pPr algn="l" indent="0" marL="0">
              <a:buNone/>
            </a:pP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task in tasks: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mark = "[x]" if task["done"] else "[ ]"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row = f"{mark} {task['text']}"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task_list.insert(tk.END, row)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341071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123176" y="379476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Review callbacks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remove old rows, then render the exact current data state.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state has one display rule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INCOMPLETE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= {"text": "Submit assignment",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"done": False}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6336792" y="1828800"/>
            <a:ext cx="5193792" cy="325526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28800"/>
            <a:ext cx="5193792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6248" y="1947672"/>
            <a:ext cx="4754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556248" y="2487168"/>
            <a:ext cx="471830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= {"text": "Submit assignment",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"done": True}</a:t>
            </a:r>
            <a:endParaRPr lang="en-US" sz="1620" dirty="0"/>
          </a:p>
          <a:p>
            <a:pPr algn="l" indent="0" marL="0">
              <a:buNone/>
            </a:pP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Submit assignment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749808" y="5486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 is derived from the boolean value; it is not a second independent state.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Adding changes data, then refreshes the window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add_task():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entry.get().strip()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text: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tasks.append({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"text": text,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"done": False,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entry.delete(0, tk.END)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refresh_view()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341071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looks the same as before, but the application now also knows the done state.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curselection() returns the selected row position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selection → ()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96112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36301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014984" y="39730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Review callbacks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9611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4223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96112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row → (1,)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36301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6665976" y="3909060"/>
            <a:ext cx="4608576" cy="342900"/>
          </a:xfrm>
          <a:prstGeom prst="rect">
            <a:avLst/>
          </a:prstGeom>
          <a:solidFill>
            <a:srgbClr val="DCECF6"/>
          </a:solidFill>
          <a:ln w="12700">
            <a:solidFill>
              <a:srgbClr val="DCE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39730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Review callbacks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5" name="Text 43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selection = task_list.curselection()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print(selection)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 is a tuple of indices. This Listbox uses one selected index.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Without a selection, the callback exits safely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5669280" cy="4224528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783080"/>
            <a:ext cx="56692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1901952"/>
            <a:ext cx="5230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77824" y="2441448"/>
            <a:ext cx="519379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toggle_done():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selection = task_list.curselection()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selection:</a:t>
            </a: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510" dirty="0"/>
          </a:p>
          <a:p>
            <a:pPr algn="l" indent="0" marL="0">
              <a:buNone/>
            </a:pPr>
            <a:endParaRPr lang="en-US" sz="1510" dirty="0"/>
          </a:p>
          <a:p>
            <a:pPr algn="l" indent="0" marL="0">
              <a:buNone/>
            </a:pPr>
            <a:r>
              <a:rPr lang="en-US" sz="151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 = selection[0]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6784848" y="1828800"/>
            <a:ext cx="473659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4848" y="1828800"/>
            <a:ext cx="473659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12864" y="190195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7004304" y="23042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004304" y="2724912"/>
            <a:ext cx="3156509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70541" y="2724912"/>
            <a:ext cx="1031443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70541" y="2807208"/>
            <a:ext cx="103144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004304" y="3319272"/>
            <a:ext cx="42976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23176" y="3410712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7123176" y="3794760"/>
            <a:ext cx="4059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Review callbacks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00430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0430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84664" y="518464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84664" y="52578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7004304" y="565099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10819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GUI must not assume that the user performed actions in the order we expected.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selected task changes state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the click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96112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3544" y="3566160"/>
            <a:ext cx="4608576" cy="384048"/>
          </a:xfrm>
          <a:prstGeom prst="rect">
            <a:avLst/>
          </a:prstGeom>
          <a:solidFill>
            <a:srgbClr val="DCECF6"/>
          </a:solidFill>
          <a:ln w="12700">
            <a:solidFill>
              <a:srgbClr val="DCE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4984" y="363016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9611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4223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96112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click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65976" y="3566160"/>
            <a:ext cx="4608576" cy="384048"/>
          </a:xfrm>
          <a:prstGeom prst="rect">
            <a:avLst/>
          </a:prstGeom>
          <a:solidFill>
            <a:srgbClr val="DCECF6"/>
          </a:solidFill>
          <a:ln w="12700">
            <a:solidFill>
              <a:srgbClr val="DCE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57416" y="3630168"/>
            <a:ext cx="4425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Submit assignment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= selection[0]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tasks[index]["done"] = True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refresh_view()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task_list.selection_set(index)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redrawing, select the same index again because delete() removes the original selection.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Repeated clicks toggle the state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69037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828800"/>
            <a:ext cx="690372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47672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spc="35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877824" y="2359152"/>
            <a:ext cx="638251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tasks[index]["done"] = (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 tasks[index]["done"]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refresh_view()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task_list.selection_set(index)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936992" y="1883664"/>
            <a:ext cx="0" cy="363931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8483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5" kern="0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10" dirty="0"/>
          </a:p>
        </p:txBody>
      </p:sp>
      <p:sp>
        <p:nvSpPr>
          <p:cNvPr id="15" name="Text 13"/>
          <p:cNvSpPr/>
          <p:nvPr/>
        </p:nvSpPr>
        <p:spPr>
          <a:xfrm>
            <a:off x="8229600" y="2395728"/>
            <a:ext cx="2816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1st click: [ ] → [x]</a:t>
            </a:r>
            <a:endParaRPr lang="en-US" sz="1520" dirty="0"/>
          </a:p>
          <a:p>
            <a:pPr algn="l" indent="0" marL="0">
              <a:buNone/>
            </a:pPr>
            <a:r>
              <a:rPr lang="en-US" sz="152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2nd click: [x] → [ ]</a:t>
            </a:r>
            <a:endParaRPr lang="en-US" sz="1520" dirty="0"/>
          </a:p>
        </p:txBody>
      </p:sp>
      <p:sp>
        <p:nvSpPr>
          <p:cNvPr id="16" name="Text 14"/>
          <p:cNvSpPr/>
          <p:nvPr/>
        </p:nvSpPr>
        <p:spPr>
          <a:xfrm>
            <a:off x="8229600" y="3255264"/>
            <a:ext cx="28163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toggles the boolean, and restoring selection allows another click without selecting the row again.</a:t>
            </a:r>
            <a:endParaRPr lang="en-US" sz="172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Deleting changes the same source of truth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76656" y="1847088"/>
            <a:ext cx="4800600" cy="3968496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847088"/>
            <a:ext cx="480060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65960"/>
            <a:ext cx="4361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96112" y="2505456"/>
            <a:ext cx="432511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delete_task():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selection = task_list.curselection()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selection: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450" dirty="0"/>
          </a:p>
          <a:p>
            <a:pPr algn="l" indent="0" marL="0">
              <a:buNone/>
            </a:pP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 tasks[selection[0]]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refresh_view()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760720" y="3566160"/>
            <a:ext cx="310896" cy="38404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19088" y="1847088"/>
            <a:ext cx="5084064" cy="3968496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19088" y="1847088"/>
            <a:ext cx="5084064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1920240"/>
            <a:ext cx="4828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6638544" y="2322576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638544" y="2743200"/>
            <a:ext cx="3420588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68860" y="2743200"/>
            <a:ext cx="111483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8860" y="2825496"/>
            <a:ext cx="11148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638544" y="3337560"/>
            <a:ext cx="4645152" cy="158191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57416" y="3429000"/>
            <a:ext cx="4407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Review callbacks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638544" y="505663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38544" y="51297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866376" y="5056632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66376" y="51297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6638544" y="5522976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6089904"/>
            <a:ext cx="10195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deletion the data held two tasks; after del and refresh only the unselected item remains.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Incomplete count is derived data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76656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incomplete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76656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96112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0326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0326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896112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4984" y="36301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1014984" y="39730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Review callbacks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89611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142232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42232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896112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19088" y="1737360"/>
            <a:ext cx="5102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incomplete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419088" y="2048256"/>
            <a:ext cx="51023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2048256"/>
            <a:ext cx="5102352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2121408"/>
            <a:ext cx="4846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6638544" y="25237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638544" y="2944368"/>
            <a:ext cx="343448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182758" y="2944368"/>
            <a:ext cx="111922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82758" y="3026664"/>
            <a:ext cx="111922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6638544" y="3538728"/>
            <a:ext cx="46634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36301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Submit assignment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757416" y="3973068"/>
            <a:ext cx="442569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Review callbacks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663854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3854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9884664" y="4361688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84664" y="443484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6638544" y="4828032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" y="4828032"/>
            <a:ext cx="10844784" cy="1051560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" y="4828032"/>
            <a:ext cx="10844784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96112" y="4946904"/>
            <a:ext cx="104058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10" dirty="0"/>
          </a:p>
        </p:txBody>
      </p:sp>
      <p:sp>
        <p:nvSpPr>
          <p:cNvPr id="44" name="Text 42"/>
          <p:cNvSpPr/>
          <p:nvPr/>
        </p:nvSpPr>
        <p:spPr>
          <a:xfrm>
            <a:off x="896112" y="5221224"/>
            <a:ext cx="103692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 = sum(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not task["done"] for task in tasks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count_label.config(text=f"Incomplete: {remaining}")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731520" y="6089904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store the count separately; always derive it from the current tasks.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state is projected to several places in the window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731520" y="2788920"/>
            <a:ext cx="196596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0175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03320" y="2788920"/>
            <a:ext cx="2514600" cy="896112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30175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refresh_view()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52360" y="2148840"/>
            <a:ext cx="329184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377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Listbox rows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52360" y="3794760"/>
            <a:ext cx="329184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4023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 count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063240" y="3090672"/>
            <a:ext cx="228600" cy="274320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65392" y="3236976"/>
            <a:ext cx="566928" cy="-62179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3236976"/>
            <a:ext cx="566928" cy="987552"/>
          </a:xfrm>
          <a:prstGeom prst="line">
            <a:avLst/>
          </a:prstGeom>
          <a:noFill/>
          <a:ln w="12700">
            <a:solidFill>
              <a:srgbClr val="1877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166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callback changes data and then calls one refresh function, so no part of the interface is forgotten.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program: data and functions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· 1/2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tkinter as tk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= []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refresh_view():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task_list.delete(0, tk.END)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task in tasks: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mark = "[x]" if task["done"] else "[ ]"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task_list.insert(tk.END, f"{mark} {task['text']}")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remaining = sum(not t["done"] for t in tasks)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count_label.config(text=f"Incomplete: {remaining}")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CALLBACKS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add_task():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entry.get().strip()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not text: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tasks.append({"text": text, "done": False})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entry.delete(0, tk.END)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refresh_view()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toggle_done():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selection = task_list.curselection()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selection: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 = selection[0]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tasks[i]["done"] = not tasks[i]["done"]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refresh_view()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task_list.selection_set(i)</a:t>
            </a:r>
            <a:endParaRPr lang="en-US" sz="1270" dirty="0"/>
          </a:p>
          <a:p>
            <a:pPr algn="l" indent="0" marL="0">
              <a:buNone/>
            </a:pP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delete_task():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selection = task_list.curselection()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selection: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del tasks[selection[0]]</a:t>
            </a:r>
            <a:endParaRPr lang="en-US" sz="1270" dirty="0"/>
          </a:p>
          <a:p>
            <a:pPr algn="l" indent="0" marL="0">
              <a:buNone/>
            </a:pPr>
            <a:r>
              <a:rPr lang="en-US" sz="127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refresh_view()</a:t>
            </a:r>
            <a:endParaRPr lang="en-US" sz="127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program: window and widgets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440680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755648"/>
            <a:ext cx="5440680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874520"/>
            <a:ext cx="5001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 · 2/2</a:t>
            </a:r>
            <a:endParaRPr lang="en-US" sz="810" dirty="0"/>
          </a:p>
        </p:txBody>
      </p:sp>
      <p:sp>
        <p:nvSpPr>
          <p:cNvPr id="12" name="Text 10"/>
          <p:cNvSpPr/>
          <p:nvPr/>
        </p:nvSpPr>
        <p:spPr>
          <a:xfrm>
            <a:off x="859536" y="2414016"/>
            <a:ext cx="4965192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= tk.Tk()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root.title("My tasks")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root.columnconfigure(0, weight=1)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 = tk.Label(root, text="My tasks", font=("Arial", 16, "bold"))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 = tk.Entry(root, width=34)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add_button = tk.Button(root, text="Add", command=add_task)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task_list = tk.Listbox(root, height=7)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done_button = tk.Button(root, text="Done", command=toggle_done)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delete_button = tk.Button(root, text="Delete", command=delete_task)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count_label = tk.Label(root, text="")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36208" y="1755648"/>
            <a:ext cx="5321808" cy="4443984"/>
          </a:xfrm>
          <a:prstGeom prst="rect">
            <a:avLst/>
          </a:prstGeom>
          <a:solidFill>
            <a:srgbClr val="17212B"/>
          </a:solidFill>
          <a:ln w="12700">
            <a:solidFill>
              <a:srgbClr val="24324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1755648"/>
            <a:ext cx="5321808" cy="347472"/>
          </a:xfrm>
          <a:prstGeom prst="rect">
            <a:avLst/>
          </a:prstGeom>
          <a:solidFill>
            <a:srgbClr val="223044"/>
          </a:solidFill>
          <a:ln w="12700">
            <a:solidFill>
              <a:srgbClr val="223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1874520"/>
            <a:ext cx="48828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30" kern="0" dirty="0">
                <a:solidFill>
                  <a:srgbClr val="8F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 AND EVENTS</a:t>
            </a:r>
            <a:endParaRPr lang="en-US" sz="810" dirty="0"/>
          </a:p>
        </p:txBody>
      </p:sp>
      <p:sp>
        <p:nvSpPr>
          <p:cNvPr id="16" name="Text 14"/>
          <p:cNvSpPr/>
          <p:nvPr/>
        </p:nvSpPr>
        <p:spPr>
          <a:xfrm>
            <a:off x="6455664" y="2414016"/>
            <a:ext cx="484632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heading.grid(row=0, column=0, columnspan=2, pady=(12, 4))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entry.grid(row=1, column=0, padx=(12, 6), sticky="ew")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add_button.grid(row=1, column=1, padx=(0, 12))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task_list.grid(row=2, column=0, columnspan=2, padx=12, pady=8, sticky="ew")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done_button.grid(row=3, column=0, padx=12, sticky="w")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delete_button.grid(row=3, column=1, padx=12, sticky="e")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count_label.grid(row=4, column=0, columnspan=2, pady=(8, 12))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add_with_enter(event):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add_task()</a:t>
            </a:r>
            <a:endParaRPr lang="en-US" sz="1380" dirty="0"/>
          </a:p>
          <a:p>
            <a:pPr algn="l" indent="0" marL="0">
              <a:buNone/>
            </a:pP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entry.bind("&lt;Return&gt;", add_with_enter)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refresh_view()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root.mainloop()</a:t>
            </a:r>
            <a:endParaRPr lang="en-US" sz="13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complete interaction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58368" y="17647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Empty application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2176272"/>
            <a:ext cx="254203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176272"/>
            <a:ext cx="254203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2212848"/>
            <a:ext cx="2286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640" dirty="0"/>
          </a:p>
        </p:txBody>
      </p:sp>
      <p:sp>
        <p:nvSpPr>
          <p:cNvPr id="13" name="Text 11"/>
          <p:cNvSpPr/>
          <p:nvPr/>
        </p:nvSpPr>
        <p:spPr>
          <a:xfrm>
            <a:off x="768096" y="248716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tasks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768096" y="4507992"/>
            <a:ext cx="23225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620" dirty="0"/>
          </a:p>
        </p:txBody>
      </p:sp>
      <p:sp>
        <p:nvSpPr>
          <p:cNvPr id="15" name="Text 13"/>
          <p:cNvSpPr/>
          <p:nvPr/>
        </p:nvSpPr>
        <p:spPr>
          <a:xfrm>
            <a:off x="658368" y="49834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46120" y="3246120"/>
            <a:ext cx="146304" cy="237744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7647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Two tasks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56432" y="2176272"/>
            <a:ext cx="254203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56432" y="2176272"/>
            <a:ext cx="254203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4448" y="2212848"/>
            <a:ext cx="2286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640" dirty="0"/>
          </a:p>
        </p:txBody>
      </p:sp>
      <p:sp>
        <p:nvSpPr>
          <p:cNvPr id="21" name="Text 19"/>
          <p:cNvSpPr/>
          <p:nvPr/>
        </p:nvSpPr>
        <p:spPr>
          <a:xfrm>
            <a:off x="3593592" y="24688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3593592" y="26974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Review callbacks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3566160" y="4507992"/>
            <a:ext cx="23225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2</a:t>
            </a:r>
            <a:endParaRPr lang="en-US" sz="620" dirty="0"/>
          </a:p>
        </p:txBody>
      </p:sp>
      <p:sp>
        <p:nvSpPr>
          <p:cNvPr id="24" name="Text 22"/>
          <p:cNvSpPr/>
          <p:nvPr/>
        </p:nvSpPr>
        <p:spPr>
          <a:xfrm>
            <a:off x="3456432" y="49834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records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44184" y="3246120"/>
            <a:ext cx="146304" cy="237744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17647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One done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254496" y="2176272"/>
            <a:ext cx="254203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54496" y="2176272"/>
            <a:ext cx="254203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2212848"/>
            <a:ext cx="2286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640" dirty="0"/>
          </a:p>
        </p:txBody>
      </p:sp>
      <p:sp>
        <p:nvSpPr>
          <p:cNvPr id="30" name="Text 28"/>
          <p:cNvSpPr/>
          <p:nvPr/>
        </p:nvSpPr>
        <p:spPr>
          <a:xfrm>
            <a:off x="6391656" y="24688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Submit assignment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6391656" y="26974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Review callbacks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364224" y="4507992"/>
            <a:ext cx="23225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1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6254496" y="49834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 True, False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42248" y="3246120"/>
            <a:ext cx="146304" cy="237744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52560" y="1764792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Second deleted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9052560" y="2176272"/>
            <a:ext cx="254203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052560" y="2176272"/>
            <a:ext cx="2542032" cy="182880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0576" y="2212848"/>
            <a:ext cx="2286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640" dirty="0"/>
          </a:p>
        </p:txBody>
      </p:sp>
      <p:sp>
        <p:nvSpPr>
          <p:cNvPr id="39" name="Text 37"/>
          <p:cNvSpPr/>
          <p:nvPr/>
        </p:nvSpPr>
        <p:spPr>
          <a:xfrm>
            <a:off x="9189720" y="246888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[x] Submit assignment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9162288" y="4507992"/>
            <a:ext cx="232257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0</a:t>
            </a:r>
            <a:endParaRPr lang="en-US" sz="620" dirty="0"/>
          </a:p>
        </p:txBody>
      </p:sp>
      <p:sp>
        <p:nvSpPr>
          <p:cNvPr id="41" name="Text 39"/>
          <p:cNvSpPr/>
          <p:nvPr/>
        </p:nvSpPr>
        <p:spPr>
          <a:xfrm>
            <a:off x="9052560" y="4983480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record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common mistakes</a:t>
            </a:r>
            <a:endParaRPr lang="en-US" sz="28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359152"/>
          <a:ext cx="10899648" cy="301752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224528"/>
              </a:tblGrid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command=function()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 while the button is created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command=function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selection check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IndexError with no selected row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if not selection: return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 changes without refresh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window shows stale state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20" dirty="0">
                          <a:solidFill>
                            <a:srgbClr val="18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refresh_view()</a:t>
                      </a:r>
                      <a:endParaRPr lang="en-US" sz="16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mid">
                    <a:lnL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58368" y="1828800"/>
            <a:ext cx="10899648" cy="530352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9659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Mistake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2615184" y="1965960"/>
            <a:ext cx="4617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Symptom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61504" y="1965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49808" y="1481328"/>
            <a:ext cx="10287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Tasks disappear when the window closes.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768096" y="3438144"/>
            <a:ext cx="1280160" cy="91440"/>
          </a:xfrm>
          <a:prstGeom prst="rect">
            <a:avLst/>
          </a:prstGeom>
          <a:solidFill>
            <a:srgbClr val="E0A03A"/>
          </a:solidFill>
          <a:ln w="12700">
            <a:solidFill>
              <a:srgbClr val="E0A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3858768"/>
            <a:ext cx="9006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version keeps state only in process memory. Saving to JSON is a natural extension, not a prerequisite for understanding events.</a:t>
            </a:r>
            <a:endParaRPr lang="en-US" sz="2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 the application's behaviour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694944" y="1828800"/>
            <a:ext cx="4983480" cy="4133088"/>
          </a:xfrm>
          <a:prstGeom prst="rect">
            <a:avLst/>
          </a:prstGeom>
          <a:solidFill>
            <a:srgbClr val="FFFFFF"/>
          </a:solidFill>
          <a:ln w="12700">
            <a:solidFill>
              <a:srgbClr val="95A3B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828800"/>
            <a:ext cx="4983480" cy="310896"/>
          </a:xfrm>
          <a:prstGeom prst="rect">
            <a:avLst/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901952"/>
            <a:ext cx="4727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914400" y="2304288"/>
            <a:ext cx="4544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tasks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14400" y="2724912"/>
            <a:ext cx="3344144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8272" y="2724912"/>
            <a:ext cx="1090696" cy="393192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8272" y="2807208"/>
            <a:ext cx="1090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914400" y="3319272"/>
            <a:ext cx="4544568" cy="1746504"/>
          </a:xfrm>
          <a:prstGeom prst="rect">
            <a:avLst/>
          </a:prstGeom>
          <a:solidFill>
            <a:srgbClr val="FFFFFF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33272" y="3410712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Submit assignment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1033272" y="3794760"/>
            <a:ext cx="4306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821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 Review callbacks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914400" y="5202936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276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041648" y="5202936"/>
            <a:ext cx="1417320" cy="338328"/>
          </a:xfrm>
          <a:prstGeom prst="rect">
            <a:avLst/>
          </a:prstGeom>
          <a:solidFill>
            <a:srgbClr val="F3F5F7"/>
          </a:solidFill>
          <a:ln w="12700">
            <a:solidFill>
              <a:srgbClr val="929E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52760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Delete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914400" y="5669280"/>
            <a:ext cx="4544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Incomplete: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44768" y="1874520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1847088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Done with no selection</a:t>
            </a:r>
            <a:endParaRPr lang="en-US" sz="1520" dirty="0"/>
          </a:p>
        </p:txBody>
      </p:sp>
      <p:sp>
        <p:nvSpPr>
          <p:cNvPr id="26" name="Text 24"/>
          <p:cNvSpPr/>
          <p:nvPr/>
        </p:nvSpPr>
        <p:spPr>
          <a:xfrm>
            <a:off x="6583680" y="237744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Nothing changes.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6583680" y="2944368"/>
            <a:ext cx="457200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322783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3200400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spaces and Enter</a:t>
            </a:r>
            <a:endParaRPr lang="en-US" sz="1520" dirty="0"/>
          </a:p>
        </p:txBody>
      </p:sp>
      <p:sp>
        <p:nvSpPr>
          <p:cNvPr id="30" name="Text 28"/>
          <p:cNvSpPr/>
          <p:nvPr/>
        </p:nvSpPr>
        <p:spPr>
          <a:xfrm>
            <a:off x="6583680" y="3730752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input is ignored.</a:t>
            </a:r>
            <a:endParaRPr lang="en-US" sz="1420" dirty="0"/>
          </a:p>
        </p:txBody>
      </p:sp>
      <p:sp>
        <p:nvSpPr>
          <p:cNvPr id="31" name="Shape 29"/>
          <p:cNvSpPr/>
          <p:nvPr/>
        </p:nvSpPr>
        <p:spPr>
          <a:xfrm>
            <a:off x="6583680" y="4297680"/>
            <a:ext cx="4572000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4581144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77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4553712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row and two Done clicks</a:t>
            </a:r>
            <a:endParaRPr lang="en-US" sz="1520" dirty="0"/>
          </a:p>
        </p:txBody>
      </p:sp>
      <p:sp>
        <p:nvSpPr>
          <p:cNvPr id="34" name="Text 32"/>
          <p:cNvSpPr/>
          <p:nvPr/>
        </p:nvSpPr>
        <p:spPr>
          <a:xfrm>
            <a:off x="6583680" y="508406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state toggles there and back.</a:t>
            </a:r>
            <a:endParaRPr lang="en-US" sz="14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1089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spc="50" kern="0" dirty="0">
                <a:solidFill>
                  <a:srgbClr val="1877B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PROGRAMMING IN PYTHON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9829800" y="3108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LECTURE 03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566928" y="65836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6419088"/>
            <a:ext cx="11045952" cy="0"/>
          </a:xfrm>
          <a:prstGeom prst="line">
            <a:avLst/>
          </a:prstGeom>
          <a:noFill/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650138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5E6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 / 44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58368" y="91440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632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an event to a consistent interface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4944" y="16916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E6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the exercise, the same model can be extended with text editing or JSON persistence.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9494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mainloop()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3240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672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645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/ bind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04418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18504" y="2834640"/>
            <a:ext cx="2400300" cy="1042416"/>
          </a:xfrm>
          <a:prstGeom prst="rect">
            <a:avLst/>
          </a:prstGeom>
          <a:solidFill>
            <a:srgbClr val="F3F6F8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callback changes tasks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5964" y="3209544"/>
            <a:ext cx="182880" cy="292608"/>
          </a:xfrm>
          <a:prstGeom prst="chevron">
            <a:avLst/>
          </a:prstGeom>
          <a:solidFill>
            <a:srgbClr val="1877B9"/>
          </a:solidFill>
          <a:ln w="12700">
            <a:solidFill>
              <a:srgbClr val="1877B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30284" y="2834640"/>
            <a:ext cx="2400300" cy="1042416"/>
          </a:xfrm>
          <a:prstGeom prst="rect">
            <a:avLst/>
          </a:prstGeom>
          <a:solidFill>
            <a:srgbClr val="EAF3F7"/>
          </a:solidFill>
          <a:ln w="12700">
            <a:solidFill>
              <a:srgbClr val="9DCC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40012" y="3063240"/>
            <a:ext cx="21808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refresh_view()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Technická univerzita v Košiciach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and Event-Driven Programming</dc:title>
  <dc:subject>Programming in Python</dc:subject>
  <dc:creator>TUKE FEI</dc:creator>
  <cp:lastModifiedBy>TUKE FEI</cp:lastModifiedBy>
  <cp:revision>1</cp:revision>
  <dcterms:created xsi:type="dcterms:W3CDTF">2026-09-26T13:59:58Z</dcterms:created>
  <dcterms:modified xsi:type="dcterms:W3CDTF">2026-09-26T13:59:58Z</dcterms:modified>
</cp:coreProperties>
</file>