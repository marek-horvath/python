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858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829800" y="68580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01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749808" y="2066544"/>
            <a:ext cx="99212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Introduction to Python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86384" y="3273552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Python behaves in a programmer's hands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749808" y="5212080"/>
            <a:ext cx="2240280" cy="91440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55046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TUKE FEI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680192" y="625449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27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749808" y="1481328"/>
            <a:ext cx="10287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 is dynamically typed. It is not untyped.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768096" y="3438144"/>
            <a:ext cx="1280160" cy="91440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3858768"/>
            <a:ext cx="9006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type belongs to an object; a name merely refers to an object and can later refer to another one.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language, different kinds of work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94944" y="16916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foundations are used for scripts, data, APIs and desktop tools.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94944" y="2834640"/>
            <a:ext cx="2400300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23240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06724" y="2834640"/>
            <a:ext cx="2400300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645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04418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18504" y="2834640"/>
            <a:ext cx="2400300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and APIs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85596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30284" y="2834640"/>
            <a:ext cx="2400300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4001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name refers to an object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94944" y="16916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Assignment binds a name to a value. It does not automatically create a copy.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94944" y="2834640"/>
            <a:ext cx="2400300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23240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06724" y="2834640"/>
            <a:ext cx="2400300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645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04418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18504" y="2834640"/>
            <a:ext cx="2400300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85596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30284" y="2834640"/>
            <a:ext cx="2400300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4001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"excellent"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Assignment and aliasing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[72, 91]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 = results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alias.append(45)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print(results)  # [72, 91, 45]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print(alias)    # [72, 91, 45]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names refer to the same list object. The change happened to the object, not to a name.</a:t>
            </a:r>
            <a:endParaRPr lang="en-US" sz="1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is a new object created?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94944" y="1709928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assignment, a shallow copy and a nested list.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2423160"/>
            <a:ext cx="7863840" cy="3154680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423160"/>
            <a:ext cx="7863840" cy="347472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542032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896112" y="2971800"/>
            <a:ext cx="7132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 = {"scores": [80, 90]}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= original.copy()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copy["scores"].append(100)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print(original["scores"])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915400" y="2834640"/>
            <a:ext cx="20116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Justify your answer first. Then run the code.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749808" y="1481328"/>
            <a:ext cx="10287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Mutability determines whether an object can be changed in place.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768096" y="3438144"/>
            <a:ext cx="1280160" cy="91440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3858768"/>
            <a:ext cx="9006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list, dict and set are mutable. str, tuple, int and float are immutable.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Share or copy?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5010912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shared object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9808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= a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change through b is visible through a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only for intentional sharing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373368" y="1883664"/>
            <a:ext cx="5010912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independent value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09944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= a.copy()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new outer object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nested mutable objects can remain shared</a:t>
            </a:r>
            <a:endParaRPr lang="en-US" sz="16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Shallow and deep copy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749808" y="1920240"/>
            <a:ext cx="416052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dict.copy() copies only the outer dictionary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deepcopy creates an independent copy of the whole object graph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deepcopy only when it is genuinely needed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413248" y="1792224"/>
            <a:ext cx="5925312" cy="416052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13248" y="1792224"/>
            <a:ext cx="5925312" cy="329184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41848" y="190195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13" name="Text 11"/>
          <p:cNvSpPr/>
          <p:nvPr/>
        </p:nvSpPr>
        <p:spPr>
          <a:xfrm>
            <a:off x="5641848" y="2331720"/>
            <a:ext cx="5340096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copy import deepcopy</a:t>
            </a:r>
            <a:endParaRPr lang="en-US" sz="1520" dirty="0"/>
          </a:p>
          <a:p>
            <a:pPr algn="l" indent="0" marL="0">
              <a:buNone/>
            </a:pP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 = {"scores": [80, 90]}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shallow = original.copy()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 = deepcopy(original)</a:t>
            </a:r>
            <a:endParaRPr lang="en-US" sz="1520" dirty="0"/>
          </a:p>
          <a:p>
            <a:pPr algn="l" indent="0" marL="0">
              <a:buNone/>
            </a:pP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shallow["scores"].append(100)</a:t>
            </a:r>
            <a:endParaRPr lang="en-US" sz="15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Choose a collection by operation</a:t>
            </a:r>
            <a:endParaRPr lang="en-US" sz="2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828800"/>
          <a:ext cx="10899648" cy="356616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22452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Structure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When we need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Example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list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and duplicates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processed files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tuple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fixed record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(x, y) coordinates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unique values or fast membership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permissions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dict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value by key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id → user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58368" y="1828800"/>
            <a:ext cx="10899648" cy="53035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615184" y="1965960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we need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461504" y="19659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Iterate over values, not indexes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749808" y="1920240"/>
            <a:ext cx="416052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index matters only when the program truly uses it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.items() names both key and value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enumerate adds an ordinal without range(len(...))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413248" y="1792224"/>
            <a:ext cx="5925312" cy="416052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13248" y="1792224"/>
            <a:ext cx="5925312" cy="329184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41848" y="190195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13" name="Text 11"/>
          <p:cNvSpPr/>
          <p:nvPr/>
        </p:nvSpPr>
        <p:spPr>
          <a:xfrm>
            <a:off x="5641848" y="2331720"/>
            <a:ext cx="5340096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{"Anna": 92, "Peter": 67}</a:t>
            </a:r>
            <a:endParaRPr lang="en-US" sz="1520" dirty="0"/>
          </a:p>
          <a:p>
            <a:pPr algn="l" indent="0" marL="0">
              <a:buNone/>
            </a:pP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name, score in scores.items():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print(name, score)</a:t>
            </a:r>
            <a:endParaRPr lang="en-US" sz="1520" dirty="0"/>
          </a:p>
          <a:p>
            <a:pPr algn="l" indent="0" marL="0">
              <a:buNone/>
            </a:pP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index, name in enumerate(scores, start=1):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print(index, name)</a:t>
            </a:r>
            <a:endParaRPr lang="en-US" sz="15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zip connects related sequences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 = ["Anna", "Peter", "Lucia"]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points = [92, 67, 81]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name, score in zip(names, points):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print(f"{name}: {score}")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values have their own identity and more attributes are added, a dataclass is usually better than multiple parallel lists.</a:t>
            </a:r>
            <a:endParaRPr lang="en-US" sz="17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Slicing and unpacking express structure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= [10, 20, 30, 40, 50, 60]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first_three = values[:3]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every_second = values[::2]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reversed_copy = values[::-1]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first, *middle, last = values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print(first, middle, last)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Slicing creates a new sequence. Unpacking is useful when parts of a record have a clear meaning.</a:t>
            </a:r>
            <a:endParaRPr lang="en-US" sz="15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749808" y="1481328"/>
            <a:ext cx="10287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comprehension shortens one clear transformation. Not an entire algorithm.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768096" y="3438144"/>
            <a:ext cx="1280160" cy="91440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3858768"/>
            <a:ext cx="9006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procedure must be readable first. Only then consider a shorter form.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a loop to a comprehension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749808" y="1920240"/>
            <a:ext cx="416052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input: all results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selection: passing only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transformation: square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413248" y="1792224"/>
            <a:ext cx="5925312" cy="416052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13248" y="1792224"/>
            <a:ext cx="5925312" cy="329184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41848" y="190195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13" name="Text 11"/>
          <p:cNvSpPr/>
          <p:nvPr/>
        </p:nvSpPr>
        <p:spPr>
          <a:xfrm>
            <a:off x="5641848" y="2331720"/>
            <a:ext cx="5340096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[72, 91, 45, 88]</a:t>
            </a:r>
            <a:endParaRPr lang="en-US" sz="1520" dirty="0"/>
          </a:p>
          <a:p>
            <a:pPr algn="l" indent="0" marL="0">
              <a:buNone/>
            </a:pP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passed = []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score in scores: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score &gt;= 51: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passed.append(score ** 2)</a:t>
            </a:r>
            <a:endParaRPr lang="en-US" sz="1520" dirty="0"/>
          </a:p>
          <a:p>
            <a:pPr algn="l" indent="0" marL="0">
              <a:buNone/>
            </a:pP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[score ** 2 for score in scores if score &gt;= 51]</a:t>
            </a:r>
            <a:endParaRPr lang="en-US" sz="15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shorter form is not always better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Čitateľ musí naraz sledovať tri vnorené kroky.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 =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course: sorted({result.student for result in results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if result.course == course and result.points &gt;= 51})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course in {result.course for result in results}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Pri zložitejšom pravidle radšej použite pomenované medzivýsledky a cyklus.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comprehension is not a measure of Python code quality. Readability takes priority over compactness.</a:t>
            </a:r>
            <a:endParaRPr lang="en-US" sz="15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function is a contract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94944" y="16916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good signature shows what data a function accepts, what it returns and when it can fail.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94944" y="2834640"/>
            <a:ext cx="2400300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23240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06724" y="2834640"/>
            <a:ext cx="2400300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645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04418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18504" y="2834640"/>
            <a:ext cx="2400300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value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85596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30284" y="2834640"/>
            <a:ext cx="2400300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4001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 for invalid input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Type hints complement the contract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average(values: list[float]) -&gt; float: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values: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ValueError("values must not be empty")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sum(values) / len(values)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 hints help the reader, IDE and static checking. They do not enforce types at runtime by themselves.</a:t>
            </a:r>
            <a:endParaRPr lang="en-US" sz="17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mutable default argument is shared state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749808" y="1920240"/>
            <a:ext cx="416052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default value is created when the function is defined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list or dict is then shared between calls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 creates a new object only inside the function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413248" y="1792224"/>
            <a:ext cx="5925312" cy="416052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13248" y="1792224"/>
            <a:ext cx="5925312" cy="329184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41848" y="190195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13" name="Text 11"/>
          <p:cNvSpPr/>
          <p:nvPr/>
        </p:nvSpPr>
        <p:spPr>
          <a:xfrm>
            <a:off x="5641848" y="2331720"/>
            <a:ext cx="5340096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add_student(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str, students: list[str] | None = None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list[str]: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students is None: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students = []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students.append(name)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students</a:t>
            </a:r>
            <a:endParaRPr lang="en-US" sz="15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 anonymous record or a data model?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5010912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Tuple / dict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9808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("Anna", "Python", 92)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must remember the meaning of positions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reasonable for a small local record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373368" y="1883664"/>
            <a:ext cx="5010912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dataclass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09944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Result(student, course, points)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attributes describe data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better interface for your program</a:t>
            </a:r>
            <a:endParaRPr lang="en-US" sz="16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dataclass names a domain object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dataclasses import dataclass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@dataclass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Result: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student: str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course: str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points: int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passed(self) -&gt; bool: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self.points &gt;= 51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dataclass is not mandatory everywhere. It is useful where values describe one thing together.</a:t>
            </a:r>
            <a:endParaRPr lang="en-US" sz="17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749808" y="1481328"/>
            <a:ext cx="10287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 operation can fail. An exception should name the specific problem.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768096" y="3438144"/>
            <a:ext cx="1280160" cy="91440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3858768"/>
            <a:ext cx="9006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Catch only an error for which we can reasonably help the user or calling code.</a:t>
            </a:r>
            <a:endParaRPr lang="en-US" sz="2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specific exception, a specific response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749808" y="1920240"/>
            <a:ext cx="416052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int() can fail on non-numeric input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ValueError is part of this operation's contract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except: pass only hides a problem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413248" y="1792224"/>
            <a:ext cx="5925312" cy="416052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13248" y="1792224"/>
            <a:ext cx="5925312" cy="329184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41848" y="190195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13" name="Text 11"/>
          <p:cNvSpPr/>
          <p:nvPr/>
        </p:nvSpPr>
        <p:spPr>
          <a:xfrm>
            <a:off x="5641848" y="2331720"/>
            <a:ext cx="5340096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read_score(raw: str) -&gt; int: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int(raw)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ValueError as error: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ValueError(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"score must be an integer"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 from error</a:t>
            </a:r>
            <a:endParaRPr lang="en-US" sz="15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module is a code interface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749808" y="1920240"/>
            <a:ext cx="416052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 only public functionality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main() separates program execution from import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functions can then be tested without a terminal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413248" y="1792224"/>
            <a:ext cx="5925312" cy="416052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13248" y="1792224"/>
            <a:ext cx="5925312" cy="329184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41848" y="190195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13" name="Text 11"/>
          <p:cNvSpPr/>
          <p:nvPr/>
        </p:nvSpPr>
        <p:spPr>
          <a:xfrm>
            <a:off x="5641848" y="2331720"/>
            <a:ext cx="5340096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report import build_summary</a:t>
            </a:r>
            <a:endParaRPr lang="en-US" sz="1520" dirty="0"/>
          </a:p>
          <a:p>
            <a:pPr algn="l" indent="0" marL="0">
              <a:buNone/>
            </a:pP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main() -&gt; None: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summary = build_summary("results.csv")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print(summary)</a:t>
            </a:r>
            <a:endParaRPr lang="en-US" sz="1520" dirty="0"/>
          </a:p>
          <a:p>
            <a:pPr algn="l" indent="0" marL="0">
              <a:buNone/>
            </a:pP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__name__ == "__main__":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main()</a:t>
            </a:r>
            <a:endParaRPr lang="en-US" sz="15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project needs its own environment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/ pyproject.toml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.venv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Windows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.venv\Scripts\activate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pip install httpx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pyproject.toml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[project]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"course-report"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dependencies = ["httpx&gt;=0.27"]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virtual environment isolates dependencies. pyproject.toml describes what the project needs on another computer.</a:t>
            </a:r>
            <a:endParaRPr lang="en-US" sz="15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small program composes familiar parts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passed_by_course(results: list[Result]) -&gt; dict[str, list[str]]: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grouped: dict[str, list[str]] = {}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result in results: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result.passed():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grouped.setdefault(result.course, []).append(result.student)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grouped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kolekcia + funkcia + dataclass + type hints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print(passed_by_course(results))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Pythonic code does not come from one trick. It comes from precise names, suitable structures and small verifiable parts.</a:t>
            </a:r>
            <a:endParaRPr lang="en-US" sz="15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749808" y="1481328"/>
            <a:ext cx="10287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Good Python code shows intent before the author's cleverness.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768096" y="3438144"/>
            <a:ext cx="1280160" cy="91440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3858768"/>
            <a:ext cx="9006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foundations will reappear in files, GUI, HTTP, databases and testing in the following weeks.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Technická univerzita v Košiciach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Python</dc:title>
  <dc:subject>Programming in Python</dc:subject>
  <dc:creator>TUKE FEI</dc:creator>
  <cp:lastModifiedBy>TUKE FEI</cp:lastModifiedBy>
  <cp:revision>1</cp:revision>
  <dcterms:created xsi:type="dcterms:W3CDTF">2026-09-15T21:51:32Z</dcterms:created>
  <dcterms:modified xsi:type="dcterms:W3CDTF">2026-09-15T21:51:32Z</dcterms:modified>
</cp:coreProperties>
</file>