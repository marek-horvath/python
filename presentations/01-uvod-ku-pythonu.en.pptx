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9829800" y="685800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20" dirty="0"/>
          </a:p>
        </p:txBody>
      </p:sp>
      <p:sp>
        <p:nvSpPr>
          <p:cNvPr id="5" name="Text 3"/>
          <p:cNvSpPr/>
          <p:nvPr/>
        </p:nvSpPr>
        <p:spPr>
          <a:xfrm>
            <a:off x="749808" y="2066544"/>
            <a:ext cx="9921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Introduction to Python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86384" y="3273552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Python behaves in a programmer's hands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749808" y="5212080"/>
            <a:ext cx="224028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680192" y="625449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26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Python is dynamically typed. It is not untyped.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type belongs to an object; a name merely refers to an object and can later refer to another one.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language, different kinds of work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foundations are used for scripts, data, APIs and desktop tools.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9494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23240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0672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645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04418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1850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823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and APIs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85596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3028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4001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tools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name refers to an object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94944" y="1700784"/>
            <a:ext cx="9784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type belongs to an object. Reassignment changes a name binding, not the original object.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749808" y="248716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 BINDING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749808" y="2834640"/>
            <a:ext cx="1965960" cy="85953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9536" y="31089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962656" y="3108960"/>
            <a:ext cx="347472" cy="274320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38728" y="2761488"/>
            <a:ext cx="1828800" cy="1024128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48456" y="2999232"/>
            <a:ext cx="16093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6876288" y="248716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REASSIGNMENT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876288" y="2834640"/>
            <a:ext cx="1965960" cy="85953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86016" y="31089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089136" y="3108960"/>
            <a:ext cx="347472" cy="274320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65208" y="2761488"/>
            <a:ext cx="1828800" cy="1024128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74936" y="2999232"/>
            <a:ext cx="16093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"excellent"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768096" y="464515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object 92 still exists; only the score name binding changed.</a:t>
            </a:r>
            <a:endParaRPr lang="en-US" sz="1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Assignment and aliasing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[72, 91]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alias = results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alias.append(45)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print(results)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print(alias)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endParaRPr lang="en-US" sz="810" dirty="0"/>
          </a:p>
        </p:txBody>
      </p:sp>
      <p:sp>
        <p:nvSpPr>
          <p:cNvPr id="15" name="Text 13"/>
          <p:cNvSpPr/>
          <p:nvPr/>
        </p:nvSpPr>
        <p:spPr>
          <a:xfrm>
            <a:off x="8229600" y="2395728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[72, 91, 45]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[72, 91, 45]</a:t>
            </a:r>
            <a:endParaRPr lang="en-US" sz="1520" dirty="0"/>
          </a:p>
        </p:txBody>
      </p:sp>
      <p:sp>
        <p:nvSpPr>
          <p:cNvPr id="16" name="Text 14"/>
          <p:cNvSpPr/>
          <p:nvPr/>
        </p:nvSpPr>
        <p:spPr>
          <a:xfrm>
            <a:off x="8229600" y="3255264"/>
            <a:ext cx="281635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names refer to the same list object. The change happened to the object, not to a name.</a:t>
            </a:r>
            <a:endParaRPr lang="en-US" sz="17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Where is a new object created?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94944" y="1700784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assignment, a shallow copy and a nested list.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658368" y="2359152"/>
            <a:ext cx="5925312" cy="333756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359152"/>
            <a:ext cx="5925312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2478024"/>
            <a:ext cx="5486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877824" y="3017520"/>
            <a:ext cx="544982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 = {"scores": [80, 90]}</a:t>
            </a:r>
            <a:endParaRPr lang="en-US" sz="1580" dirty="0"/>
          </a:p>
          <a:p>
            <a:pPr algn="l" indent="0" marL="0">
              <a:buNone/>
            </a:pPr>
            <a:r>
              <a:rPr lang="en-US" sz="15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= original.copy()</a:t>
            </a:r>
            <a:endParaRPr lang="en-US" sz="1580" dirty="0"/>
          </a:p>
          <a:p>
            <a:pPr algn="l" indent="0" marL="0">
              <a:buNone/>
            </a:pPr>
            <a:r>
              <a:rPr lang="en-US" sz="15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copy["scores"].append(100)</a:t>
            </a:r>
            <a:endParaRPr lang="en-US" sz="1580" dirty="0"/>
          </a:p>
          <a:p>
            <a:pPr algn="l" indent="0" marL="0">
              <a:buNone/>
            </a:pPr>
            <a:endParaRPr lang="en-US" sz="1580" dirty="0"/>
          </a:p>
          <a:p>
            <a:pPr algn="l" indent="0" marL="0">
              <a:buNone/>
            </a:pPr>
            <a:r>
              <a:rPr lang="en-US" sz="15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print(original["scores"])</a:t>
            </a:r>
            <a:endParaRPr lang="en-US" sz="1580" dirty="0"/>
          </a:p>
        </p:txBody>
      </p:sp>
      <p:sp>
        <p:nvSpPr>
          <p:cNvPr id="14" name="Text 12"/>
          <p:cNvSpPr/>
          <p:nvPr/>
        </p:nvSpPr>
        <p:spPr>
          <a:xfrm>
            <a:off x="7178040" y="2432304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endParaRPr lang="en-US" sz="840" dirty="0"/>
          </a:p>
        </p:txBody>
      </p:sp>
      <p:sp>
        <p:nvSpPr>
          <p:cNvPr id="15" name="Text 13"/>
          <p:cNvSpPr/>
          <p:nvPr/>
        </p:nvSpPr>
        <p:spPr>
          <a:xfrm>
            <a:off x="7178040" y="2788920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[80, 90, 100]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150608" y="3401568"/>
            <a:ext cx="39776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47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assignment: no new object is created</a:t>
            </a:r>
            <a:endParaRPr lang="en-US" sz="1470" dirty="0"/>
          </a:p>
          <a:p>
            <a:pPr marL="228600" indent="-228600">
              <a:buSzPct val="100000"/>
              <a:buChar char="•"/>
            </a:pPr>
            <a:r>
              <a:rPr lang="en-US" sz="147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shallow copy: only the outer object is new</a:t>
            </a:r>
            <a:endParaRPr lang="en-US" sz="1470" dirty="0"/>
          </a:p>
          <a:p>
            <a:pPr marL="228600" indent="-228600">
              <a:buSzPct val="100000"/>
              <a:buChar char="•"/>
            </a:pPr>
            <a:r>
              <a:rPr lang="en-US" sz="147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 copy: nested mutable objects are independent too</a:t>
            </a:r>
            <a:endParaRPr lang="en-US" sz="147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Mutability changes an object, not a name binding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94944" y="1700784"/>
            <a:ext cx="9829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immutable value produces a new value. A mutable collection can change its contents in place.</a:t>
            </a:r>
            <a:endParaRPr lang="en-US" sz="1850" dirty="0"/>
          </a:p>
        </p:txBody>
      </p:sp>
      <p:sp>
        <p:nvSpPr>
          <p:cNvPr id="10" name="Shape 8"/>
          <p:cNvSpPr/>
          <p:nvPr/>
        </p:nvSpPr>
        <p:spPr>
          <a:xfrm>
            <a:off x="749808" y="2487168"/>
            <a:ext cx="4800600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715768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MUTABLE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9808" y="3163824"/>
            <a:ext cx="4709160" cy="80467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9808" y="3163824"/>
            <a:ext cx="470916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3282696"/>
            <a:ext cx="4270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5" name="Text 13"/>
          <p:cNvSpPr/>
          <p:nvPr/>
        </p:nvSpPr>
        <p:spPr>
          <a:xfrm>
            <a:off x="969264" y="3557016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scores.append(100)</a:t>
            </a:r>
            <a:endParaRPr lang="en-US" sz="1680" dirty="0"/>
          </a:p>
        </p:txBody>
      </p:sp>
      <p:sp>
        <p:nvSpPr>
          <p:cNvPr id="16" name="Text 14"/>
          <p:cNvSpPr/>
          <p:nvPr/>
        </p:nvSpPr>
        <p:spPr>
          <a:xfrm>
            <a:off x="786384" y="435254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[80, 90, 100]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95528" y="490118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list, dict, set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object contents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6382512" y="2487168"/>
            <a:ext cx="4800600" cy="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2715768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IMMUTABLE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382512" y="3163824"/>
            <a:ext cx="4709160" cy="80467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82512" y="3163824"/>
            <a:ext cx="470916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01968" y="3282696"/>
            <a:ext cx="4270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6601968" y="3557016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 = grade + "+"</a:t>
            </a:r>
            <a:endParaRPr lang="en-US" sz="1680" dirty="0"/>
          </a:p>
        </p:txBody>
      </p:sp>
      <p:sp>
        <p:nvSpPr>
          <p:cNvPr id="24" name="Text 22"/>
          <p:cNvSpPr/>
          <p:nvPr/>
        </p:nvSpPr>
        <p:spPr>
          <a:xfrm>
            <a:off x="6419088" y="435254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"A+"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6428232" y="490118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str, tuple, int, float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new object is created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Share or copy?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83664"/>
            <a:ext cx="5010912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shared object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49808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= a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change through b is visible through a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useful only for intentional sharing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6373368" y="1883664"/>
            <a:ext cx="5010912" cy="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independent value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409944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= a.copy()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new outer object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nested mutable objects can remain shared</a:t>
            </a:r>
            <a:endParaRPr lang="en-US" sz="16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Shallow and deep copy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dict.copy() copies only the outer dictionary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deepcopy creates an independent copy of the whole object graph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deepcopy only when it is genuinely needed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copy import deepcopy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 = {"scores": [80, 90]}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shallow = original.copy()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 = deepcopy(original)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shallow["scores"].append(100)</a:t>
            </a:r>
            <a:endParaRPr lang="en-US" sz="15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Choose a collection by operation</a:t>
            </a:r>
            <a:endParaRPr lang="en-US" sz="2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359152"/>
          <a:ext cx="10899648" cy="301752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list</a:t>
                      </a:r>
                      <a:endParaRPr lang="en-US" sz="16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order and duplicates</a:t>
                      </a:r>
                      <a:endParaRPr lang="en-US" sz="16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processed files</a:t>
                      </a:r>
                      <a:endParaRPr lang="en-US" sz="16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tuple</a:t>
                      </a:r>
                      <a:endParaRPr lang="en-US" sz="16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 fixed record</a:t>
                      </a:r>
                      <a:endParaRPr lang="en-US" sz="16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(x, y) coordinates</a:t>
                      </a:r>
                      <a:endParaRPr lang="en-US" sz="16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set</a:t>
                      </a:r>
                      <a:endParaRPr lang="en-US" sz="16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unique values or fast membership</a:t>
                      </a:r>
                      <a:endParaRPr lang="en-US" sz="16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permissions</a:t>
                      </a:r>
                      <a:endParaRPr lang="en-US" sz="16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dict</a:t>
                      </a:r>
                      <a:endParaRPr lang="en-US" sz="16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 value by key</a:t>
                      </a:r>
                      <a:endParaRPr lang="en-US" sz="16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id → user</a:t>
                      </a:r>
                      <a:endParaRPr lang="en-US" sz="16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28800"/>
            <a:ext cx="10899648" cy="53035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65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2615184" y="196596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we need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61504" y="19659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Iterate over values, not indexes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index matters only when the program truly uses it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.items() names both key and value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enumerate adds an ordinal without range(len(...))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{"Anna": 92, "Peter": 67}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name, score in scores.items():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print(name, score)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index, name in enumerate(scores, start=1):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print(index, name)</a:t>
            </a:r>
            <a:endParaRPr lang="en-US" sz="15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zip connects related sequences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 = ["Anna", "Peter", "Lucia"]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points = [92, 67, 81]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name, score in zip(names, points):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print(f"{name}: {score}")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values have their own identity and more attributes are added, a dataclass is usually better than multiple parallel lists.</a:t>
            </a:r>
            <a:endParaRPr lang="en-US" sz="17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Slicing and unpacking express structure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 = [10, 20, 30, 40, 50, 60]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first_three = values[:3]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every_second = values[::2]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reversed_copy = values[::-1]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first, *middle, last = values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print(first, middle, last)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Slicing creates a new sequence. Unpacking is useful when parts of a record have a clear meaning.</a:t>
            </a:r>
            <a:endParaRPr lang="en-US" sz="15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comprehension shortens one clear transformation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5193792" cy="3255264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5193792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1947672"/>
            <a:ext cx="47548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READABLE LOOP</a:t>
            </a:r>
            <a:endParaRPr lang="en-US" sz="810" dirty="0"/>
          </a:p>
        </p:txBody>
      </p:sp>
      <p:sp>
        <p:nvSpPr>
          <p:cNvPr id="12" name="Text 10"/>
          <p:cNvSpPr/>
          <p:nvPr/>
        </p:nvSpPr>
        <p:spPr>
          <a:xfrm>
            <a:off x="877824" y="2487168"/>
            <a:ext cx="4718304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 = []</a:t>
            </a:r>
            <a:endParaRPr lang="en-US" sz="1620" dirty="0"/>
          </a:p>
          <a:p>
            <a:pPr algn="l" indent="0" marL="0">
              <a:buNone/>
            </a:pPr>
            <a:r>
              <a:rPr lang="en-US" sz="16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score in scores:</a:t>
            </a:r>
            <a:endParaRPr lang="en-US" sz="1620" dirty="0"/>
          </a:p>
          <a:p>
            <a:pPr algn="l" indent="0" marL="0">
              <a:buNone/>
            </a:pPr>
            <a:r>
              <a:rPr lang="en-US" sz="16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score &gt;= 51:</a:t>
            </a:r>
            <a:endParaRPr lang="en-US" sz="1620" dirty="0"/>
          </a:p>
          <a:p>
            <a:pPr algn="l" indent="0" marL="0">
              <a:buNone/>
            </a:pPr>
            <a:r>
              <a:rPr lang="en-US" sz="16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passed.append(score ** 2)</a:t>
            </a:r>
            <a:endParaRPr lang="en-US" sz="1620" dirty="0"/>
          </a:p>
        </p:txBody>
      </p:sp>
      <p:sp>
        <p:nvSpPr>
          <p:cNvPr id="13" name="Shape 11"/>
          <p:cNvSpPr/>
          <p:nvPr/>
        </p:nvSpPr>
        <p:spPr>
          <a:xfrm>
            <a:off x="6336792" y="1828800"/>
            <a:ext cx="5193792" cy="3255264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36792" y="1828800"/>
            <a:ext cx="5193792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56248" y="1947672"/>
            <a:ext cx="47548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 COMPREHENSION</a:t>
            </a:r>
            <a:endParaRPr lang="en-US" sz="810" dirty="0"/>
          </a:p>
        </p:txBody>
      </p:sp>
      <p:sp>
        <p:nvSpPr>
          <p:cNvPr id="16" name="Text 14"/>
          <p:cNvSpPr/>
          <p:nvPr/>
        </p:nvSpPr>
        <p:spPr>
          <a:xfrm>
            <a:off x="6556248" y="2487168"/>
            <a:ext cx="4718304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 = [</a:t>
            </a:r>
            <a:endParaRPr lang="en-US" sz="1620" dirty="0"/>
          </a:p>
          <a:p>
            <a:pPr algn="l" indent="0" marL="0">
              <a:buNone/>
            </a:pPr>
            <a:r>
              <a:rPr lang="en-US" sz="16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score ** 2</a:t>
            </a:r>
            <a:endParaRPr lang="en-US" sz="1620" dirty="0"/>
          </a:p>
          <a:p>
            <a:pPr algn="l" indent="0" marL="0">
              <a:buNone/>
            </a:pPr>
            <a:r>
              <a:rPr lang="en-US" sz="16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score in scores</a:t>
            </a:r>
            <a:endParaRPr lang="en-US" sz="1620" dirty="0"/>
          </a:p>
          <a:p>
            <a:pPr algn="l" indent="0" marL="0">
              <a:buNone/>
            </a:pPr>
            <a:r>
              <a:rPr lang="en-US" sz="16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score &gt;= 51</a:t>
            </a:r>
            <a:endParaRPr lang="en-US" sz="1620" dirty="0"/>
          </a:p>
          <a:p>
            <a:pPr algn="l" indent="0" marL="0">
              <a:buNone/>
            </a:pPr>
            <a:r>
              <a:rPr lang="en-US" sz="16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620" dirty="0"/>
          </a:p>
        </p:txBody>
      </p:sp>
      <p:sp>
        <p:nvSpPr>
          <p:cNvPr id="17" name="Text 15"/>
          <p:cNvSpPr/>
          <p:nvPr/>
        </p:nvSpPr>
        <p:spPr>
          <a:xfrm>
            <a:off x="749808" y="54864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several nested rules must be followed at once, use named intermediate values and a loop.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shorter form is not always better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Čitateľ musí naraz sledovať tri vnorené kroky.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 = {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course: sorted({result.student for result in results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if result.course == course and result.points &gt;= 51})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course in {result.course for result in results}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Pri zložitejšom pravidle radšej použite pomenované medzivýsledky a cyklus.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comprehension is not a measure of Python code quality. Readability takes priority over compactness.</a:t>
            </a:r>
            <a:endParaRPr lang="en-US" sz="15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function is a contract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94944" y="1700784"/>
            <a:ext cx="9784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good signature shows what data a function accepts, what it returns and when it can fail.</a:t>
            </a:r>
            <a:endParaRPr lang="en-US" sz="1850" dirty="0"/>
          </a:p>
        </p:txBody>
      </p:sp>
      <p:sp>
        <p:nvSpPr>
          <p:cNvPr id="10" name="Shape 8"/>
          <p:cNvSpPr/>
          <p:nvPr/>
        </p:nvSpPr>
        <p:spPr>
          <a:xfrm>
            <a:off x="731520" y="3017520"/>
            <a:ext cx="1920240" cy="786384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3182112"/>
            <a:ext cx="1700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parameters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2926080" y="3273552"/>
            <a:ext cx="182880" cy="256032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3017520"/>
            <a:ext cx="1920240" cy="786384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55848" y="3182112"/>
            <a:ext cx="1700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5440680" y="3273552"/>
            <a:ext cx="182880" cy="256032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60720" y="3017520"/>
            <a:ext cx="1920240" cy="786384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70448" y="3182112"/>
            <a:ext cx="1700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processing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366760" y="2395728"/>
            <a:ext cx="2423160" cy="786384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76488" y="2560320"/>
            <a:ext cx="2203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return value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8366760" y="3877056"/>
            <a:ext cx="2423160" cy="786384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76488" y="4041648"/>
            <a:ext cx="2203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specific exception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7936992" y="2670048"/>
            <a:ext cx="201168" cy="228600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936992" y="4151376"/>
            <a:ext cx="201168" cy="228600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Type hints complement the contract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average(values: list[float]) -&gt; float: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values: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ValueError("values must not be empty")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sum(values) / len(values)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hints help the reader, IDE and static checking. They do not enforce types at runtime by themselves.</a:t>
            </a:r>
            <a:endParaRPr lang="en-US" sz="17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mutable default argument is shared state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default value is created when the function is defined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list or dict is then shared between calls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None creates a new object only inside the function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add_student(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str, students: list[str] | None = None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list[str]: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students is None: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students = []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students.append(name)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students</a:t>
            </a:r>
            <a:endParaRPr lang="en-US" sz="15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 anonymous record or a data model?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83664"/>
            <a:ext cx="5010912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Tuple / dict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49808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("Anna", "Python", 92)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must remember the meaning of positions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reasonable for a small local record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6373368" y="1883664"/>
            <a:ext cx="5010912" cy="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dataclass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409944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Result(student, course, points)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attributes describe data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better interface for your program</a:t>
            </a:r>
            <a:endParaRPr lang="en-US" sz="16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dataclass names a domain object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Result: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student: str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course: str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points: int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passed(self) -&gt; bool: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self.points &gt;= 51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dataclass is not mandatory everywhere. It is useful where values describe one thing together.</a:t>
            </a:r>
            <a:endParaRPr lang="en-US" sz="17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 operation can fail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94944" y="1700784"/>
            <a:ext cx="9784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Catch only a specific error for which we can reasonably help the calling code.</a:t>
            </a:r>
            <a:endParaRPr lang="en-US" sz="1850" dirty="0"/>
          </a:p>
        </p:txBody>
      </p:sp>
      <p:sp>
        <p:nvSpPr>
          <p:cNvPr id="10" name="Shape 8"/>
          <p:cNvSpPr/>
          <p:nvPr/>
        </p:nvSpPr>
        <p:spPr>
          <a:xfrm>
            <a:off x="777240" y="2880360"/>
            <a:ext cx="2606040" cy="1078992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1832" y="3172968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int(raw)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721608" y="3255264"/>
            <a:ext cx="22860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60520" y="2880360"/>
            <a:ext cx="2606040" cy="1078992"/>
          </a:xfrm>
          <a:prstGeom prst="rect">
            <a:avLst/>
          </a:prstGeom>
          <a:solidFill>
            <a:srgbClr val="EAF3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5112" y="3172968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ValueError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104888" y="3255264"/>
            <a:ext cx="22860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43800" y="2880360"/>
            <a:ext cx="2606040" cy="1078992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08392" y="3172968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caller receives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meaningful error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86384" y="4828032"/>
            <a:ext cx="9921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broad except or except: pass. An error should not disappear silently.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specific exception, a specific response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int() can fail on non-numeric input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ValueError is part of this operation's contract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except: pass only hides a problem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read_score(raw: str) -&gt; int: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int(raw)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ValueError as error: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ValueError(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"score must be an integer"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) from error</a:t>
            </a:r>
            <a:endParaRPr lang="en-US" sz="152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module is a code interface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 only public functionality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main() separates program execution from import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functions can then be tested without a terminal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report import build_summary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main() -&gt; None: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summary = build_summary("results.csv")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print(summary)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__name__ == "__main__":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main()</a:t>
            </a:r>
            <a:endParaRPr lang="en-US" sz="152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project needs its own environment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5193792" cy="3145536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5193792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1947672"/>
            <a:ext cx="47548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COMMANDS</a:t>
            </a:r>
            <a:endParaRPr lang="en-US" sz="810" dirty="0"/>
          </a:p>
        </p:txBody>
      </p:sp>
      <p:sp>
        <p:nvSpPr>
          <p:cNvPr id="12" name="Text 10"/>
          <p:cNvSpPr/>
          <p:nvPr/>
        </p:nvSpPr>
        <p:spPr>
          <a:xfrm>
            <a:off x="877824" y="2487168"/>
            <a:ext cx="4718304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venv .venv</a:t>
            </a:r>
            <a:endParaRPr lang="en-US" sz="1660" dirty="0"/>
          </a:p>
          <a:p>
            <a:pPr algn="l" indent="0" marL="0">
              <a:buNone/>
            </a:pPr>
            <a:r>
              <a:rPr lang="en-US" sz="16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Windows</a:t>
            </a:r>
            <a:endParaRPr lang="en-US" sz="1660" dirty="0"/>
          </a:p>
          <a:p>
            <a:pPr algn="l" indent="0" marL="0">
              <a:buNone/>
            </a:pPr>
            <a:r>
              <a:rPr lang="en-US" sz="16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.venv\Scripts\activate</a:t>
            </a:r>
            <a:endParaRPr lang="en-US" sz="1660" dirty="0"/>
          </a:p>
          <a:p>
            <a:pPr algn="l" indent="0" marL="0">
              <a:buNone/>
            </a:pPr>
            <a:endParaRPr lang="en-US" sz="1660" dirty="0"/>
          </a:p>
          <a:p>
            <a:pPr algn="l" indent="0" marL="0">
              <a:buNone/>
            </a:pPr>
            <a:r>
              <a:rPr lang="en-US" sz="16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 install httpx</a:t>
            </a:r>
            <a:endParaRPr lang="en-US" sz="1660" dirty="0"/>
          </a:p>
        </p:txBody>
      </p:sp>
      <p:sp>
        <p:nvSpPr>
          <p:cNvPr id="13" name="Shape 11"/>
          <p:cNvSpPr/>
          <p:nvPr/>
        </p:nvSpPr>
        <p:spPr>
          <a:xfrm>
            <a:off x="6336792" y="1828800"/>
            <a:ext cx="5193792" cy="3145536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36792" y="1828800"/>
            <a:ext cx="5193792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56248" y="1947672"/>
            <a:ext cx="47548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pyproject.toml</a:t>
            </a:r>
            <a:endParaRPr lang="en-US" sz="810" dirty="0"/>
          </a:p>
        </p:txBody>
      </p:sp>
      <p:sp>
        <p:nvSpPr>
          <p:cNvPr id="16" name="Text 14"/>
          <p:cNvSpPr/>
          <p:nvPr/>
        </p:nvSpPr>
        <p:spPr>
          <a:xfrm>
            <a:off x="6556248" y="2487168"/>
            <a:ext cx="4718304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[project]</a:t>
            </a:r>
            <a:endParaRPr lang="en-US" sz="1660" dirty="0"/>
          </a:p>
          <a:p>
            <a:pPr algn="l" indent="0" marL="0">
              <a:buNone/>
            </a:pPr>
            <a:r>
              <a:rPr lang="en-US" sz="16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"course-report"</a:t>
            </a:r>
            <a:endParaRPr lang="en-US" sz="1660" dirty="0"/>
          </a:p>
          <a:p>
            <a:pPr algn="l" indent="0" marL="0">
              <a:buNone/>
            </a:pPr>
            <a:r>
              <a:rPr lang="en-US" sz="16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dependencies = ["httpx&gt;=0.27"]</a:t>
            </a:r>
            <a:endParaRPr lang="en-US" sz="1660" dirty="0"/>
          </a:p>
        </p:txBody>
      </p:sp>
      <p:sp>
        <p:nvSpPr>
          <p:cNvPr id="17" name="Text 15"/>
          <p:cNvSpPr/>
          <p:nvPr/>
        </p:nvSpPr>
        <p:spPr>
          <a:xfrm>
            <a:off x="749808" y="5440680"/>
            <a:ext cx="10149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virtual environment isolates dependencies. pyproject.toml describes what a project needs to run on another computer.</a:t>
            </a:r>
            <a:endParaRPr lang="en-US" sz="18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small program composes familiar parts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passed_by_course(results: list[Result]) -&gt; dict[str, list[str]]: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grouped: dict[str, list[str]] = {}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result in results: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result.passed():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grouped.setdefault(result.course, []).append(result.student)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grouped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kolekcia + funkcia + dataclass + type hints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print(passed_by_course(results))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Pythonic code does not come from one trick. It comes from precise names, suitable structures and small verifiable parts.</a:t>
            </a:r>
            <a:endParaRPr lang="en-US" sz="15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Good Python code shows intent before the author's cleverness.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foundations will reappear in files, GUI, HTTP, databases and testing in the following weeks.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Python</dc:title>
  <dc:subject>Programming in Python</dc:subject>
  <dc:creator>TUKE FEI</dc:creator>
  <cp:lastModifiedBy>TUKE FEI</cp:lastModifiedBy>
  <cp:revision>1</cp:revision>
  <dcterms:created xsi:type="dcterms:W3CDTF">2026-09-18T14:43:13Z</dcterms:created>
  <dcterms:modified xsi:type="dcterms:W3CDTF">2026-09-18T14:43:13Z</dcterms:modified>
</cp:coreProperties>
</file>