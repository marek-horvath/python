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notesMasterIdLst>
    <p:notesMasterId r:id="rId3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notesMaster" Target="notesMasters/notesMaster1.xml"/><Relationship Id="rId36" Type="http://schemas.openxmlformats.org/officeDocument/2006/relationships/presProps" Target="presProps.xml"/><Relationship Id="rId37" Type="http://schemas.openxmlformats.org/officeDocument/2006/relationships/viewProps" Target="viewProps.xml"/><Relationship Id="rId38" Type="http://schemas.openxmlformats.org/officeDocument/2006/relationships/theme" Target="theme/theme1.xml"/><Relationship Id="rId3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37744" cy="6858000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9808" y="685800"/>
            <a:ext cx="4937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11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49808" y="2148840"/>
            <a:ext cx="9784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42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Web backend v Pythone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786384" y="3310128"/>
            <a:ext cx="8321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Postupne staviame FastAPI reservation API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49808" y="5193792"/>
            <a:ext cx="2560320" cy="118872"/>
          </a:xfrm>
          <a:prstGeom prst="rect">
            <a:avLst/>
          </a:prstGeom>
          <a:solidFill>
            <a:srgbClr val="E0A03A"/>
          </a:solidFill>
          <a:ln w="12700">
            <a:solidFill>
              <a:srgbClr val="E0A03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550468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TUKE FEI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0927080" y="6254496"/>
            <a:ext cx="566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10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749808" y="1554480"/>
            <a:ext cx="1042416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 prednáške 05 bol Python klient. Teraz bude Python server.</a:t>
            </a:r>
            <a:endParaRPr lang="en-US" sz="3400" dirty="0"/>
          </a:p>
        </p:txBody>
      </p:sp>
      <p:sp>
        <p:nvSpPr>
          <p:cNvPr id="9" name="Shape 7"/>
          <p:cNvSpPr/>
          <p:nvPr/>
        </p:nvSpPr>
        <p:spPr>
          <a:xfrm>
            <a:off x="768096" y="3456432"/>
            <a:ext cx="1417320" cy="109728"/>
          </a:xfrm>
          <a:prstGeom prst="rect">
            <a:avLst/>
          </a:prstGeom>
          <a:solidFill>
            <a:srgbClr val="E0A03A"/>
          </a:solidFill>
          <a:ln w="12700">
            <a:solidFill>
              <a:srgbClr val="E0A03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68096" y="3913632"/>
            <a:ext cx="8869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Backend prijíma HTTP requesty, validuje dáta, vykoná aplikačnú logiku, pracuje s databázou a vráti HTTP response.</a:t>
            </a:r>
            <a:endParaRPr lang="en-US" sz="2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10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Architektúra jedného requestu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94944" y="2834640"/>
            <a:ext cx="1984248" cy="1042416"/>
          </a:xfrm>
          <a:prstGeom prst="roundRect">
            <a:avLst>
              <a:gd name="adj" fmla="val 4386"/>
            </a:avLst>
          </a:prstGeom>
          <a:solidFill>
            <a:srgbClr val="F3F6F8"/>
          </a:solidFill>
          <a:ln w="12700">
            <a:solidFill>
              <a:srgbClr val="D8E0E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04672" y="3063240"/>
            <a:ext cx="17647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client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2633472" y="3209544"/>
            <a:ext cx="182880" cy="292608"/>
          </a:xfrm>
          <a:prstGeom prst="chevron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907792" y="2834640"/>
            <a:ext cx="1984248" cy="1042416"/>
          </a:xfrm>
          <a:prstGeom prst="roundRect">
            <a:avLst>
              <a:gd name="adj" fmla="val 4386"/>
            </a:avLst>
          </a:prstGeom>
          <a:solidFill>
            <a:srgbClr val="EAF3F7"/>
          </a:solidFill>
          <a:ln w="12700">
            <a:solidFill>
              <a:srgbClr val="9DCCD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017520" y="3063240"/>
            <a:ext cx="17647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FastAPI route</a:t>
            </a:r>
            <a:endParaRPr lang="en-US" sz="1450" dirty="0"/>
          </a:p>
        </p:txBody>
      </p:sp>
      <p:sp>
        <p:nvSpPr>
          <p:cNvPr id="14" name="Shape 12"/>
          <p:cNvSpPr/>
          <p:nvPr/>
        </p:nvSpPr>
        <p:spPr>
          <a:xfrm>
            <a:off x="4846320" y="3209544"/>
            <a:ext cx="182880" cy="292608"/>
          </a:xfrm>
          <a:prstGeom prst="chevron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120640" y="2834640"/>
            <a:ext cx="1984248" cy="1042416"/>
          </a:xfrm>
          <a:prstGeom prst="roundRect">
            <a:avLst>
              <a:gd name="adj" fmla="val 4386"/>
            </a:avLst>
          </a:prstGeom>
          <a:solidFill>
            <a:srgbClr val="F3F6F8"/>
          </a:solidFill>
          <a:ln w="12700">
            <a:solidFill>
              <a:srgbClr val="D8E0E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230368" y="3063240"/>
            <a:ext cx="17647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validation</a:t>
            </a:r>
            <a:endParaRPr lang="en-US" sz="1450" dirty="0"/>
          </a:p>
        </p:txBody>
      </p:sp>
      <p:sp>
        <p:nvSpPr>
          <p:cNvPr id="17" name="Shape 15"/>
          <p:cNvSpPr/>
          <p:nvPr/>
        </p:nvSpPr>
        <p:spPr>
          <a:xfrm>
            <a:off x="7059168" y="3209544"/>
            <a:ext cx="182880" cy="292608"/>
          </a:xfrm>
          <a:prstGeom prst="chevron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333488" y="2834640"/>
            <a:ext cx="1984248" cy="1042416"/>
          </a:xfrm>
          <a:prstGeom prst="roundRect">
            <a:avLst>
              <a:gd name="adj" fmla="val 4386"/>
            </a:avLst>
          </a:prstGeom>
          <a:solidFill>
            <a:srgbClr val="EAF3F7"/>
          </a:solidFill>
          <a:ln w="12700">
            <a:solidFill>
              <a:srgbClr val="9DCCD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443216" y="3063240"/>
            <a:ext cx="17647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application logic</a:t>
            </a:r>
            <a:endParaRPr lang="en-US" sz="1450" dirty="0"/>
          </a:p>
        </p:txBody>
      </p:sp>
      <p:sp>
        <p:nvSpPr>
          <p:cNvPr id="20" name="Shape 18"/>
          <p:cNvSpPr/>
          <p:nvPr/>
        </p:nvSpPr>
        <p:spPr>
          <a:xfrm>
            <a:off x="9272016" y="3209544"/>
            <a:ext cx="182880" cy="292608"/>
          </a:xfrm>
          <a:prstGeom prst="chevron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546336" y="2834640"/>
            <a:ext cx="1984248" cy="1042416"/>
          </a:xfrm>
          <a:prstGeom prst="roundRect">
            <a:avLst>
              <a:gd name="adj" fmla="val 4386"/>
            </a:avLst>
          </a:prstGeom>
          <a:solidFill>
            <a:srgbClr val="F3F6F8"/>
          </a:solidFill>
          <a:ln w="12700">
            <a:solidFill>
              <a:srgbClr val="D8E0E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656064" y="3063240"/>
            <a:ext cx="17647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database</a:t>
            </a:r>
            <a:endParaRPr lang="en-US" sz="14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10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713232" y="1353312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877B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13232" y="2011680"/>
            <a:ext cx="9875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First endpoint</a:t>
            </a:r>
            <a:endParaRPr lang="en-US" sz="3700" dirty="0"/>
          </a:p>
        </p:txBody>
      </p:sp>
      <p:sp>
        <p:nvSpPr>
          <p:cNvPr id="10" name="Text 8"/>
          <p:cNvSpPr/>
          <p:nvPr/>
        </p:nvSpPr>
        <p:spPr>
          <a:xfrm>
            <a:off x="749808" y="306324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Najprv musí existovať aplikácia a jeden route handler.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731520" y="3977640"/>
            <a:ext cx="2834640" cy="128016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10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Minimálna FastAPI aplikácia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812280" cy="4069080"/>
          </a:xfrm>
          <a:prstGeom prst="roundRect">
            <a:avLst>
              <a:gd name="adj" fmla="val 1348"/>
            </a:avLst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02996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main.py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77824" y="2395728"/>
            <a:ext cx="6327648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fastapi import FastAPI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 = FastAPI(title="Reservation API")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@app.get("/health")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health() -&gt; dict[str, str]: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{"status": "ok"}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7909560" y="1901952"/>
            <a:ext cx="0" cy="356616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130552"/>
            <a:ext cx="2743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Dekorátor spája HTTP method + path s Python funkciou. Návratová hodnota sa serializuje do JSON.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10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Development server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812280" cy="4069080"/>
          </a:xfrm>
          <a:prstGeom prst="roundRect">
            <a:avLst>
              <a:gd name="adj" fmla="val 1348"/>
            </a:avLst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02996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terminal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77824" y="2395728"/>
            <a:ext cx="6327648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-m uvicorn main:app --reload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main:app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modul main, premenná app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7909560" y="1901952"/>
            <a:ext cx="0" cy="356616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130552"/>
            <a:ext cx="2743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--reload patrí do vývoja. Produkčné spúšťanie a deployment sú samostatná téma.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10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713232" y="1353312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877B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13232" y="2011680"/>
            <a:ext cx="9875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Routing</a:t>
            </a:r>
            <a:endParaRPr lang="en-US" sz="3700" dirty="0"/>
          </a:p>
        </p:txBody>
      </p:sp>
      <p:sp>
        <p:nvSpPr>
          <p:cNvPr id="10" name="Text 8"/>
          <p:cNvSpPr/>
          <p:nvPr/>
        </p:nvSpPr>
        <p:spPr>
          <a:xfrm>
            <a:off x="749808" y="306324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Path identifikuje resource, query parameter filtruje alebo mení výpis.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731520" y="3977640"/>
            <a:ext cx="2834640" cy="128016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10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08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Path parameter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812280" cy="4069080"/>
          </a:xfrm>
          <a:prstGeom prst="roundRect">
            <a:avLst>
              <a:gd name="adj" fmla="val 1348"/>
            </a:avLst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02996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77824" y="2395728"/>
            <a:ext cx="6327648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@app.get("/rooms/{room_id}")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get_room(room_id: int) -&gt; RoomOut: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room = find_room(room_id)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room is None: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raise HTTPException(status_code=404, detail="room not found")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room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7909560" y="1901952"/>
            <a:ext cx="0" cy="356616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130552"/>
            <a:ext cx="2743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Type hint mení path parameter na int. Ak konverzia zlyhá, request neskončí v handleri ako úspech.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10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09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Query parameters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812280" cy="4069080"/>
          </a:xfrm>
          <a:prstGeom prst="roundRect">
            <a:avLst>
              <a:gd name="adj" fmla="val 1348"/>
            </a:avLst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02996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77824" y="2395728"/>
            <a:ext cx="6327648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@app.get("/reservations")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list_reservations(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room_id: int | None = None,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active: bool = True,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 -&gt; list[ReservationOut]: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search_reservations(room_id=room_id, active=active)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7909560" y="1901952"/>
            <a:ext cx="0" cy="356616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130552"/>
            <a:ext cx="2743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Query parametre sú dobré pre filtre a voľby výpisu. Neidentifikujú samostatný detail resource.</a:t>
            </a:r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10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Path alebo query?</a:t>
            </a:r>
            <a:endParaRPr lang="en-US" sz="2900" dirty="0"/>
          </a:p>
        </p:txBody>
      </p:sp>
      <p:sp>
        <p:nvSpPr>
          <p:cNvPr id="9" name="Text 7"/>
          <p:cNvSpPr/>
          <p:nvPr/>
        </p:nvSpPr>
        <p:spPr>
          <a:xfrm>
            <a:off x="694944" y="1709928"/>
            <a:ext cx="9235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Ktorá adresa pýta konkrétnu rezerváciu a ktorá filtruje zoznam rezervácií?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658368" y="2423160"/>
            <a:ext cx="7863840" cy="3154680"/>
          </a:xfrm>
          <a:prstGeom prst="roundRect">
            <a:avLst>
              <a:gd name="adj" fmla="val 1739"/>
            </a:avLst>
          </a:prstGeom>
          <a:solidFill>
            <a:srgbClr val="F3F6F8"/>
          </a:solidFill>
          <a:ln w="12700">
            <a:solidFill>
              <a:srgbClr val="D8E0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96112" y="2651760"/>
            <a:ext cx="7132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1877B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896112" y="2990088"/>
            <a:ext cx="713232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1821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 /reservations/42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1821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 /reservations?room_id=4&amp;active=true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8915400" y="2880360"/>
            <a:ext cx="20116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Najprv si odpoveď zdôvodnite. Potom kód spustite.</a:t>
            </a:r>
            <a:endParaRPr lang="en-US" sz="1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10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713232" y="1353312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877B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13232" y="2011680"/>
            <a:ext cx="9875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Request body and Pydantic</a:t>
            </a:r>
            <a:endParaRPr lang="en-US" sz="3700" dirty="0"/>
          </a:p>
        </p:txBody>
      </p:sp>
      <p:sp>
        <p:nvSpPr>
          <p:cNvPr id="10" name="Text 8"/>
          <p:cNvSpPr/>
          <p:nvPr/>
        </p:nvSpPr>
        <p:spPr>
          <a:xfrm>
            <a:off x="749808" y="306324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 POST a PATCH klient posiela JSON, ktorý musí mať kontrakt.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731520" y="3977640"/>
            <a:ext cx="2834640" cy="128016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10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Input model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812280" cy="4069080"/>
          </a:xfrm>
          <a:prstGeom prst="roundRect">
            <a:avLst>
              <a:gd name="adj" fmla="val 1348"/>
            </a:avLst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02996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schemas.py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77824" y="2395728"/>
            <a:ext cx="6327648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datetime import datetime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pydantic import BaseModel, Field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 ReservationCreate(BaseModel):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room_id: int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user_email: str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starts_at: datetime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ends_at: datetime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guests: int = Field(ge=1, le=20)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7909560" y="1901952"/>
            <a:ext cx="0" cy="356616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130552"/>
            <a:ext cx="2743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Pydantic model opisuje tvar vstupu a základné pravidlá nad poľami.</a:t>
            </a:r>
            <a:endParaRPr lang="en-US" sz="1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10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13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POST endpoint s request body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812280" cy="4069080"/>
          </a:xfrm>
          <a:prstGeom prst="roundRect">
            <a:avLst>
              <a:gd name="adj" fmla="val 1348"/>
            </a:avLst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02996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77824" y="2395728"/>
            <a:ext cx="6327648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@app.post("/reservations", status_code=201)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create_reservation(payload: ReservationCreate) -&gt; ReservationOut: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reservation = service.create_reservation(payload)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reservation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7909560" y="1901952"/>
            <a:ext cx="0" cy="356616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130552"/>
            <a:ext cx="2743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Handler dostane validovaný Python objekt. Neparsuje surový JSON ručne.</a:t>
            </a:r>
            <a:endParaRPr lang="en-US" sz="1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10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14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Validation error je HTTP response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783080"/>
            <a:ext cx="10899648" cy="4069080"/>
          </a:xfrm>
          <a:prstGeom prst="rect">
            <a:avLst/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96112" y="1984248"/>
            <a:ext cx="9966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json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96112" y="2395728"/>
            <a:ext cx="9893808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7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750" dirty="0"/>
          </a:p>
          <a:p>
            <a:pPr algn="l" indent="0" marL="0">
              <a:buNone/>
            </a:pPr>
            <a:r>
              <a:rPr lang="en-US" sz="17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"detail": [</a:t>
            </a:r>
            <a:endParaRPr lang="en-US" sz="1750" dirty="0"/>
          </a:p>
          <a:p>
            <a:pPr algn="l" indent="0" marL="0">
              <a:buNone/>
            </a:pPr>
            <a:r>
              <a:rPr lang="en-US" sz="17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{</a:t>
            </a:r>
            <a:endParaRPr lang="en-US" sz="1750" dirty="0"/>
          </a:p>
          <a:p>
            <a:pPr algn="l" indent="0" marL="0">
              <a:buNone/>
            </a:pPr>
            <a:r>
              <a:rPr lang="en-US" sz="17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"type": "greater_than_equal",</a:t>
            </a:r>
            <a:endParaRPr lang="en-US" sz="1750" dirty="0"/>
          </a:p>
          <a:p>
            <a:pPr algn="l" indent="0" marL="0">
              <a:buNone/>
            </a:pPr>
            <a:r>
              <a:rPr lang="en-US" sz="17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"loc": ["body", "guests"],</a:t>
            </a:r>
            <a:endParaRPr lang="en-US" sz="1750" dirty="0"/>
          </a:p>
          <a:p>
            <a:pPr algn="l" indent="0" marL="0">
              <a:buNone/>
            </a:pPr>
            <a:r>
              <a:rPr lang="en-US" sz="17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"msg": "Input should be greater than or equal to 1",</a:t>
            </a:r>
            <a:endParaRPr lang="en-US" sz="1750" dirty="0"/>
          </a:p>
          <a:p>
            <a:pPr algn="l" indent="0" marL="0">
              <a:buNone/>
            </a:pPr>
            <a:r>
              <a:rPr lang="en-US" sz="17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"input": 0</a:t>
            </a:r>
            <a:endParaRPr lang="en-US" sz="1750" dirty="0"/>
          </a:p>
          <a:p>
            <a:pPr algn="l" indent="0" marL="0">
              <a:buNone/>
            </a:pPr>
            <a:r>
              <a:rPr lang="en-US" sz="17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</a:t>
            </a:r>
            <a:endParaRPr lang="en-US" sz="1750" dirty="0"/>
          </a:p>
          <a:p>
            <a:pPr algn="l" indent="0" marL="0">
              <a:buNone/>
            </a:pPr>
            <a:r>
              <a:rPr lang="en-US" sz="17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]</a:t>
            </a:r>
            <a:endParaRPr lang="en-US" sz="1750" dirty="0"/>
          </a:p>
          <a:p>
            <a:pPr algn="l" indent="0" marL="0">
              <a:buNone/>
            </a:pPr>
            <a:r>
              <a:rPr lang="en-US" sz="17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750" dirty="0"/>
          </a:p>
        </p:txBody>
      </p:sp>
      <p:sp>
        <p:nvSpPr>
          <p:cNvPr id="12" name="Text 10"/>
          <p:cNvSpPr/>
          <p:nvPr/>
        </p:nvSpPr>
        <p:spPr>
          <a:xfrm>
            <a:off x="768096" y="6053328"/>
            <a:ext cx="9921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5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Neplatné body nie je 500. Klient poslal request, ktorý nezodpovedá kontraktu.</a:t>
            </a:r>
            <a:endParaRPr lang="en-US" sz="15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10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Input model a response model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713232" y="1874520"/>
            <a:ext cx="5010912" cy="109728"/>
          </a:xfrm>
          <a:prstGeom prst="rect">
            <a:avLst/>
          </a:prstGeom>
          <a:solidFill>
            <a:srgbClr val="167C80"/>
          </a:solidFill>
          <a:ln w="12700">
            <a:solidFill>
              <a:srgbClr val="167C8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13232" y="2212848"/>
            <a:ext cx="5010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Input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768096" y="2788920"/>
            <a:ext cx="4919472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čo smie klient poslať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bez server-generated id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validácia hranice systému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napr. ReservationCreate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6373368" y="1874520"/>
            <a:ext cx="5010912" cy="109728"/>
          </a:xfrm>
          <a:prstGeom prst="rect">
            <a:avLst/>
          </a:prstGeom>
          <a:solidFill>
            <a:srgbClr val="E0A03A"/>
          </a:solidFill>
          <a:ln w="12700">
            <a:solidFill>
              <a:srgbClr val="E0A0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73368" y="2212848"/>
            <a:ext cx="5010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Response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6428232" y="2788920"/>
            <a:ext cx="4919472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čo backend garantuje v odpovedi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obsahuje id a stav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nesmie odhaliť interné polia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napr. ReservationOut</a:t>
            </a:r>
            <a:endParaRPr lang="en-US" sz="16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10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16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Response model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812280" cy="4069080"/>
          </a:xfrm>
          <a:prstGeom prst="roundRect">
            <a:avLst>
              <a:gd name="adj" fmla="val 1348"/>
            </a:avLst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02996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77824" y="2395728"/>
            <a:ext cx="6327648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 ReservationOut(BaseModel):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id: int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room_id: int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user_email: str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starts_at: datetime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ends_at: datetime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status: str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@app.get("/reservations/{reservation_id}")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get_reservation(reservation_id: int) -&gt; ReservationOut: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service.get_reservation_or_404(reservation_id)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7909560" y="1901952"/>
            <a:ext cx="0" cy="356616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130552"/>
            <a:ext cx="2743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Response model je verejný kontrakt. Nemusí kopírovať databázový model.</a:t>
            </a:r>
            <a:endParaRPr lang="en-US" sz="1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10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17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713232" y="1353312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877B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13232" y="2011680"/>
            <a:ext cx="9875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Errors and CRUD</a:t>
            </a:r>
            <a:endParaRPr lang="en-US" sz="3700" dirty="0"/>
          </a:p>
        </p:txBody>
      </p:sp>
      <p:sp>
        <p:nvSpPr>
          <p:cNvPr id="10" name="Text 8"/>
          <p:cNvSpPr/>
          <p:nvPr/>
        </p:nvSpPr>
        <p:spPr>
          <a:xfrm>
            <a:off x="749808" y="306324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HTTP status má pomenovať výsledok operácie.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731520" y="3977640"/>
            <a:ext cx="2834640" cy="128016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10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18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Status codes v reservation API</a:t>
            </a:r>
            <a:endParaRPr lang="en-US" sz="29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" y="1847088"/>
          <a:ext cx="10899648" cy="3520440"/>
        </p:xfrm>
        <a:graphic>
          <a:graphicData uri="http://schemas.openxmlformats.org/drawingml/2006/table">
            <a:tbl>
              <a:tblPr/>
              <a:tblGrid>
                <a:gridCol w="1828800"/>
                <a:gridCol w="4846320"/>
                <a:gridCol w="4224528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Situácia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Poznámka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vytvorená rezervácia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201 Created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POST uspel a vznikol resource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neexistujúca rezervácia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404 Not Found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resource neexistuje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konflikt termínu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409 Conflict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request je validný, ale stav systému ho odmieta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nevalidný JSON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422 Unprocessable Content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FastAPI/Pydantic validation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658368" y="1847088"/>
            <a:ext cx="10899648" cy="548640"/>
          </a:xfrm>
          <a:prstGeom prst="rect">
            <a:avLst/>
          </a:prstGeom>
          <a:solidFill>
            <a:srgbClr val="16324F"/>
          </a:solidFill>
          <a:ln w="12700">
            <a:solidFill>
              <a:srgbClr val="16324F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86384" y="1993392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Situácia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2615184" y="1993392"/>
            <a:ext cx="4617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Status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7461504" y="1993392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Poznámka</a:t>
            </a:r>
            <a:endParaRPr lang="en-US" sz="14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10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19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HTTPException pre očakávanú chybu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812280" cy="4069080"/>
          </a:xfrm>
          <a:prstGeom prst="roundRect">
            <a:avLst>
              <a:gd name="adj" fmla="val 1348"/>
            </a:avLst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02996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77824" y="2395728"/>
            <a:ext cx="6327648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fastapi import HTTPException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 has_overlap(payload.room_id, payload.starts_at, payload.ends_at):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raise HTTPException(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status_code=409,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detail="room is already reserved",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)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7909560" y="1901952"/>
            <a:ext cx="0" cy="356616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130552"/>
            <a:ext cx="2743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Očakávaný aplikačný problém nie je traceback pre klienta. Je to kontrolovaná HTTP odpoveď.</a:t>
            </a:r>
            <a:endParaRPr lang="en-US" sz="1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10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In-memory CRUD je len medzikrok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812280" cy="4069080"/>
          </a:xfrm>
          <a:prstGeom prst="roundRect">
            <a:avLst>
              <a:gd name="adj" fmla="val 1348"/>
            </a:avLst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02996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77824" y="2395728"/>
            <a:ext cx="6327648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reservations: dict[int, ReservationOut] = {}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next_id = 1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@app.get("/reservations")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list_reservations() -&gt; list[ReservationOut]: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list(reservations.values())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7909560" y="1901952"/>
            <a:ext cx="0" cy="356616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130552"/>
            <a:ext cx="2743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 učenie routingu stačí pamäť. Po reštarte servera však dáta zmiznú a konzistenciu nič nevynucuje.</a:t>
            </a:r>
            <a:endParaRPr lang="en-US" sz="1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10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21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713232" y="1353312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877B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13232" y="2011680"/>
            <a:ext cx="9875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Database boundary</a:t>
            </a:r>
            <a:endParaRPr lang="en-US" sz="3700" dirty="0"/>
          </a:p>
        </p:txBody>
      </p:sp>
      <p:sp>
        <p:nvSpPr>
          <p:cNvPr id="10" name="Text 8"/>
          <p:cNvSpPr/>
          <p:nvPr/>
        </p:nvSpPr>
        <p:spPr>
          <a:xfrm>
            <a:off x="749808" y="306324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Lecture 06 sa vracia ako perzistencia backendu.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731520" y="3977640"/>
            <a:ext cx="2834640" cy="128016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10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22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SQLAlchemy model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812280" cy="4069080"/>
          </a:xfrm>
          <a:prstGeom prst="roundRect">
            <a:avLst>
              <a:gd name="adj" fmla="val 1348"/>
            </a:avLst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02996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models.py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77824" y="2395728"/>
            <a:ext cx="6327648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 Reservation(Base):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__tablename__ = "reservations"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id: Mapped[int] = mapped_column(primary_key=True)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room_id: Mapped[int] = mapped_column(ForeignKey("rooms.id"))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user_email: Mapped[str]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starts_at: Mapped[datetime]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ends_at: Mapped[datetime]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7909560" y="1901952"/>
            <a:ext cx="0" cy="356616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130552"/>
            <a:ext cx="2743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Databázový model je interný. API response model je verejný kontrakt.</a:t>
            </a:r>
            <a:endParaRPr lang="en-US" sz="1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10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23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Depends pripraví Session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812280" cy="4069080"/>
          </a:xfrm>
          <a:prstGeom prst="roundRect">
            <a:avLst>
              <a:gd name="adj" fmla="val 1348"/>
            </a:avLst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02996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database.py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77824" y="2395728"/>
            <a:ext cx="6327648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get_session() -&gt; Iterator[Session]: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with Session(engine) as session: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yield session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@app.get("/rooms")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list_rooms(session: Session = Depends(get_session)):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session.scalars(select(Room)).all()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7909560" y="1901952"/>
            <a:ext cx="0" cy="356616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130552"/>
            <a:ext cx="2743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Dependency oddelí tvorbu Session od handlera. Rovnaký mechanizmus sa používa pri testoch aj konfigurácii.</a:t>
            </a:r>
            <a:endParaRPr lang="en-US" sz="18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10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24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POST s databázou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783080"/>
            <a:ext cx="10899648" cy="4069080"/>
          </a:xfrm>
          <a:prstGeom prst="rect">
            <a:avLst/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96112" y="1984248"/>
            <a:ext cx="9966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96112" y="2395728"/>
            <a:ext cx="9893808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7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@app.post("/reservations", response_model=ReservationOut, status_code=201)</a:t>
            </a:r>
            <a:endParaRPr lang="en-US" sz="1750" dirty="0"/>
          </a:p>
          <a:p>
            <a:pPr algn="l" indent="0" marL="0">
              <a:buNone/>
            </a:pPr>
            <a:r>
              <a:rPr lang="en-US" sz="17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create_reservation(</a:t>
            </a:r>
            <a:endParaRPr lang="en-US" sz="1750" dirty="0"/>
          </a:p>
          <a:p>
            <a:pPr algn="l" indent="0" marL="0">
              <a:buNone/>
            </a:pPr>
            <a:r>
              <a:rPr lang="en-US" sz="17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payload: ReservationCreate,</a:t>
            </a:r>
            <a:endParaRPr lang="en-US" sz="1750" dirty="0"/>
          </a:p>
          <a:p>
            <a:pPr algn="l" indent="0" marL="0">
              <a:buNone/>
            </a:pPr>
            <a:r>
              <a:rPr lang="en-US" sz="17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session: Session = Depends(get_session),</a:t>
            </a:r>
            <a:endParaRPr lang="en-US" sz="1750" dirty="0"/>
          </a:p>
          <a:p>
            <a:pPr algn="l" indent="0" marL="0">
              <a:buNone/>
            </a:pPr>
            <a:r>
              <a:rPr lang="en-US" sz="17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):</a:t>
            </a:r>
            <a:endParaRPr lang="en-US" sz="1750" dirty="0"/>
          </a:p>
          <a:p>
            <a:pPr algn="l" indent="0" marL="0">
              <a:buNone/>
            </a:pPr>
            <a:r>
              <a:rPr lang="en-US" sz="17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reservation = Reservation(**payload.model_dump())</a:t>
            </a:r>
            <a:endParaRPr lang="en-US" sz="1750" dirty="0"/>
          </a:p>
          <a:p>
            <a:pPr algn="l" indent="0" marL="0">
              <a:buNone/>
            </a:pPr>
            <a:r>
              <a:rPr lang="en-US" sz="17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session.add(reservation)</a:t>
            </a:r>
            <a:endParaRPr lang="en-US" sz="1750" dirty="0"/>
          </a:p>
          <a:p>
            <a:pPr algn="l" indent="0" marL="0">
              <a:buNone/>
            </a:pPr>
            <a:r>
              <a:rPr lang="en-US" sz="17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session.commit()</a:t>
            </a:r>
            <a:endParaRPr lang="en-US" sz="1750" dirty="0"/>
          </a:p>
          <a:p>
            <a:pPr algn="l" indent="0" marL="0">
              <a:buNone/>
            </a:pPr>
            <a:r>
              <a:rPr lang="en-US" sz="17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session.refresh(reservation)</a:t>
            </a:r>
            <a:endParaRPr lang="en-US" sz="1750" dirty="0"/>
          </a:p>
          <a:p>
            <a:pPr algn="l" indent="0" marL="0">
              <a:buNone/>
            </a:pPr>
            <a:r>
              <a:rPr lang="en-US" sz="17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reservation</a:t>
            </a:r>
            <a:endParaRPr lang="en-US" sz="1750" dirty="0"/>
          </a:p>
        </p:txBody>
      </p:sp>
      <p:sp>
        <p:nvSpPr>
          <p:cNvPr id="12" name="Text 10"/>
          <p:cNvSpPr/>
          <p:nvPr/>
        </p:nvSpPr>
        <p:spPr>
          <a:xfrm>
            <a:off x="768096" y="6053328"/>
            <a:ext cx="9921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5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Tento handler je už na hrane veľkosti. Konflikty, autorizácia a zložitejšie pravidlá patria do aplikačnej služby.</a:t>
            </a:r>
            <a:endParaRPr lang="en-US" sz="15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10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25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713232" y="1353312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877B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13232" y="2011680"/>
            <a:ext cx="9875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Contract, tests, configuration</a:t>
            </a:r>
            <a:endParaRPr lang="en-US" sz="3700" dirty="0"/>
          </a:p>
        </p:txBody>
      </p:sp>
      <p:sp>
        <p:nvSpPr>
          <p:cNvPr id="10" name="Text 8"/>
          <p:cNvSpPr/>
          <p:nvPr/>
        </p:nvSpPr>
        <p:spPr>
          <a:xfrm>
            <a:off x="749808" y="306324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Backend musí byť čitateľný pre človeka, klienta aj test.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731520" y="3977640"/>
            <a:ext cx="2834640" cy="128016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10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26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OpenAPI vzniká z typov a routov</a:t>
            </a:r>
            <a:endParaRPr lang="en-US" sz="2900" dirty="0"/>
          </a:p>
        </p:txBody>
      </p:sp>
      <p:sp>
        <p:nvSpPr>
          <p:cNvPr id="9" name="Text 7"/>
          <p:cNvSpPr/>
          <p:nvPr/>
        </p:nvSpPr>
        <p:spPr>
          <a:xfrm>
            <a:off x="685800" y="1719072"/>
            <a:ext cx="9966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FastAPI z dekorátorov, type hints a Pydantic modelov vytvorí schému API, ktorú vidíme v /docs.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868680" y="2487168"/>
            <a:ext cx="9921240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endpointy a HTTP methods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query/path/body parametre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response modely a status codes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validačné chyby</a:t>
            </a:r>
            <a:endParaRPr lang="en-US" sz="18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10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27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TestClient overuje správanie API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812280" cy="4069080"/>
          </a:xfrm>
          <a:prstGeom prst="roundRect">
            <a:avLst>
              <a:gd name="adj" fmla="val 1348"/>
            </a:avLst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02996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tests/test_api.py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77824" y="2395728"/>
            <a:ext cx="6327648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fastapi.testclient import TestClient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app.main import app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client = TestClient(app)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test_create_reservation_rejects_zero_guests():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response = client.post("/reservations", json={"guests": 0})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assert response.status_code == 422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7909560" y="1901952"/>
            <a:ext cx="0" cy="356616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130552"/>
            <a:ext cx="2743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Test posiela HTTP request do aplikácie bez ručného browsera a bez reálneho sieťového servera.</a:t>
            </a:r>
            <a:endParaRPr lang="en-US" sz="18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10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28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Konfigurácia cez environment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812280" cy="4069080"/>
          </a:xfrm>
          <a:prstGeom prst="roundRect">
            <a:avLst>
              <a:gd name="adj" fmla="val 1348"/>
            </a:avLst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02996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config.py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77824" y="2395728"/>
            <a:ext cx="6327648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pydantic_settings import BaseSettings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 Settings(BaseSettings):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database_url: str = "sqlite:///./dev.db"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log_level: str = "INFO"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settings = Settings()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7909560" y="1901952"/>
            <a:ext cx="0" cy="356616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130552"/>
            <a:ext cx="2743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Konfigurácia mení prostredie, nie source code. Secrets však stále nesmú končiť v logoch.</a:t>
            </a:r>
            <a:endParaRPr lang="en-US" sz="18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10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29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Authentication vs authorization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713232" y="1874520"/>
            <a:ext cx="5010912" cy="109728"/>
          </a:xfrm>
          <a:prstGeom prst="rect">
            <a:avLst/>
          </a:prstGeom>
          <a:solidFill>
            <a:srgbClr val="167C80"/>
          </a:solidFill>
          <a:ln w="12700">
            <a:solidFill>
              <a:srgbClr val="167C8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13232" y="2212848"/>
            <a:ext cx="5010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Authentication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768096" y="2788920"/>
            <a:ext cx="4919472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kto poslal request?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token, session, identity provider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zlyhanie typicky 401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6373368" y="1874520"/>
            <a:ext cx="5010912" cy="109728"/>
          </a:xfrm>
          <a:prstGeom prst="rect">
            <a:avLst/>
          </a:prstGeom>
          <a:solidFill>
            <a:srgbClr val="E0A03A"/>
          </a:solidFill>
          <a:ln w="12700">
            <a:solidFill>
              <a:srgbClr val="E0A0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73368" y="2212848"/>
            <a:ext cx="5010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Authorization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6428232" y="2788920"/>
            <a:ext cx="4919472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čo smie tento používateľ urobiť?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role, vlastníctvo, policy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zlyhanie typicky 403</a:t>
            </a:r>
            <a:endParaRPr lang="en-US" sz="16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10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30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async/await rieši čakanie na I/O</a:t>
            </a:r>
            <a:endParaRPr lang="en-US" sz="2900" dirty="0"/>
          </a:p>
        </p:txBody>
      </p:sp>
      <p:sp>
        <p:nvSpPr>
          <p:cNvPr id="9" name="Text 7"/>
          <p:cNvSpPr/>
          <p:nvPr/>
        </p:nvSpPr>
        <p:spPr>
          <a:xfrm>
            <a:off x="685800" y="1719072"/>
            <a:ext cx="9966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async neznamená automaticky rýchlejší kód. Pomáha vtedy, keď server čaká na sieť, databázu alebo iné I/O a framework môže obslúžiť ďalší request.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868680" y="2487168"/>
            <a:ext cx="9921240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CPU-bound práca potrebuje inú stratégiu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nemiešať blokujúce volania do async handlerov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driver knižnice musí podporovať async API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merajte, nepredpokladajte</a:t>
            </a:r>
            <a:endParaRPr lang="en-US" sz="18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10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31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Development boundary</a:t>
            </a:r>
            <a:endParaRPr lang="en-US" sz="2900" dirty="0"/>
          </a:p>
        </p:txBody>
      </p:sp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" y="1847088"/>
          <a:ext cx="10899648" cy="3520440"/>
        </p:xfrm>
        <a:graphic>
          <a:graphicData uri="http://schemas.openxmlformats.org/drawingml/2006/table">
            <a:tbl>
              <a:tblPr/>
              <a:tblGrid>
                <a:gridCol w="1828800"/>
                <a:gridCol w="4846320"/>
                <a:gridCol w="4224528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Oblasť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Development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Production concern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server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uvicorn --reload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process manager, workers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database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lokálne SQLite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migrácie, backup, pooling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logging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čitateľné lokálne logy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centralizácia, redaction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security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validácia a secrets mimo kódu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TLS, auth, monitoring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658368" y="1847088"/>
            <a:ext cx="10899648" cy="548640"/>
          </a:xfrm>
          <a:prstGeom prst="rect">
            <a:avLst/>
          </a:prstGeom>
          <a:solidFill>
            <a:srgbClr val="16324F"/>
          </a:solidFill>
          <a:ln w="12700">
            <a:solidFill>
              <a:srgbClr val="16324F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86384" y="1993392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Oblasť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2615184" y="1993392"/>
            <a:ext cx="4617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Development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7461504" y="1993392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Production concern</a:t>
            </a:r>
            <a:endParaRPr lang="en-US" sz="14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10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32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Ako sa spojil semester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94944" y="2834640"/>
            <a:ext cx="1984248" cy="1042416"/>
          </a:xfrm>
          <a:prstGeom prst="roundRect">
            <a:avLst>
              <a:gd name="adj" fmla="val 4386"/>
            </a:avLst>
          </a:prstGeom>
          <a:solidFill>
            <a:srgbClr val="F3F6F8"/>
          </a:solidFill>
          <a:ln w="12700">
            <a:solidFill>
              <a:srgbClr val="D8E0E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04672" y="3063240"/>
            <a:ext cx="17647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Python foundations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2633472" y="3209544"/>
            <a:ext cx="182880" cy="292608"/>
          </a:xfrm>
          <a:prstGeom prst="chevron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907792" y="2834640"/>
            <a:ext cx="1984248" cy="1042416"/>
          </a:xfrm>
          <a:prstGeom prst="roundRect">
            <a:avLst>
              <a:gd name="adj" fmla="val 4386"/>
            </a:avLst>
          </a:prstGeom>
          <a:solidFill>
            <a:srgbClr val="EAF3F7"/>
          </a:solidFill>
          <a:ln w="12700">
            <a:solidFill>
              <a:srgbClr val="9DCCD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017520" y="3063240"/>
            <a:ext cx="17647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automation + GUI</a:t>
            </a:r>
            <a:endParaRPr lang="en-US" sz="1450" dirty="0"/>
          </a:p>
        </p:txBody>
      </p:sp>
      <p:sp>
        <p:nvSpPr>
          <p:cNvPr id="14" name="Shape 12"/>
          <p:cNvSpPr/>
          <p:nvPr/>
        </p:nvSpPr>
        <p:spPr>
          <a:xfrm>
            <a:off x="4846320" y="3209544"/>
            <a:ext cx="182880" cy="292608"/>
          </a:xfrm>
          <a:prstGeom prst="chevron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120640" y="2834640"/>
            <a:ext cx="1984248" cy="1042416"/>
          </a:xfrm>
          <a:prstGeom prst="roundRect">
            <a:avLst>
              <a:gd name="adj" fmla="val 4386"/>
            </a:avLst>
          </a:prstGeom>
          <a:solidFill>
            <a:srgbClr val="F3F6F8"/>
          </a:solidFill>
          <a:ln w="12700">
            <a:solidFill>
              <a:srgbClr val="D8E0E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230368" y="3063240"/>
            <a:ext cx="17647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testing</a:t>
            </a:r>
            <a:endParaRPr lang="en-US" sz="1450" dirty="0"/>
          </a:p>
        </p:txBody>
      </p:sp>
      <p:sp>
        <p:nvSpPr>
          <p:cNvPr id="17" name="Shape 15"/>
          <p:cNvSpPr/>
          <p:nvPr/>
        </p:nvSpPr>
        <p:spPr>
          <a:xfrm>
            <a:off x="7059168" y="3209544"/>
            <a:ext cx="182880" cy="292608"/>
          </a:xfrm>
          <a:prstGeom prst="chevron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333488" y="2834640"/>
            <a:ext cx="1984248" cy="1042416"/>
          </a:xfrm>
          <a:prstGeom prst="roundRect">
            <a:avLst>
              <a:gd name="adj" fmla="val 4386"/>
            </a:avLst>
          </a:prstGeom>
          <a:solidFill>
            <a:srgbClr val="EAF3F7"/>
          </a:solidFill>
          <a:ln w="12700">
            <a:solidFill>
              <a:srgbClr val="9DCCD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443216" y="3063240"/>
            <a:ext cx="17647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HTTP + database</a:t>
            </a:r>
            <a:endParaRPr lang="en-US" sz="1450" dirty="0"/>
          </a:p>
        </p:txBody>
      </p:sp>
      <p:sp>
        <p:nvSpPr>
          <p:cNvPr id="20" name="Shape 18"/>
          <p:cNvSpPr/>
          <p:nvPr/>
        </p:nvSpPr>
        <p:spPr>
          <a:xfrm>
            <a:off x="9272016" y="3209544"/>
            <a:ext cx="182880" cy="292608"/>
          </a:xfrm>
          <a:prstGeom prst="chevron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546336" y="2834640"/>
            <a:ext cx="1984248" cy="1042416"/>
          </a:xfrm>
          <a:prstGeom prst="roundRect">
            <a:avLst>
              <a:gd name="adj" fmla="val 4386"/>
            </a:avLst>
          </a:prstGeom>
          <a:solidFill>
            <a:srgbClr val="F3F6F8"/>
          </a:solidFill>
          <a:ln w="12700">
            <a:solidFill>
              <a:srgbClr val="D8E0E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656064" y="3063240"/>
            <a:ext cx="17647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data + security + backend</a:t>
            </a:r>
            <a:endParaRPr lang="en-US" sz="145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10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33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749808" y="1554480"/>
            <a:ext cx="1042416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Backend je syntéza, nie nový izolovaný svet.</a:t>
            </a:r>
            <a:endParaRPr lang="en-US" sz="3400" dirty="0"/>
          </a:p>
        </p:txBody>
      </p:sp>
      <p:sp>
        <p:nvSpPr>
          <p:cNvPr id="9" name="Shape 7"/>
          <p:cNvSpPr/>
          <p:nvPr/>
        </p:nvSpPr>
        <p:spPr>
          <a:xfrm>
            <a:off x="768096" y="3456432"/>
            <a:ext cx="1417320" cy="109728"/>
          </a:xfrm>
          <a:prstGeom prst="rect">
            <a:avLst/>
          </a:prstGeom>
          <a:solidFill>
            <a:srgbClr val="E0A03A"/>
          </a:solidFill>
          <a:ln w="12700">
            <a:solidFill>
              <a:srgbClr val="E0A03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68096" y="3913632"/>
            <a:ext cx="8869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Používa rovnaké návyky ako zvyšok predmetu: pomenované dáta, malé funkcie, explicitné chyby, testy, konfiguráciu mimo kódu a rešpekt k hraniciam systému.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33</Slides>
  <Notes>33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3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</vt:vector>
  </TitlesOfParts>
  <Company>Technická univerzita v Košiciach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Web backend v Pythone</dc:title>
  <dc:subject>Programovanie v Pythone</dc:subject>
  <dc:creator>TUKE FEI</dc:creator>
  <cp:lastModifiedBy>TUKE FEI</cp:lastModifiedBy>
  <cp:revision>1</cp:revision>
  <dcterms:created xsi:type="dcterms:W3CDTF">2026-09-15T21:39:11Z</dcterms:created>
  <dcterms:modified xsi:type="dcterms:W3CDTF">2026-09-15T21:39:11Z</dcterms:modified>
</cp:coreProperties>
</file>