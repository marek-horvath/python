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</p:sldIdLst>
  <p:notesMasterIdLst>
    <p:notesMasterId r:id="rId27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notesMaster" Target="notesMasters/notesMaster1.xml"/><Relationship Id="rId28" Type="http://schemas.openxmlformats.org/officeDocument/2006/relationships/presProps" Target="presProps.xml"/><Relationship Id="rId29" Type="http://schemas.openxmlformats.org/officeDocument/2006/relationships/viewProps" Target="viewProps.xml"/><Relationship Id="rId30" Type="http://schemas.openxmlformats.org/officeDocument/2006/relationships/theme" Target="theme/theme1.xml"/><Relationship Id="rId3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37744" cy="6858000"/>
          </a:xfrm>
          <a:prstGeom prst="rect">
            <a:avLst/>
          </a:prstGeom>
          <a:solidFill>
            <a:srgbClr val="1877B9"/>
          </a:solidFill>
          <a:ln w="12700">
            <a:solidFill>
              <a:srgbClr val="1877B9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749808" y="685800"/>
            <a:ext cx="49377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00" b="1" spc="110" kern="0" dirty="0">
                <a:solidFill>
                  <a:srgbClr val="1877B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PROGRAMMING IN PYTHON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749808" y="2148840"/>
            <a:ext cx="97840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4200" b="1" dirty="0">
                <a:solidFill>
                  <a:srgbClr val="1632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Web Scraping and Browser Automation</a:t>
            </a:r>
            <a:endParaRPr lang="en-US" sz="4200" dirty="0"/>
          </a:p>
        </p:txBody>
      </p:sp>
      <p:sp>
        <p:nvSpPr>
          <p:cNvPr id="5" name="Text 3"/>
          <p:cNvSpPr/>
          <p:nvPr/>
        </p:nvSpPr>
        <p:spPr>
          <a:xfrm>
            <a:off x="786384" y="3310128"/>
            <a:ext cx="83210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2000" dirty="0">
                <a:solidFill>
                  <a:srgbClr val="5E6B7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Where is the data on the web?</a:t>
            </a:r>
            <a:endParaRPr lang="en-US" sz="2000" dirty="0"/>
          </a:p>
        </p:txBody>
      </p:sp>
      <p:sp>
        <p:nvSpPr>
          <p:cNvPr id="6" name="Shape 4"/>
          <p:cNvSpPr/>
          <p:nvPr/>
        </p:nvSpPr>
        <p:spPr>
          <a:xfrm>
            <a:off x="749808" y="5193792"/>
            <a:ext cx="2560320" cy="118872"/>
          </a:xfrm>
          <a:prstGeom prst="rect">
            <a:avLst/>
          </a:prstGeom>
          <a:solidFill>
            <a:srgbClr val="E0A03A"/>
          </a:solidFill>
          <a:ln w="12700">
            <a:solidFill>
              <a:srgbClr val="E0A03A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49808" y="5504688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5E6B7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TUKE FEI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10927080" y="6254496"/>
            <a:ext cx="56692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900" dirty="0">
                <a:solidFill>
                  <a:srgbClr val="5E6B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01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55448"/>
          </a:xfrm>
          <a:prstGeom prst="rect">
            <a:avLst/>
          </a:prstGeom>
          <a:solidFill>
            <a:srgbClr val="1877B9"/>
          </a:solidFill>
          <a:ln w="12700">
            <a:solidFill>
              <a:srgbClr val="1877B9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66928" y="320040"/>
            <a:ext cx="46634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900" b="1" spc="80" kern="0" dirty="0">
                <a:solidFill>
                  <a:srgbClr val="1877B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PROGRAMMING IN PYTHON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9829800" y="320040"/>
            <a:ext cx="1783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5E6B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LECTURE 08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566928" y="658368"/>
            <a:ext cx="11045952" cy="0"/>
          </a:xfrm>
          <a:prstGeom prst="line">
            <a:avLst/>
          </a:prstGeom>
          <a:noFill/>
          <a:ln w="12700">
            <a:solidFill>
              <a:srgbClr val="D8E0E6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66928" y="6419088"/>
            <a:ext cx="11045952" cy="0"/>
          </a:xfrm>
          <a:prstGeom prst="line">
            <a:avLst/>
          </a:prstGeom>
          <a:noFill/>
          <a:ln w="12700">
            <a:solidFill>
              <a:srgbClr val="D8E0E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1109960" y="6501384"/>
            <a:ext cx="45720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800" dirty="0">
                <a:solidFill>
                  <a:srgbClr val="5E6B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02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749808" y="1554480"/>
            <a:ext cx="10424160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1632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The browser is not proof that the data is in HTML.</a:t>
            </a:r>
            <a:endParaRPr lang="en-US" sz="3400" dirty="0"/>
          </a:p>
        </p:txBody>
      </p:sp>
      <p:sp>
        <p:nvSpPr>
          <p:cNvPr id="9" name="Shape 7"/>
          <p:cNvSpPr/>
          <p:nvPr/>
        </p:nvSpPr>
        <p:spPr>
          <a:xfrm>
            <a:off x="768096" y="3456432"/>
            <a:ext cx="1417320" cy="109728"/>
          </a:xfrm>
          <a:prstGeom prst="rect">
            <a:avLst/>
          </a:prstGeom>
          <a:solidFill>
            <a:srgbClr val="E0A03A"/>
          </a:solidFill>
          <a:ln w="12700">
            <a:solidFill>
              <a:srgbClr val="E0A03A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768096" y="3913632"/>
            <a:ext cx="88696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2200" dirty="0">
                <a:solidFill>
                  <a:srgbClr val="5E6B7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 site may have an official API, static HTML, or a JavaScript application that loads data after opening.</a:t>
            </a:r>
            <a:endParaRPr lang="en-US" sz="2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55448"/>
          </a:xfrm>
          <a:prstGeom prst="rect">
            <a:avLst/>
          </a:prstGeom>
          <a:solidFill>
            <a:srgbClr val="1877B9"/>
          </a:solidFill>
          <a:ln w="12700">
            <a:solidFill>
              <a:srgbClr val="1877B9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66928" y="320040"/>
            <a:ext cx="46634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900" b="1" spc="80" kern="0" dirty="0">
                <a:solidFill>
                  <a:srgbClr val="1877B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PROGRAMMING IN PYTHON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9829800" y="320040"/>
            <a:ext cx="1783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5E6B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LECTURE 08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566928" y="658368"/>
            <a:ext cx="11045952" cy="0"/>
          </a:xfrm>
          <a:prstGeom prst="line">
            <a:avLst/>
          </a:prstGeom>
          <a:noFill/>
          <a:ln w="12700">
            <a:solidFill>
              <a:srgbClr val="D8E0E6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66928" y="6419088"/>
            <a:ext cx="11045952" cy="0"/>
          </a:xfrm>
          <a:prstGeom prst="line">
            <a:avLst/>
          </a:prstGeom>
          <a:noFill/>
          <a:ln w="12700">
            <a:solidFill>
              <a:srgbClr val="D8E0E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1109960" y="6501384"/>
            <a:ext cx="45720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800" dirty="0">
                <a:solidFill>
                  <a:srgbClr val="5E6B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03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658368" y="932688"/>
            <a:ext cx="1078992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2900" b="1" dirty="0">
                <a:solidFill>
                  <a:srgbClr val="1632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Decide before writing a scraper</a:t>
            </a:r>
            <a:endParaRPr lang="en-US" sz="290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58368" y="1847088"/>
          <a:ext cx="10899648" cy="3520440"/>
        </p:xfrm>
        <a:graphic>
          <a:graphicData uri="http://schemas.openxmlformats.org/drawingml/2006/table">
            <a:tbl>
              <a:tblPr/>
              <a:tblGrid>
                <a:gridCol w="1828800"/>
                <a:gridCol w="4846320"/>
                <a:gridCol w="4224528"/>
              </a:tblGrid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50" dirty="0">
                          <a:solidFill>
                            <a:srgbClr val="18212B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Question</a:t>
                      </a:r>
                      <a:endParaRPr lang="en-US" sz="155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82296" marR="82296" marT="82296" marB="82296" anchor="mid">
                    <a:lnL w="7620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50" dirty="0">
                          <a:solidFill>
                            <a:srgbClr val="18212B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If yes</a:t>
                      </a:r>
                      <a:endParaRPr lang="en-US" sz="155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82296" marR="82296" marT="82296" marB="82296" anchor="mid">
                    <a:lnL w="7620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50" dirty="0">
                          <a:solidFill>
                            <a:srgbClr val="18212B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If no</a:t>
                      </a:r>
                      <a:endParaRPr lang="en-US" sz="155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82296" marR="82296" marT="82296" marB="82296" anchor="mid">
                    <a:lnL w="7620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50" dirty="0">
                          <a:solidFill>
                            <a:srgbClr val="18212B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Is there an API?</a:t>
                      </a:r>
                      <a:endParaRPr lang="en-US" sz="155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82296" marR="82296" marT="82296" marB="82296" anchor="mid">
                    <a:lnL w="7620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50" dirty="0">
                          <a:solidFill>
                            <a:srgbClr val="18212B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use an API client</a:t>
                      </a:r>
                      <a:endParaRPr lang="en-US" sz="155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82296" marR="82296" marT="82296" marB="82296" anchor="mid">
                    <a:lnL w="7620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50" dirty="0">
                          <a:solidFill>
                            <a:srgbClr val="18212B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inspect the HTML response</a:t>
                      </a:r>
                      <a:endParaRPr lang="en-US" sz="155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82296" marR="82296" marT="82296" marB="82296" anchor="mid">
                    <a:lnL w="7620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50" dirty="0">
                          <a:solidFill>
                            <a:srgbClr val="18212B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Is the data in HTML?</a:t>
                      </a:r>
                      <a:endParaRPr lang="en-US" sz="155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82296" marR="82296" marT="82296" marB="82296" anchor="mid">
                    <a:lnL w="7620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50" dirty="0">
                          <a:solidFill>
                            <a:srgbClr val="18212B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HTTPX + BeautifulSoup</a:t>
                      </a:r>
                      <a:endParaRPr lang="en-US" sz="155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82296" marR="82296" marT="82296" marB="82296" anchor="mid">
                    <a:lnL w="7620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50" dirty="0">
                          <a:solidFill>
                            <a:srgbClr val="18212B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inspect DevTools Network</a:t>
                      </a:r>
                      <a:endParaRPr lang="en-US" sz="155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82296" marR="82296" marT="82296" marB="82296" anchor="mid">
                    <a:lnL w="7620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50" dirty="0">
                          <a:solidFill>
                            <a:srgbClr val="18212B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Does the browser call a data endpoint?</a:t>
                      </a:r>
                      <a:endParaRPr lang="en-US" sz="155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82296" marR="82296" marT="82296" marB="82296" anchor="mid">
                    <a:lnL w="7620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50" dirty="0">
                          <a:solidFill>
                            <a:srgbClr val="18212B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consider a direct request</a:t>
                      </a:r>
                      <a:endParaRPr lang="en-US" sz="155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82296" marR="82296" marT="82296" marB="82296" anchor="mid">
                    <a:lnL w="7620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50" dirty="0">
                          <a:solidFill>
                            <a:srgbClr val="18212B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Playwright for interactions</a:t>
                      </a:r>
                      <a:endParaRPr lang="en-US" sz="155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82296" marR="82296" marT="82296" marB="82296" anchor="mid">
                    <a:lnL w="7620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Shape 7"/>
          <p:cNvSpPr/>
          <p:nvPr/>
        </p:nvSpPr>
        <p:spPr>
          <a:xfrm>
            <a:off x="658368" y="1847088"/>
            <a:ext cx="10899648" cy="548640"/>
          </a:xfrm>
          <a:prstGeom prst="rect">
            <a:avLst/>
          </a:prstGeom>
          <a:solidFill>
            <a:srgbClr val="16324F"/>
          </a:solidFill>
          <a:ln w="12700">
            <a:solidFill>
              <a:srgbClr val="16324F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786384" y="1993392"/>
            <a:ext cx="15544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Question</a:t>
            </a:r>
            <a:endParaRPr lang="en-US" sz="1400" dirty="0"/>
          </a:p>
        </p:txBody>
      </p:sp>
      <p:sp>
        <p:nvSpPr>
          <p:cNvPr id="12" name="Text 9"/>
          <p:cNvSpPr/>
          <p:nvPr/>
        </p:nvSpPr>
        <p:spPr>
          <a:xfrm>
            <a:off x="2615184" y="1993392"/>
            <a:ext cx="46177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If yes</a:t>
            </a:r>
            <a:endParaRPr lang="en-US" sz="1400" dirty="0"/>
          </a:p>
        </p:txBody>
      </p:sp>
      <p:sp>
        <p:nvSpPr>
          <p:cNvPr id="13" name="Text 10"/>
          <p:cNvSpPr/>
          <p:nvPr/>
        </p:nvSpPr>
        <p:spPr>
          <a:xfrm>
            <a:off x="7461504" y="1993392"/>
            <a:ext cx="38404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If no</a:t>
            </a:r>
            <a:endParaRPr lang="en-US" sz="14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55448"/>
          </a:xfrm>
          <a:prstGeom prst="rect">
            <a:avLst/>
          </a:prstGeom>
          <a:solidFill>
            <a:srgbClr val="1877B9"/>
          </a:solidFill>
          <a:ln w="12700">
            <a:solidFill>
              <a:srgbClr val="1877B9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66928" y="320040"/>
            <a:ext cx="46634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900" b="1" spc="80" kern="0" dirty="0">
                <a:solidFill>
                  <a:srgbClr val="1877B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PROGRAMMING IN PYTHON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9829800" y="320040"/>
            <a:ext cx="1783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5E6B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LECTURE 08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566928" y="658368"/>
            <a:ext cx="11045952" cy="0"/>
          </a:xfrm>
          <a:prstGeom prst="line">
            <a:avLst/>
          </a:prstGeom>
          <a:noFill/>
          <a:ln w="12700">
            <a:solidFill>
              <a:srgbClr val="D8E0E6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66928" y="6419088"/>
            <a:ext cx="11045952" cy="0"/>
          </a:xfrm>
          <a:prstGeom prst="line">
            <a:avLst/>
          </a:prstGeom>
          <a:noFill/>
          <a:ln w="12700">
            <a:solidFill>
              <a:srgbClr val="D8E0E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1109960" y="6501384"/>
            <a:ext cx="45720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800" dirty="0">
                <a:solidFill>
                  <a:srgbClr val="5E6B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04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713232" y="1353312"/>
            <a:ext cx="1280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1877B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01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713232" y="2011680"/>
            <a:ext cx="98755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3700" b="1" dirty="0">
                <a:solidFill>
                  <a:srgbClr val="1632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HTML response</a:t>
            </a:r>
            <a:endParaRPr lang="en-US" sz="3700" dirty="0"/>
          </a:p>
        </p:txBody>
      </p:sp>
      <p:sp>
        <p:nvSpPr>
          <p:cNvPr id="10" name="Text 8"/>
          <p:cNvSpPr/>
          <p:nvPr/>
        </p:nvSpPr>
        <p:spPr>
          <a:xfrm>
            <a:off x="749808" y="3063240"/>
            <a:ext cx="78638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2000" dirty="0">
                <a:solidFill>
                  <a:srgbClr val="5E6B7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If the data is already in the server response, no browser is needed.</a:t>
            </a:r>
            <a:endParaRPr lang="en-US" sz="2000" dirty="0"/>
          </a:p>
        </p:txBody>
      </p:sp>
      <p:sp>
        <p:nvSpPr>
          <p:cNvPr id="11" name="Shape 9"/>
          <p:cNvSpPr/>
          <p:nvPr/>
        </p:nvSpPr>
        <p:spPr>
          <a:xfrm>
            <a:off x="731520" y="3977640"/>
            <a:ext cx="2834640" cy="128016"/>
          </a:xfrm>
          <a:prstGeom prst="rect">
            <a:avLst/>
          </a:prstGeom>
          <a:solidFill>
            <a:srgbClr val="1877B9"/>
          </a:solidFill>
          <a:ln w="12700">
            <a:solidFill>
              <a:srgbClr val="1877B9"/>
            </a:solidFill>
            <a:prstDash val="solid"/>
          </a:ln>
        </p:spPr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55448"/>
          </a:xfrm>
          <a:prstGeom prst="rect">
            <a:avLst/>
          </a:prstGeom>
          <a:solidFill>
            <a:srgbClr val="1877B9"/>
          </a:solidFill>
          <a:ln w="12700">
            <a:solidFill>
              <a:srgbClr val="1877B9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66928" y="320040"/>
            <a:ext cx="46634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900" b="1" spc="80" kern="0" dirty="0">
                <a:solidFill>
                  <a:srgbClr val="1877B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PROGRAMMING IN PYTHON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9829800" y="320040"/>
            <a:ext cx="1783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5E6B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LECTURE 08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566928" y="658368"/>
            <a:ext cx="11045952" cy="0"/>
          </a:xfrm>
          <a:prstGeom prst="line">
            <a:avLst/>
          </a:prstGeom>
          <a:noFill/>
          <a:ln w="12700">
            <a:solidFill>
              <a:srgbClr val="D8E0E6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66928" y="6419088"/>
            <a:ext cx="11045952" cy="0"/>
          </a:xfrm>
          <a:prstGeom prst="line">
            <a:avLst/>
          </a:prstGeom>
          <a:noFill/>
          <a:ln w="12700">
            <a:solidFill>
              <a:srgbClr val="D8E0E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1109960" y="6501384"/>
            <a:ext cx="45720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800" dirty="0">
                <a:solidFill>
                  <a:srgbClr val="5E6B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05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658368" y="932688"/>
            <a:ext cx="1078992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2900" b="1" dirty="0">
                <a:solidFill>
                  <a:srgbClr val="1632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HTML minimum for parsing</a:t>
            </a:r>
            <a:endParaRPr lang="en-US" sz="2900" dirty="0"/>
          </a:p>
        </p:txBody>
      </p:sp>
      <p:sp>
        <p:nvSpPr>
          <p:cNvPr id="9" name="Shape 7"/>
          <p:cNvSpPr/>
          <p:nvPr/>
        </p:nvSpPr>
        <p:spPr>
          <a:xfrm>
            <a:off x="658368" y="1783080"/>
            <a:ext cx="10899648" cy="4069080"/>
          </a:xfrm>
          <a:prstGeom prst="rect">
            <a:avLst/>
          </a:prstGeom>
          <a:solidFill>
            <a:srgbClr val="17212B"/>
          </a:solidFill>
          <a:ln w="12700">
            <a:solidFill>
              <a:srgbClr val="17212B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896112" y="1984248"/>
            <a:ext cx="99669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850" b="1" spc="70" kern="0" dirty="0">
                <a:solidFill>
                  <a:srgbClr val="8FD3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html</a:t>
            </a:r>
            <a:endParaRPr lang="en-US" sz="850" dirty="0"/>
          </a:p>
        </p:txBody>
      </p:sp>
      <p:sp>
        <p:nvSpPr>
          <p:cNvPr id="11" name="Text 9"/>
          <p:cNvSpPr/>
          <p:nvPr/>
        </p:nvSpPr>
        <p:spPr>
          <a:xfrm>
            <a:off x="896112" y="2395728"/>
            <a:ext cx="9893808" cy="30632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75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&lt;article class="product"&gt;</a:t>
            </a:r>
            <a:endParaRPr lang="en-US" sz="1750" dirty="0"/>
          </a:p>
          <a:p>
            <a:pPr algn="l" indent="0" marL="0">
              <a:buNone/>
            </a:pPr>
            <a:r>
              <a:rPr lang="en-US" sz="175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&lt;a class="product__link" href="/products/42"&gt;Keyboard&lt;/a&gt;</a:t>
            </a:r>
            <a:endParaRPr lang="en-US" sz="1750" dirty="0"/>
          </a:p>
          <a:p>
            <a:pPr algn="l" indent="0" marL="0">
              <a:buNone/>
            </a:pPr>
            <a:r>
              <a:rPr lang="en-US" sz="175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&lt;span class="price"&gt;39.90 €&lt;/span&gt;</a:t>
            </a:r>
            <a:endParaRPr lang="en-US" sz="1750" dirty="0"/>
          </a:p>
          <a:p>
            <a:pPr algn="l" indent="0" marL="0">
              <a:buNone/>
            </a:pPr>
            <a:r>
              <a:rPr lang="en-US" sz="175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&lt;span class="rating" data-score="4.6"&gt;★★★★☆&lt;/span&gt;</a:t>
            </a:r>
            <a:endParaRPr lang="en-US" sz="1750" dirty="0"/>
          </a:p>
          <a:p>
            <a:pPr algn="l" indent="0" marL="0">
              <a:buNone/>
            </a:pPr>
            <a:r>
              <a:rPr lang="en-US" sz="175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&lt;/article&gt;</a:t>
            </a:r>
            <a:endParaRPr lang="en-US" sz="1750" dirty="0"/>
          </a:p>
        </p:txBody>
      </p:sp>
      <p:sp>
        <p:nvSpPr>
          <p:cNvPr id="12" name="Text 10"/>
          <p:cNvSpPr/>
          <p:nvPr/>
        </p:nvSpPr>
        <p:spPr>
          <a:xfrm>
            <a:off x="768096" y="6053328"/>
            <a:ext cx="99212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550" dirty="0">
                <a:solidFill>
                  <a:srgbClr val="5E6B7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 scraper needs structure: elements, classes, text and attributes. It does not need to understand the whole CSS layout.</a:t>
            </a:r>
            <a:endParaRPr lang="en-US" sz="15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55448"/>
          </a:xfrm>
          <a:prstGeom prst="rect">
            <a:avLst/>
          </a:prstGeom>
          <a:solidFill>
            <a:srgbClr val="1877B9"/>
          </a:solidFill>
          <a:ln w="12700">
            <a:solidFill>
              <a:srgbClr val="1877B9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66928" y="320040"/>
            <a:ext cx="46634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900" b="1" spc="80" kern="0" dirty="0">
                <a:solidFill>
                  <a:srgbClr val="1877B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PROGRAMMING IN PYTHON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9829800" y="320040"/>
            <a:ext cx="1783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5E6B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LECTURE 08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566928" y="658368"/>
            <a:ext cx="11045952" cy="0"/>
          </a:xfrm>
          <a:prstGeom prst="line">
            <a:avLst/>
          </a:prstGeom>
          <a:noFill/>
          <a:ln w="12700">
            <a:solidFill>
              <a:srgbClr val="D8E0E6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66928" y="6419088"/>
            <a:ext cx="11045952" cy="0"/>
          </a:xfrm>
          <a:prstGeom prst="line">
            <a:avLst/>
          </a:prstGeom>
          <a:noFill/>
          <a:ln w="12700">
            <a:solidFill>
              <a:srgbClr val="D8E0E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1109960" y="6501384"/>
            <a:ext cx="45720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800" dirty="0">
                <a:solidFill>
                  <a:srgbClr val="5E6B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06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658368" y="932688"/>
            <a:ext cx="1078992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2900" b="1" dirty="0">
                <a:solidFill>
                  <a:srgbClr val="1632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Downloading HTML through HTTPX</a:t>
            </a:r>
            <a:endParaRPr lang="en-US" sz="2900" dirty="0"/>
          </a:p>
        </p:txBody>
      </p:sp>
      <p:sp>
        <p:nvSpPr>
          <p:cNvPr id="9" name="Shape 7"/>
          <p:cNvSpPr/>
          <p:nvPr/>
        </p:nvSpPr>
        <p:spPr>
          <a:xfrm>
            <a:off x="658368" y="1828800"/>
            <a:ext cx="6812280" cy="4069080"/>
          </a:xfrm>
          <a:prstGeom prst="roundRect">
            <a:avLst>
              <a:gd name="adj" fmla="val 1348"/>
            </a:avLst>
          </a:prstGeom>
          <a:solidFill>
            <a:srgbClr val="17212B"/>
          </a:solidFill>
          <a:ln w="12700">
            <a:solidFill>
              <a:srgbClr val="17212B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868680" y="2029968"/>
            <a:ext cx="63093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850" b="1" spc="70" kern="0" dirty="0">
                <a:solidFill>
                  <a:srgbClr val="8FD3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python</a:t>
            </a:r>
            <a:endParaRPr lang="en-US" sz="850" dirty="0"/>
          </a:p>
        </p:txBody>
      </p:sp>
      <p:sp>
        <p:nvSpPr>
          <p:cNvPr id="11" name="Text 9"/>
          <p:cNvSpPr/>
          <p:nvPr/>
        </p:nvSpPr>
        <p:spPr>
          <a:xfrm>
            <a:off x="877824" y="2395728"/>
            <a:ext cx="6327648" cy="32461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65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import httpx</a:t>
            </a:r>
            <a:endParaRPr lang="en-US" sz="1650" dirty="0"/>
          </a:p>
          <a:p>
            <a:pPr algn="l" indent="0" marL="0">
              <a:buNone/>
            </a:pPr>
            <a:endParaRPr lang="en-US" sz="1650" dirty="0"/>
          </a:p>
          <a:p>
            <a:pPr algn="l" indent="0" marL="0">
              <a:buNone/>
            </a:pPr>
            <a:r>
              <a:rPr lang="en-US" sz="165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response = httpx.get(</a:t>
            </a:r>
            <a:endParaRPr lang="en-US" sz="1650" dirty="0"/>
          </a:p>
          <a:p>
            <a:pPr algn="l" indent="0" marL="0">
              <a:buNone/>
            </a:pPr>
            <a:r>
              <a:rPr lang="en-US" sz="165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"https://example.com/products",</a:t>
            </a:r>
            <a:endParaRPr lang="en-US" sz="1650" dirty="0"/>
          </a:p>
          <a:p>
            <a:pPr algn="l" indent="0" marL="0">
              <a:buNone/>
            </a:pPr>
            <a:r>
              <a:rPr lang="en-US" sz="165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timeout=10.0,</a:t>
            </a:r>
            <a:endParaRPr lang="en-US" sz="1650" dirty="0"/>
          </a:p>
          <a:p>
            <a:pPr algn="l" indent="0" marL="0">
              <a:buNone/>
            </a:pPr>
            <a:r>
              <a:rPr lang="en-US" sz="165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headers={"User-Agent": "python-course-scraper/1.0"},</a:t>
            </a:r>
            <a:endParaRPr lang="en-US" sz="1650" dirty="0"/>
          </a:p>
          <a:p>
            <a:pPr algn="l" indent="0" marL="0">
              <a:buNone/>
            </a:pPr>
            <a:r>
              <a:rPr lang="en-US" sz="165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</a:t>
            </a:r>
            <a:endParaRPr lang="en-US" sz="1650" dirty="0"/>
          </a:p>
          <a:p>
            <a:pPr algn="l" indent="0" marL="0">
              <a:buNone/>
            </a:pPr>
            <a:r>
              <a:rPr lang="en-US" sz="165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response.raise_for_status()</a:t>
            </a:r>
            <a:endParaRPr lang="en-US" sz="1650" dirty="0"/>
          </a:p>
          <a:p>
            <a:pPr algn="l" indent="0" marL="0">
              <a:buNone/>
            </a:pPr>
            <a:r>
              <a:rPr lang="en-US" sz="165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html = response.text</a:t>
            </a:r>
            <a:endParaRPr lang="en-US" sz="1650" dirty="0"/>
          </a:p>
        </p:txBody>
      </p:sp>
      <p:sp>
        <p:nvSpPr>
          <p:cNvPr id="12" name="Shape 10"/>
          <p:cNvSpPr/>
          <p:nvPr/>
        </p:nvSpPr>
        <p:spPr>
          <a:xfrm>
            <a:off x="7909560" y="1901952"/>
            <a:ext cx="0" cy="3566160"/>
          </a:xfrm>
          <a:prstGeom prst="line">
            <a:avLst/>
          </a:prstGeom>
          <a:noFill/>
          <a:ln w="12700">
            <a:solidFill>
              <a:srgbClr val="1877B9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8229600" y="2130552"/>
            <a:ext cx="2743200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800" dirty="0">
                <a:solidFill>
                  <a:srgbClr val="5E6B7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Scraping also starts with an HTTP client. Status and timeout are handled as with APIs.</a:t>
            </a:r>
            <a:endParaRPr lang="en-US" sz="1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55448"/>
          </a:xfrm>
          <a:prstGeom prst="rect">
            <a:avLst/>
          </a:prstGeom>
          <a:solidFill>
            <a:srgbClr val="1877B9"/>
          </a:solidFill>
          <a:ln w="12700">
            <a:solidFill>
              <a:srgbClr val="1877B9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66928" y="320040"/>
            <a:ext cx="46634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900" b="1" spc="80" kern="0" dirty="0">
                <a:solidFill>
                  <a:srgbClr val="1877B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PROGRAMMING IN PYTHON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9829800" y="320040"/>
            <a:ext cx="1783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5E6B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LECTURE 08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566928" y="658368"/>
            <a:ext cx="11045952" cy="0"/>
          </a:xfrm>
          <a:prstGeom prst="line">
            <a:avLst/>
          </a:prstGeom>
          <a:noFill/>
          <a:ln w="12700">
            <a:solidFill>
              <a:srgbClr val="D8E0E6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66928" y="6419088"/>
            <a:ext cx="11045952" cy="0"/>
          </a:xfrm>
          <a:prstGeom prst="line">
            <a:avLst/>
          </a:prstGeom>
          <a:noFill/>
          <a:ln w="12700">
            <a:solidFill>
              <a:srgbClr val="D8E0E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1109960" y="6501384"/>
            <a:ext cx="45720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800" dirty="0">
                <a:solidFill>
                  <a:srgbClr val="5E6B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07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658368" y="932688"/>
            <a:ext cx="1078992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2900" b="1" dirty="0">
                <a:solidFill>
                  <a:srgbClr val="1632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BeautifulSoup creates a tree</a:t>
            </a:r>
            <a:endParaRPr lang="en-US" sz="2900" dirty="0"/>
          </a:p>
        </p:txBody>
      </p:sp>
      <p:sp>
        <p:nvSpPr>
          <p:cNvPr id="9" name="Shape 7"/>
          <p:cNvSpPr/>
          <p:nvPr/>
        </p:nvSpPr>
        <p:spPr>
          <a:xfrm>
            <a:off x="658368" y="1828800"/>
            <a:ext cx="6812280" cy="4069080"/>
          </a:xfrm>
          <a:prstGeom prst="roundRect">
            <a:avLst>
              <a:gd name="adj" fmla="val 1348"/>
            </a:avLst>
          </a:prstGeom>
          <a:solidFill>
            <a:srgbClr val="17212B"/>
          </a:solidFill>
          <a:ln w="12700">
            <a:solidFill>
              <a:srgbClr val="17212B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868680" y="2029968"/>
            <a:ext cx="63093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850" b="1" spc="70" kern="0" dirty="0">
                <a:solidFill>
                  <a:srgbClr val="8FD3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python</a:t>
            </a:r>
            <a:endParaRPr lang="en-US" sz="850" dirty="0"/>
          </a:p>
        </p:txBody>
      </p:sp>
      <p:sp>
        <p:nvSpPr>
          <p:cNvPr id="11" name="Text 9"/>
          <p:cNvSpPr/>
          <p:nvPr/>
        </p:nvSpPr>
        <p:spPr>
          <a:xfrm>
            <a:off x="877824" y="2395728"/>
            <a:ext cx="6327648" cy="32461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65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from bs4 import BeautifulSoup</a:t>
            </a:r>
            <a:endParaRPr lang="en-US" sz="1650" dirty="0"/>
          </a:p>
          <a:p>
            <a:pPr algn="l" indent="0" marL="0">
              <a:buNone/>
            </a:pPr>
            <a:endParaRPr lang="en-US" sz="1650" dirty="0"/>
          </a:p>
          <a:p>
            <a:pPr algn="l" indent="0" marL="0">
              <a:buNone/>
            </a:pPr>
            <a:r>
              <a:rPr lang="en-US" sz="165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soup = BeautifulSoup(html, "html.parser")</a:t>
            </a:r>
            <a:endParaRPr lang="en-US" sz="1650" dirty="0"/>
          </a:p>
          <a:p>
            <a:pPr algn="l" indent="0" marL="0">
              <a:buNone/>
            </a:pPr>
            <a:endParaRPr lang="en-US" sz="1650" dirty="0"/>
          </a:p>
          <a:p>
            <a:pPr algn="l" indent="0" marL="0">
              <a:buNone/>
            </a:pPr>
            <a:r>
              <a:rPr lang="en-US" sz="165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for item in soup.select("article.product"):</a:t>
            </a:r>
            <a:endParaRPr lang="en-US" sz="1650" dirty="0"/>
          </a:p>
          <a:p>
            <a:pPr algn="l" indent="0" marL="0">
              <a:buNone/>
            </a:pPr>
            <a:r>
              <a:rPr lang="en-US" sz="165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title = item.select_one(".product__link").get_text(strip=True)</a:t>
            </a:r>
            <a:endParaRPr lang="en-US" sz="1650" dirty="0"/>
          </a:p>
          <a:p>
            <a:pPr algn="l" indent="0" marL="0">
              <a:buNone/>
            </a:pPr>
            <a:r>
              <a:rPr lang="en-US" sz="165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print(title)</a:t>
            </a:r>
            <a:endParaRPr lang="en-US" sz="1650" dirty="0"/>
          </a:p>
        </p:txBody>
      </p:sp>
      <p:sp>
        <p:nvSpPr>
          <p:cNvPr id="12" name="Shape 10"/>
          <p:cNvSpPr/>
          <p:nvPr/>
        </p:nvSpPr>
        <p:spPr>
          <a:xfrm>
            <a:off x="7909560" y="1901952"/>
            <a:ext cx="0" cy="3566160"/>
          </a:xfrm>
          <a:prstGeom prst="line">
            <a:avLst/>
          </a:prstGeom>
          <a:noFill/>
          <a:ln w="12700">
            <a:solidFill>
              <a:srgbClr val="1877B9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8229600" y="2130552"/>
            <a:ext cx="2743200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800" dirty="0">
                <a:solidFill>
                  <a:srgbClr val="5E6B7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 CSS selector should be specific enough, but not dependent on an accidental position in the layout.</a:t>
            </a:r>
            <a:endParaRPr lang="en-US" sz="1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55448"/>
          </a:xfrm>
          <a:prstGeom prst="rect">
            <a:avLst/>
          </a:prstGeom>
          <a:solidFill>
            <a:srgbClr val="1877B9"/>
          </a:solidFill>
          <a:ln w="12700">
            <a:solidFill>
              <a:srgbClr val="1877B9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66928" y="320040"/>
            <a:ext cx="46634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900" b="1" spc="80" kern="0" dirty="0">
                <a:solidFill>
                  <a:srgbClr val="1877B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PROGRAMMING IN PYTHON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9829800" y="320040"/>
            <a:ext cx="1783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5E6B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LECTURE 08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566928" y="658368"/>
            <a:ext cx="11045952" cy="0"/>
          </a:xfrm>
          <a:prstGeom prst="line">
            <a:avLst/>
          </a:prstGeom>
          <a:noFill/>
          <a:ln w="12700">
            <a:solidFill>
              <a:srgbClr val="D8E0E6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66928" y="6419088"/>
            <a:ext cx="11045952" cy="0"/>
          </a:xfrm>
          <a:prstGeom prst="line">
            <a:avLst/>
          </a:prstGeom>
          <a:noFill/>
          <a:ln w="12700">
            <a:solidFill>
              <a:srgbClr val="D8E0E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1109960" y="6501384"/>
            <a:ext cx="45720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800" dirty="0">
                <a:solidFill>
                  <a:srgbClr val="5E6B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08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658368" y="932688"/>
            <a:ext cx="1078992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2900" b="1" dirty="0">
                <a:solidFill>
                  <a:srgbClr val="1632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Text and attributes are different data</a:t>
            </a:r>
            <a:endParaRPr lang="en-US" sz="2900" dirty="0"/>
          </a:p>
        </p:txBody>
      </p:sp>
      <p:sp>
        <p:nvSpPr>
          <p:cNvPr id="9" name="Shape 7"/>
          <p:cNvSpPr/>
          <p:nvPr/>
        </p:nvSpPr>
        <p:spPr>
          <a:xfrm>
            <a:off x="713232" y="1874520"/>
            <a:ext cx="5010912" cy="109728"/>
          </a:xfrm>
          <a:prstGeom prst="rect">
            <a:avLst/>
          </a:prstGeom>
          <a:solidFill>
            <a:srgbClr val="167C80"/>
          </a:solidFill>
          <a:ln w="12700">
            <a:solidFill>
              <a:srgbClr val="167C80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713232" y="2212848"/>
            <a:ext cx="501091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632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text</a:t>
            </a:r>
            <a:endParaRPr lang="en-US" sz="2000" dirty="0"/>
          </a:p>
        </p:txBody>
      </p:sp>
      <p:sp>
        <p:nvSpPr>
          <p:cNvPr id="11" name="Text 9"/>
          <p:cNvSpPr/>
          <p:nvPr/>
        </p:nvSpPr>
        <p:spPr>
          <a:xfrm>
            <a:off x="768096" y="2788920"/>
            <a:ext cx="4919472" cy="388620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</a:bodyPr>
          <a:lstStyle/>
          <a:p>
            <a:pPr marL="228600" indent="-228600">
              <a:buSzPct val="100000"/>
              <a:buChar char="•"/>
            </a:pPr>
            <a:r>
              <a:rPr lang="en-US" sz="1650" dirty="0">
                <a:solidFill>
                  <a:srgbClr val="18212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visible element content</a:t>
            </a:r>
            <a:endParaRPr lang="en-US" sz="1650" dirty="0"/>
          </a:p>
          <a:p>
            <a:pPr marL="228600" indent="-228600">
              <a:buSzPct val="100000"/>
              <a:buChar char="•"/>
            </a:pPr>
            <a:r>
              <a:rPr lang="en-US" sz="1650" dirty="0">
                <a:solidFill>
                  <a:srgbClr val="18212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get_text(strip=True)</a:t>
            </a:r>
            <a:endParaRPr lang="en-US" sz="1650" dirty="0"/>
          </a:p>
          <a:p>
            <a:pPr marL="228600" indent="-228600">
              <a:buSzPct val="100000"/>
              <a:buChar char="•"/>
            </a:pPr>
            <a:r>
              <a:rPr lang="en-US" sz="1650" dirty="0">
                <a:solidFill>
                  <a:srgbClr val="18212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product name or price</a:t>
            </a:r>
            <a:endParaRPr lang="en-US" sz="1650" dirty="0"/>
          </a:p>
          <a:p>
            <a:pPr marL="228600" indent="-228600">
              <a:buSzPct val="100000"/>
              <a:buChar char="•"/>
            </a:pPr>
            <a:r>
              <a:rPr lang="en-US" sz="1650" dirty="0">
                <a:solidFill>
                  <a:srgbClr val="18212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may include whitespace</a:t>
            </a:r>
            <a:endParaRPr lang="en-US" sz="1650" dirty="0"/>
          </a:p>
        </p:txBody>
      </p:sp>
      <p:sp>
        <p:nvSpPr>
          <p:cNvPr id="12" name="Shape 10"/>
          <p:cNvSpPr/>
          <p:nvPr/>
        </p:nvSpPr>
        <p:spPr>
          <a:xfrm>
            <a:off x="6373368" y="1874520"/>
            <a:ext cx="5010912" cy="109728"/>
          </a:xfrm>
          <a:prstGeom prst="rect">
            <a:avLst/>
          </a:prstGeom>
          <a:solidFill>
            <a:srgbClr val="E0A03A"/>
          </a:solidFill>
          <a:ln w="12700">
            <a:solidFill>
              <a:srgbClr val="E0A03A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373368" y="2212848"/>
            <a:ext cx="501091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632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attribute</a:t>
            </a:r>
            <a:endParaRPr lang="en-US" sz="2000" dirty="0"/>
          </a:p>
        </p:txBody>
      </p:sp>
      <p:sp>
        <p:nvSpPr>
          <p:cNvPr id="14" name="Text 12"/>
          <p:cNvSpPr/>
          <p:nvPr/>
        </p:nvSpPr>
        <p:spPr>
          <a:xfrm>
            <a:off x="6428232" y="2788920"/>
            <a:ext cx="4919472" cy="388620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</a:bodyPr>
          <a:lstStyle/>
          <a:p>
            <a:pPr marL="228600" indent="-228600">
              <a:buSzPct val="100000"/>
              <a:buChar char="•"/>
            </a:pPr>
            <a:r>
              <a:rPr lang="en-US" sz="1650" dirty="0">
                <a:solidFill>
                  <a:srgbClr val="18212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value in the HTML tag</a:t>
            </a:r>
            <a:endParaRPr lang="en-US" sz="1650" dirty="0"/>
          </a:p>
          <a:p>
            <a:pPr marL="228600" indent="-228600">
              <a:buSzPct val="100000"/>
              <a:buChar char="•"/>
            </a:pPr>
            <a:r>
              <a:rPr lang="en-US" sz="1650" dirty="0">
                <a:solidFill>
                  <a:srgbClr val="18212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element["href"]</a:t>
            </a:r>
            <a:endParaRPr lang="en-US" sz="1650" dirty="0"/>
          </a:p>
          <a:p>
            <a:pPr marL="228600" indent="-228600">
              <a:buSzPct val="100000"/>
              <a:buChar char="•"/>
            </a:pPr>
            <a:r>
              <a:rPr lang="en-US" sz="1650" dirty="0">
                <a:solidFill>
                  <a:srgbClr val="18212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link, data-score, alt</a:t>
            </a:r>
            <a:endParaRPr lang="en-US" sz="1650" dirty="0"/>
          </a:p>
          <a:p>
            <a:pPr marL="228600" indent="-228600">
              <a:buSzPct val="100000"/>
              <a:buChar char="•"/>
            </a:pPr>
            <a:r>
              <a:rPr lang="en-US" sz="1650" dirty="0">
                <a:solidFill>
                  <a:srgbClr val="18212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may be missing</a:t>
            </a:r>
            <a:endParaRPr lang="en-US" sz="16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55448"/>
          </a:xfrm>
          <a:prstGeom prst="rect">
            <a:avLst/>
          </a:prstGeom>
          <a:solidFill>
            <a:srgbClr val="1877B9"/>
          </a:solidFill>
          <a:ln w="12700">
            <a:solidFill>
              <a:srgbClr val="1877B9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66928" y="320040"/>
            <a:ext cx="46634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900" b="1" spc="80" kern="0" dirty="0">
                <a:solidFill>
                  <a:srgbClr val="1877B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PROGRAMMING IN PYTHON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9829800" y="320040"/>
            <a:ext cx="1783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5E6B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LECTURE 08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566928" y="658368"/>
            <a:ext cx="11045952" cy="0"/>
          </a:xfrm>
          <a:prstGeom prst="line">
            <a:avLst/>
          </a:prstGeom>
          <a:noFill/>
          <a:ln w="12700">
            <a:solidFill>
              <a:srgbClr val="D8E0E6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66928" y="6419088"/>
            <a:ext cx="11045952" cy="0"/>
          </a:xfrm>
          <a:prstGeom prst="line">
            <a:avLst/>
          </a:prstGeom>
          <a:noFill/>
          <a:ln w="12700">
            <a:solidFill>
              <a:srgbClr val="D8E0E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1109960" y="6501384"/>
            <a:ext cx="45720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800" dirty="0">
                <a:solidFill>
                  <a:srgbClr val="5E6B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09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713232" y="1353312"/>
            <a:ext cx="1280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1877B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02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713232" y="2011680"/>
            <a:ext cx="98755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3700" b="1" dirty="0">
                <a:solidFill>
                  <a:srgbClr val="1632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 parser must expect messiness</a:t>
            </a:r>
            <a:endParaRPr lang="en-US" sz="3700" dirty="0"/>
          </a:p>
        </p:txBody>
      </p:sp>
      <p:sp>
        <p:nvSpPr>
          <p:cNvPr id="10" name="Text 8"/>
          <p:cNvSpPr/>
          <p:nvPr/>
        </p:nvSpPr>
        <p:spPr>
          <a:xfrm>
            <a:off x="749808" y="3063240"/>
            <a:ext cx="78638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2000" dirty="0">
                <a:solidFill>
                  <a:srgbClr val="5E6B7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HTML is output for people and browsers, not a stable data API.</a:t>
            </a:r>
            <a:endParaRPr lang="en-US" sz="2000" dirty="0"/>
          </a:p>
        </p:txBody>
      </p:sp>
      <p:sp>
        <p:nvSpPr>
          <p:cNvPr id="11" name="Shape 9"/>
          <p:cNvSpPr/>
          <p:nvPr/>
        </p:nvSpPr>
        <p:spPr>
          <a:xfrm>
            <a:off x="731520" y="3977640"/>
            <a:ext cx="2834640" cy="128016"/>
          </a:xfrm>
          <a:prstGeom prst="rect">
            <a:avLst/>
          </a:prstGeom>
          <a:solidFill>
            <a:srgbClr val="1877B9"/>
          </a:solidFill>
          <a:ln w="12700">
            <a:solidFill>
              <a:srgbClr val="1877B9"/>
            </a:solidFill>
            <a:prstDash val="solid"/>
          </a:ln>
        </p:spPr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55448"/>
          </a:xfrm>
          <a:prstGeom prst="rect">
            <a:avLst/>
          </a:prstGeom>
          <a:solidFill>
            <a:srgbClr val="1877B9"/>
          </a:solidFill>
          <a:ln w="12700">
            <a:solidFill>
              <a:srgbClr val="1877B9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66928" y="320040"/>
            <a:ext cx="46634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900" b="1" spc="80" kern="0" dirty="0">
                <a:solidFill>
                  <a:srgbClr val="1877B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PROGRAMMING IN PYTHON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9829800" y="320040"/>
            <a:ext cx="1783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5E6B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LECTURE 08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566928" y="658368"/>
            <a:ext cx="11045952" cy="0"/>
          </a:xfrm>
          <a:prstGeom prst="line">
            <a:avLst/>
          </a:prstGeom>
          <a:noFill/>
          <a:ln w="12700">
            <a:solidFill>
              <a:srgbClr val="D8E0E6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66928" y="6419088"/>
            <a:ext cx="11045952" cy="0"/>
          </a:xfrm>
          <a:prstGeom prst="line">
            <a:avLst/>
          </a:prstGeom>
          <a:noFill/>
          <a:ln w="12700">
            <a:solidFill>
              <a:srgbClr val="D8E0E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1109960" y="6501384"/>
            <a:ext cx="45720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800" dirty="0">
                <a:solidFill>
                  <a:srgbClr val="5E6B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10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658368" y="932688"/>
            <a:ext cx="1078992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2900" b="1" dirty="0">
                <a:solidFill>
                  <a:srgbClr val="1632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Parsing one product</a:t>
            </a:r>
            <a:endParaRPr lang="en-US" sz="2900" dirty="0"/>
          </a:p>
        </p:txBody>
      </p:sp>
      <p:sp>
        <p:nvSpPr>
          <p:cNvPr id="9" name="Shape 7"/>
          <p:cNvSpPr/>
          <p:nvPr/>
        </p:nvSpPr>
        <p:spPr>
          <a:xfrm>
            <a:off x="658368" y="1828800"/>
            <a:ext cx="6812280" cy="4069080"/>
          </a:xfrm>
          <a:prstGeom prst="roundRect">
            <a:avLst>
              <a:gd name="adj" fmla="val 1348"/>
            </a:avLst>
          </a:prstGeom>
          <a:solidFill>
            <a:srgbClr val="17212B"/>
          </a:solidFill>
          <a:ln w="12700">
            <a:solidFill>
              <a:srgbClr val="17212B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868680" y="2029968"/>
            <a:ext cx="63093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850" b="1" spc="70" kern="0" dirty="0">
                <a:solidFill>
                  <a:srgbClr val="8FD3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python</a:t>
            </a:r>
            <a:endParaRPr lang="en-US" sz="850" dirty="0"/>
          </a:p>
        </p:txBody>
      </p:sp>
      <p:sp>
        <p:nvSpPr>
          <p:cNvPr id="11" name="Text 9"/>
          <p:cNvSpPr/>
          <p:nvPr/>
        </p:nvSpPr>
        <p:spPr>
          <a:xfrm>
            <a:off x="877824" y="2395728"/>
            <a:ext cx="6327648" cy="32461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65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from dataclasses import dataclass</a:t>
            </a:r>
            <a:endParaRPr lang="en-US" sz="1650" dirty="0"/>
          </a:p>
          <a:p>
            <a:pPr algn="l" indent="0" marL="0">
              <a:buNone/>
            </a:pPr>
            <a:r>
              <a:rPr lang="en-US" sz="165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from urllib.parse import urljoin</a:t>
            </a:r>
            <a:endParaRPr lang="en-US" sz="1650" dirty="0"/>
          </a:p>
          <a:p>
            <a:pPr algn="l" indent="0" marL="0">
              <a:buNone/>
            </a:pPr>
            <a:endParaRPr lang="en-US" sz="1650" dirty="0"/>
          </a:p>
          <a:p>
            <a:pPr algn="l" indent="0" marL="0">
              <a:buNone/>
            </a:pPr>
            <a:r>
              <a:rPr lang="en-US" sz="165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@dataclass(frozen=True)</a:t>
            </a:r>
            <a:endParaRPr lang="en-US" sz="1650" dirty="0"/>
          </a:p>
          <a:p>
            <a:pPr algn="l" indent="0" marL="0">
              <a:buNone/>
            </a:pPr>
            <a:r>
              <a:rPr lang="en-US" sz="165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class Product:</a:t>
            </a:r>
            <a:endParaRPr lang="en-US" sz="1650" dirty="0"/>
          </a:p>
          <a:p>
            <a:pPr algn="l" indent="0" marL="0">
              <a:buNone/>
            </a:pPr>
            <a:r>
              <a:rPr lang="en-US" sz="165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title: str</a:t>
            </a:r>
            <a:endParaRPr lang="en-US" sz="1650" dirty="0"/>
          </a:p>
          <a:p>
            <a:pPr algn="l" indent="0" marL="0">
              <a:buNone/>
            </a:pPr>
            <a:r>
              <a:rPr lang="en-US" sz="165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price: float | None</a:t>
            </a:r>
            <a:endParaRPr lang="en-US" sz="1650" dirty="0"/>
          </a:p>
          <a:p>
            <a:pPr algn="l" indent="0" marL="0">
              <a:buNone/>
            </a:pPr>
            <a:r>
              <a:rPr lang="en-US" sz="165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url: str</a:t>
            </a:r>
            <a:endParaRPr lang="en-US" sz="1650" dirty="0"/>
          </a:p>
          <a:p>
            <a:pPr algn="l" indent="0" marL="0">
              <a:buNone/>
            </a:pPr>
            <a:endParaRPr lang="en-US" sz="1650" dirty="0"/>
          </a:p>
          <a:p>
            <a:pPr algn="l" indent="0" marL="0">
              <a:buNone/>
            </a:pPr>
            <a:r>
              <a:rPr lang="en-US" sz="165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base_url = "https://example.com"</a:t>
            </a:r>
            <a:endParaRPr lang="en-US" sz="1650" dirty="0"/>
          </a:p>
        </p:txBody>
      </p:sp>
      <p:sp>
        <p:nvSpPr>
          <p:cNvPr id="12" name="Shape 10"/>
          <p:cNvSpPr/>
          <p:nvPr/>
        </p:nvSpPr>
        <p:spPr>
          <a:xfrm>
            <a:off x="7909560" y="1901952"/>
            <a:ext cx="0" cy="3566160"/>
          </a:xfrm>
          <a:prstGeom prst="line">
            <a:avLst/>
          </a:prstGeom>
          <a:noFill/>
          <a:ln w="12700">
            <a:solidFill>
              <a:srgbClr val="1877B9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8229600" y="2130552"/>
            <a:ext cx="2743200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800" dirty="0">
                <a:solidFill>
                  <a:srgbClr val="5E6B7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Name the resulting data first. The parser should not return random tuples or raw elements.</a:t>
            </a:r>
            <a:endParaRPr lang="en-US" sz="18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55448"/>
          </a:xfrm>
          <a:prstGeom prst="rect">
            <a:avLst/>
          </a:prstGeom>
          <a:solidFill>
            <a:srgbClr val="1877B9"/>
          </a:solidFill>
          <a:ln w="12700">
            <a:solidFill>
              <a:srgbClr val="1877B9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66928" y="320040"/>
            <a:ext cx="46634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900" b="1" spc="80" kern="0" dirty="0">
                <a:solidFill>
                  <a:srgbClr val="1877B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PROGRAMMING IN PYTHON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9829800" y="320040"/>
            <a:ext cx="1783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5E6B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LECTURE 08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566928" y="658368"/>
            <a:ext cx="11045952" cy="0"/>
          </a:xfrm>
          <a:prstGeom prst="line">
            <a:avLst/>
          </a:prstGeom>
          <a:noFill/>
          <a:ln w="12700">
            <a:solidFill>
              <a:srgbClr val="D8E0E6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66928" y="6419088"/>
            <a:ext cx="11045952" cy="0"/>
          </a:xfrm>
          <a:prstGeom prst="line">
            <a:avLst/>
          </a:prstGeom>
          <a:noFill/>
          <a:ln w="12700">
            <a:solidFill>
              <a:srgbClr val="D8E0E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1109960" y="6501384"/>
            <a:ext cx="45720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800" dirty="0">
                <a:solidFill>
                  <a:srgbClr val="5E6B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11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658368" y="932688"/>
            <a:ext cx="1078992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2900" b="1" dirty="0">
                <a:solidFill>
                  <a:srgbClr val="1632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 missing element is not exceptional</a:t>
            </a:r>
            <a:endParaRPr lang="en-US" sz="2900" dirty="0"/>
          </a:p>
        </p:txBody>
      </p:sp>
      <p:sp>
        <p:nvSpPr>
          <p:cNvPr id="9" name="Shape 7"/>
          <p:cNvSpPr/>
          <p:nvPr/>
        </p:nvSpPr>
        <p:spPr>
          <a:xfrm>
            <a:off x="658368" y="1783080"/>
            <a:ext cx="10899648" cy="4069080"/>
          </a:xfrm>
          <a:prstGeom prst="rect">
            <a:avLst/>
          </a:prstGeom>
          <a:solidFill>
            <a:srgbClr val="17212B"/>
          </a:solidFill>
          <a:ln w="12700">
            <a:solidFill>
              <a:srgbClr val="17212B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896112" y="1984248"/>
            <a:ext cx="99669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850" b="1" spc="70" kern="0" dirty="0">
                <a:solidFill>
                  <a:srgbClr val="8FD3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python</a:t>
            </a:r>
            <a:endParaRPr lang="en-US" sz="850" dirty="0"/>
          </a:p>
        </p:txBody>
      </p:sp>
      <p:sp>
        <p:nvSpPr>
          <p:cNvPr id="11" name="Text 9"/>
          <p:cNvSpPr/>
          <p:nvPr/>
        </p:nvSpPr>
        <p:spPr>
          <a:xfrm>
            <a:off x="896112" y="2395728"/>
            <a:ext cx="9893808" cy="30632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75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def parse_product(item) -&gt; Product | None:</a:t>
            </a:r>
            <a:endParaRPr lang="en-US" sz="1750" dirty="0"/>
          </a:p>
          <a:p>
            <a:pPr algn="l" indent="0" marL="0">
              <a:buNone/>
            </a:pPr>
            <a:r>
              <a:rPr lang="en-US" sz="175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link = item.select_one(".product__link")</a:t>
            </a:r>
            <a:endParaRPr lang="en-US" sz="1750" dirty="0"/>
          </a:p>
          <a:p>
            <a:pPr algn="l" indent="0" marL="0">
              <a:buNone/>
            </a:pPr>
            <a:r>
              <a:rPr lang="en-US" sz="175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if link is None or not link.get_text(strip=True):</a:t>
            </a:r>
            <a:endParaRPr lang="en-US" sz="1750" dirty="0"/>
          </a:p>
          <a:p>
            <a:pPr algn="l" indent="0" marL="0">
              <a:buNone/>
            </a:pPr>
            <a:r>
              <a:rPr lang="en-US" sz="175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return None</a:t>
            </a:r>
            <a:endParaRPr lang="en-US" sz="1750" dirty="0"/>
          </a:p>
          <a:p>
            <a:pPr algn="l" indent="0" marL="0">
              <a:buNone/>
            </a:pPr>
            <a:endParaRPr lang="en-US" sz="1750" dirty="0"/>
          </a:p>
          <a:p>
            <a:pPr algn="l" indent="0" marL="0">
              <a:buNone/>
            </a:pPr>
            <a:r>
              <a:rPr lang="en-US" sz="175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price_node = item.select_one(".price")</a:t>
            </a:r>
            <a:endParaRPr lang="en-US" sz="1750" dirty="0"/>
          </a:p>
          <a:p>
            <a:pPr algn="l" indent="0" marL="0">
              <a:buNone/>
            </a:pPr>
            <a:r>
              <a:rPr lang="en-US" sz="175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price = parse_price(price_node.get_text(strip=True)) if price_node else None</a:t>
            </a:r>
            <a:endParaRPr lang="en-US" sz="1750" dirty="0"/>
          </a:p>
          <a:p>
            <a:pPr algn="l" indent="0" marL="0">
              <a:buNone/>
            </a:pPr>
            <a:endParaRPr lang="en-US" sz="1750" dirty="0"/>
          </a:p>
          <a:p>
            <a:pPr algn="l" indent="0" marL="0">
              <a:buNone/>
            </a:pPr>
            <a:r>
              <a:rPr lang="en-US" sz="175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return Product(</a:t>
            </a:r>
            <a:endParaRPr lang="en-US" sz="1750" dirty="0"/>
          </a:p>
          <a:p>
            <a:pPr algn="l" indent="0" marL="0">
              <a:buNone/>
            </a:pPr>
            <a:r>
              <a:rPr lang="en-US" sz="175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title=link.get_text(strip=True),</a:t>
            </a:r>
            <a:endParaRPr lang="en-US" sz="1750" dirty="0"/>
          </a:p>
          <a:p>
            <a:pPr algn="l" indent="0" marL="0">
              <a:buNone/>
            </a:pPr>
            <a:r>
              <a:rPr lang="en-US" sz="175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price=price,</a:t>
            </a:r>
            <a:endParaRPr lang="en-US" sz="1750" dirty="0"/>
          </a:p>
          <a:p>
            <a:pPr algn="l" indent="0" marL="0">
              <a:buNone/>
            </a:pPr>
            <a:r>
              <a:rPr lang="en-US" sz="175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url=urljoin(base_url, link.get("href", "")),</a:t>
            </a:r>
            <a:endParaRPr lang="en-US" sz="1750" dirty="0"/>
          </a:p>
          <a:p>
            <a:pPr algn="l" indent="0" marL="0">
              <a:buNone/>
            </a:pPr>
            <a:r>
              <a:rPr lang="en-US" sz="175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)</a:t>
            </a:r>
            <a:endParaRPr lang="en-US" sz="1750" dirty="0"/>
          </a:p>
        </p:txBody>
      </p:sp>
      <p:sp>
        <p:nvSpPr>
          <p:cNvPr id="12" name="Text 10"/>
          <p:cNvSpPr/>
          <p:nvPr/>
        </p:nvSpPr>
        <p:spPr>
          <a:xfrm>
            <a:off x="768096" y="6053328"/>
            <a:ext cx="99212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550" dirty="0">
                <a:solidFill>
                  <a:srgbClr val="5E6B7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 good parser function can say: this item is not usable. Later this can be logged or tested.</a:t>
            </a:r>
            <a:endParaRPr lang="en-US" sz="15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55448"/>
          </a:xfrm>
          <a:prstGeom prst="rect">
            <a:avLst/>
          </a:prstGeom>
          <a:solidFill>
            <a:srgbClr val="1877B9"/>
          </a:solidFill>
          <a:ln w="12700">
            <a:solidFill>
              <a:srgbClr val="1877B9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66928" y="320040"/>
            <a:ext cx="46634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900" b="1" spc="80" kern="0" dirty="0">
                <a:solidFill>
                  <a:srgbClr val="1877B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PROGRAMMING IN PYTHON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9829800" y="320040"/>
            <a:ext cx="1783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5E6B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LECTURE 08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566928" y="658368"/>
            <a:ext cx="11045952" cy="0"/>
          </a:xfrm>
          <a:prstGeom prst="line">
            <a:avLst/>
          </a:prstGeom>
          <a:noFill/>
          <a:ln w="12700">
            <a:solidFill>
              <a:srgbClr val="D8E0E6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66928" y="6419088"/>
            <a:ext cx="11045952" cy="0"/>
          </a:xfrm>
          <a:prstGeom prst="line">
            <a:avLst/>
          </a:prstGeom>
          <a:noFill/>
          <a:ln w="12700">
            <a:solidFill>
              <a:srgbClr val="D8E0E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1109960" y="6501384"/>
            <a:ext cx="45720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800" dirty="0">
                <a:solidFill>
                  <a:srgbClr val="5E6B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12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658368" y="932688"/>
            <a:ext cx="1078992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2900" b="1" dirty="0">
                <a:solidFill>
                  <a:srgbClr val="1632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Pagination through a next link</a:t>
            </a:r>
            <a:endParaRPr lang="en-US" sz="2900" dirty="0"/>
          </a:p>
        </p:txBody>
      </p:sp>
      <p:sp>
        <p:nvSpPr>
          <p:cNvPr id="9" name="Shape 7"/>
          <p:cNvSpPr/>
          <p:nvPr/>
        </p:nvSpPr>
        <p:spPr>
          <a:xfrm>
            <a:off x="658368" y="1828800"/>
            <a:ext cx="6812280" cy="4069080"/>
          </a:xfrm>
          <a:prstGeom prst="roundRect">
            <a:avLst>
              <a:gd name="adj" fmla="val 1348"/>
            </a:avLst>
          </a:prstGeom>
          <a:solidFill>
            <a:srgbClr val="17212B"/>
          </a:solidFill>
          <a:ln w="12700">
            <a:solidFill>
              <a:srgbClr val="17212B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868680" y="2029968"/>
            <a:ext cx="63093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850" b="1" spc="70" kern="0" dirty="0">
                <a:solidFill>
                  <a:srgbClr val="8FD3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python</a:t>
            </a:r>
            <a:endParaRPr lang="en-US" sz="850" dirty="0"/>
          </a:p>
        </p:txBody>
      </p:sp>
      <p:sp>
        <p:nvSpPr>
          <p:cNvPr id="11" name="Text 9"/>
          <p:cNvSpPr/>
          <p:nvPr/>
        </p:nvSpPr>
        <p:spPr>
          <a:xfrm>
            <a:off x="877824" y="2395728"/>
            <a:ext cx="6327648" cy="32461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65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url = "https://example.com/products"</a:t>
            </a:r>
            <a:endParaRPr lang="en-US" sz="1650" dirty="0"/>
          </a:p>
          <a:p>
            <a:pPr algn="l" indent="0" marL="0">
              <a:buNone/>
            </a:pPr>
            <a:r>
              <a:rPr lang="en-US" sz="165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while url:</a:t>
            </a:r>
            <a:endParaRPr lang="en-US" sz="1650" dirty="0"/>
          </a:p>
          <a:p>
            <a:pPr algn="l" indent="0" marL="0">
              <a:buNone/>
            </a:pPr>
            <a:r>
              <a:rPr lang="en-US" sz="165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html = fetch_html(url)</a:t>
            </a:r>
            <a:endParaRPr lang="en-US" sz="1650" dirty="0"/>
          </a:p>
          <a:p>
            <a:pPr algn="l" indent="0" marL="0">
              <a:buNone/>
            </a:pPr>
            <a:r>
              <a:rPr lang="en-US" sz="165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soup = BeautifulSoup(html, "html.parser")</a:t>
            </a:r>
            <a:endParaRPr lang="en-US" sz="1650" dirty="0"/>
          </a:p>
          <a:p>
            <a:pPr algn="l" indent="0" marL="0">
              <a:buNone/>
            </a:pPr>
            <a:endParaRPr lang="en-US" sz="1650" dirty="0"/>
          </a:p>
          <a:p>
            <a:pPr algn="l" indent="0" marL="0">
              <a:buNone/>
            </a:pPr>
            <a:r>
              <a:rPr lang="en-US" sz="165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for item in soup.select("article.product"):</a:t>
            </a:r>
            <a:endParaRPr lang="en-US" sz="1650" dirty="0"/>
          </a:p>
          <a:p>
            <a:pPr algn="l" indent="0" marL="0">
              <a:buNone/>
            </a:pPr>
            <a:r>
              <a:rPr lang="en-US" sz="165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product = parse_product(item)</a:t>
            </a:r>
            <a:endParaRPr lang="en-US" sz="1650" dirty="0"/>
          </a:p>
          <a:p>
            <a:pPr algn="l" indent="0" marL="0">
              <a:buNone/>
            </a:pPr>
            <a:r>
              <a:rPr lang="en-US" sz="165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if product:</a:t>
            </a:r>
            <a:endParaRPr lang="en-US" sz="1650" dirty="0"/>
          </a:p>
          <a:p>
            <a:pPr algn="l" indent="0" marL="0">
              <a:buNone/>
            </a:pPr>
            <a:r>
              <a:rPr lang="en-US" sz="165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   save(product)</a:t>
            </a:r>
            <a:endParaRPr lang="en-US" sz="1650" dirty="0"/>
          </a:p>
          <a:p>
            <a:pPr algn="l" indent="0" marL="0">
              <a:buNone/>
            </a:pPr>
            <a:endParaRPr lang="en-US" sz="1650" dirty="0"/>
          </a:p>
          <a:p>
            <a:pPr algn="l" indent="0" marL="0">
              <a:buNone/>
            </a:pPr>
            <a:r>
              <a:rPr lang="en-US" sz="165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next_link = soup.select_one("a.next")</a:t>
            </a:r>
            <a:endParaRPr lang="en-US" sz="1650" dirty="0"/>
          </a:p>
          <a:p>
            <a:pPr algn="l" indent="0" marL="0">
              <a:buNone/>
            </a:pPr>
            <a:r>
              <a:rPr lang="en-US" sz="165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url = urljoin(url, next_link["href"]) if next_link else None</a:t>
            </a:r>
            <a:endParaRPr lang="en-US" sz="1650" dirty="0"/>
          </a:p>
        </p:txBody>
      </p:sp>
      <p:sp>
        <p:nvSpPr>
          <p:cNvPr id="12" name="Shape 10"/>
          <p:cNvSpPr/>
          <p:nvPr/>
        </p:nvSpPr>
        <p:spPr>
          <a:xfrm>
            <a:off x="7909560" y="1901952"/>
            <a:ext cx="0" cy="3566160"/>
          </a:xfrm>
          <a:prstGeom prst="line">
            <a:avLst/>
          </a:prstGeom>
          <a:noFill/>
          <a:ln w="12700">
            <a:solidFill>
              <a:srgbClr val="1877B9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8229600" y="2130552"/>
            <a:ext cx="2743200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800" dirty="0">
                <a:solidFill>
                  <a:srgbClr val="5E6B7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Pagination should have its source of truth in HTML or documentation. Do not invent a URL pattern without checking.</a:t>
            </a:r>
            <a:endParaRPr lang="en-US" sz="18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55448"/>
          </a:xfrm>
          <a:prstGeom prst="rect">
            <a:avLst/>
          </a:prstGeom>
          <a:solidFill>
            <a:srgbClr val="1877B9"/>
          </a:solidFill>
          <a:ln w="12700">
            <a:solidFill>
              <a:srgbClr val="1877B9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66928" y="320040"/>
            <a:ext cx="46634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900" b="1" spc="80" kern="0" dirty="0">
                <a:solidFill>
                  <a:srgbClr val="1877B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PROGRAMMING IN PYTHON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9829800" y="320040"/>
            <a:ext cx="1783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5E6B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LECTURE 08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566928" y="658368"/>
            <a:ext cx="11045952" cy="0"/>
          </a:xfrm>
          <a:prstGeom prst="line">
            <a:avLst/>
          </a:prstGeom>
          <a:noFill/>
          <a:ln w="12700">
            <a:solidFill>
              <a:srgbClr val="D8E0E6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66928" y="6419088"/>
            <a:ext cx="11045952" cy="0"/>
          </a:xfrm>
          <a:prstGeom prst="line">
            <a:avLst/>
          </a:prstGeom>
          <a:noFill/>
          <a:ln w="12700">
            <a:solidFill>
              <a:srgbClr val="D8E0E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1109960" y="6501384"/>
            <a:ext cx="45720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800" dirty="0">
                <a:solidFill>
                  <a:srgbClr val="5E6B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13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658368" y="932688"/>
            <a:ext cx="1078992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2900" b="1" dirty="0">
                <a:solidFill>
                  <a:srgbClr val="1632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Export is a separate step</a:t>
            </a:r>
            <a:endParaRPr lang="en-US" sz="2900" dirty="0"/>
          </a:p>
        </p:txBody>
      </p:sp>
      <p:sp>
        <p:nvSpPr>
          <p:cNvPr id="9" name="Shape 7"/>
          <p:cNvSpPr/>
          <p:nvPr/>
        </p:nvSpPr>
        <p:spPr>
          <a:xfrm>
            <a:off x="658368" y="1828800"/>
            <a:ext cx="6812280" cy="4069080"/>
          </a:xfrm>
          <a:prstGeom prst="roundRect">
            <a:avLst>
              <a:gd name="adj" fmla="val 1348"/>
            </a:avLst>
          </a:prstGeom>
          <a:solidFill>
            <a:srgbClr val="17212B"/>
          </a:solidFill>
          <a:ln w="12700">
            <a:solidFill>
              <a:srgbClr val="17212B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868680" y="2029968"/>
            <a:ext cx="63093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850" b="1" spc="70" kern="0" dirty="0">
                <a:solidFill>
                  <a:srgbClr val="8FD3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python</a:t>
            </a:r>
            <a:endParaRPr lang="en-US" sz="850" dirty="0"/>
          </a:p>
        </p:txBody>
      </p:sp>
      <p:sp>
        <p:nvSpPr>
          <p:cNvPr id="11" name="Text 9"/>
          <p:cNvSpPr/>
          <p:nvPr/>
        </p:nvSpPr>
        <p:spPr>
          <a:xfrm>
            <a:off x="877824" y="2395728"/>
            <a:ext cx="6327648" cy="32461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65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import csv</a:t>
            </a:r>
            <a:endParaRPr lang="en-US" sz="1650" dirty="0"/>
          </a:p>
          <a:p>
            <a:pPr algn="l" indent="0" marL="0">
              <a:buNone/>
            </a:pPr>
            <a:r>
              <a:rPr lang="en-US" sz="165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from dataclasses import asdict</a:t>
            </a:r>
            <a:endParaRPr lang="en-US" sz="1650" dirty="0"/>
          </a:p>
          <a:p>
            <a:pPr algn="l" indent="0" marL="0">
              <a:buNone/>
            </a:pPr>
            <a:endParaRPr lang="en-US" sz="1650" dirty="0"/>
          </a:p>
          <a:p>
            <a:pPr algn="l" indent="0" marL="0">
              <a:buNone/>
            </a:pPr>
            <a:r>
              <a:rPr lang="en-US" sz="165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with open("products.csv", "w", newline="", encoding="utf-8") as file:</a:t>
            </a:r>
            <a:endParaRPr lang="en-US" sz="1650" dirty="0"/>
          </a:p>
          <a:p>
            <a:pPr algn="l" indent="0" marL="0">
              <a:buNone/>
            </a:pPr>
            <a:r>
              <a:rPr lang="en-US" sz="165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writer = csv.DictWriter(file, fieldnames=["title", "price", "url"])</a:t>
            </a:r>
            <a:endParaRPr lang="en-US" sz="1650" dirty="0"/>
          </a:p>
          <a:p>
            <a:pPr algn="l" indent="0" marL="0">
              <a:buNone/>
            </a:pPr>
            <a:r>
              <a:rPr lang="en-US" sz="165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writer.writeheader()</a:t>
            </a:r>
            <a:endParaRPr lang="en-US" sz="1650" dirty="0"/>
          </a:p>
          <a:p>
            <a:pPr algn="l" indent="0" marL="0">
              <a:buNone/>
            </a:pPr>
            <a:r>
              <a:rPr lang="en-US" sz="165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writer.writerows(asdict(product) for product in products)</a:t>
            </a:r>
            <a:endParaRPr lang="en-US" sz="1650" dirty="0"/>
          </a:p>
        </p:txBody>
      </p:sp>
      <p:sp>
        <p:nvSpPr>
          <p:cNvPr id="12" name="Shape 10"/>
          <p:cNvSpPr/>
          <p:nvPr/>
        </p:nvSpPr>
        <p:spPr>
          <a:xfrm>
            <a:off x="7909560" y="1901952"/>
            <a:ext cx="0" cy="3566160"/>
          </a:xfrm>
          <a:prstGeom prst="line">
            <a:avLst/>
          </a:prstGeom>
          <a:noFill/>
          <a:ln w="12700">
            <a:solidFill>
              <a:srgbClr val="1877B9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8229600" y="2130552"/>
            <a:ext cx="2743200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800" dirty="0">
                <a:solidFill>
                  <a:srgbClr val="5E6B7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Keep download, parsing and export separate. Each step can then be tested differently.</a:t>
            </a:r>
            <a:endParaRPr lang="en-US" sz="18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55448"/>
          </a:xfrm>
          <a:prstGeom prst="rect">
            <a:avLst/>
          </a:prstGeom>
          <a:solidFill>
            <a:srgbClr val="1877B9"/>
          </a:solidFill>
          <a:ln w="12700">
            <a:solidFill>
              <a:srgbClr val="1877B9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66928" y="320040"/>
            <a:ext cx="46634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900" b="1" spc="80" kern="0" dirty="0">
                <a:solidFill>
                  <a:srgbClr val="1877B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PROGRAMMING IN PYTHON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9829800" y="320040"/>
            <a:ext cx="1783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5E6B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LECTURE 08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566928" y="658368"/>
            <a:ext cx="11045952" cy="0"/>
          </a:xfrm>
          <a:prstGeom prst="line">
            <a:avLst/>
          </a:prstGeom>
          <a:noFill/>
          <a:ln w="12700">
            <a:solidFill>
              <a:srgbClr val="D8E0E6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66928" y="6419088"/>
            <a:ext cx="11045952" cy="0"/>
          </a:xfrm>
          <a:prstGeom prst="line">
            <a:avLst/>
          </a:prstGeom>
          <a:noFill/>
          <a:ln w="12700">
            <a:solidFill>
              <a:srgbClr val="D8E0E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1109960" y="6501384"/>
            <a:ext cx="45720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800" dirty="0">
                <a:solidFill>
                  <a:srgbClr val="5E6B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14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713232" y="1353312"/>
            <a:ext cx="1280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1877B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03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713232" y="2011680"/>
            <a:ext cx="98755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3700" b="1" dirty="0">
                <a:solidFill>
                  <a:srgbClr val="1632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Dynamic application</a:t>
            </a:r>
            <a:endParaRPr lang="en-US" sz="3700" dirty="0"/>
          </a:p>
        </p:txBody>
      </p:sp>
      <p:sp>
        <p:nvSpPr>
          <p:cNvPr id="10" name="Text 8"/>
          <p:cNvSpPr/>
          <p:nvPr/>
        </p:nvSpPr>
        <p:spPr>
          <a:xfrm>
            <a:off x="749808" y="3063240"/>
            <a:ext cx="78638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2000" dirty="0">
                <a:solidFill>
                  <a:srgbClr val="5E6B7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If HTML does not contain the data, first find where the browser got it from.</a:t>
            </a:r>
            <a:endParaRPr lang="en-US" sz="2000" dirty="0"/>
          </a:p>
        </p:txBody>
      </p:sp>
      <p:sp>
        <p:nvSpPr>
          <p:cNvPr id="11" name="Shape 9"/>
          <p:cNvSpPr/>
          <p:nvPr/>
        </p:nvSpPr>
        <p:spPr>
          <a:xfrm>
            <a:off x="731520" y="3977640"/>
            <a:ext cx="2834640" cy="128016"/>
          </a:xfrm>
          <a:prstGeom prst="rect">
            <a:avLst/>
          </a:prstGeom>
          <a:solidFill>
            <a:srgbClr val="1877B9"/>
          </a:solidFill>
          <a:ln w="12700">
            <a:solidFill>
              <a:srgbClr val="1877B9"/>
            </a:solidFill>
            <a:prstDash val="solid"/>
          </a:ln>
        </p:spPr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55448"/>
          </a:xfrm>
          <a:prstGeom prst="rect">
            <a:avLst/>
          </a:prstGeom>
          <a:solidFill>
            <a:srgbClr val="1877B9"/>
          </a:solidFill>
          <a:ln w="12700">
            <a:solidFill>
              <a:srgbClr val="1877B9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66928" y="320040"/>
            <a:ext cx="46634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900" b="1" spc="80" kern="0" dirty="0">
                <a:solidFill>
                  <a:srgbClr val="1877B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PROGRAMMING IN PYTHON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9829800" y="320040"/>
            <a:ext cx="1783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5E6B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LECTURE 08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566928" y="658368"/>
            <a:ext cx="11045952" cy="0"/>
          </a:xfrm>
          <a:prstGeom prst="line">
            <a:avLst/>
          </a:prstGeom>
          <a:noFill/>
          <a:ln w="12700">
            <a:solidFill>
              <a:srgbClr val="D8E0E6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66928" y="6419088"/>
            <a:ext cx="11045952" cy="0"/>
          </a:xfrm>
          <a:prstGeom prst="line">
            <a:avLst/>
          </a:prstGeom>
          <a:noFill/>
          <a:ln w="12700">
            <a:solidFill>
              <a:srgbClr val="D8E0E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1109960" y="6501384"/>
            <a:ext cx="45720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800" dirty="0">
                <a:solidFill>
                  <a:srgbClr val="5E6B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15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658368" y="932688"/>
            <a:ext cx="1078992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2900" b="1" dirty="0">
                <a:solidFill>
                  <a:srgbClr val="1632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Why does httpx.get() not see the data?</a:t>
            </a:r>
            <a:endParaRPr lang="en-US" sz="2900" dirty="0"/>
          </a:p>
        </p:txBody>
      </p:sp>
      <p:sp>
        <p:nvSpPr>
          <p:cNvPr id="9" name="Text 7"/>
          <p:cNvSpPr/>
          <p:nvPr/>
        </p:nvSpPr>
        <p:spPr>
          <a:xfrm>
            <a:off x="694944" y="1709928"/>
            <a:ext cx="9235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2000" dirty="0">
                <a:solidFill>
                  <a:srgbClr val="5E6B7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The table exists in the browser. The HTML response only contains an empty &lt;div id="app"&gt;. What probably happened?</a:t>
            </a:r>
            <a:endParaRPr lang="en-US" sz="2000" dirty="0"/>
          </a:p>
        </p:txBody>
      </p:sp>
      <p:sp>
        <p:nvSpPr>
          <p:cNvPr id="10" name="Shape 8"/>
          <p:cNvSpPr/>
          <p:nvPr/>
        </p:nvSpPr>
        <p:spPr>
          <a:xfrm>
            <a:off x="658368" y="2423160"/>
            <a:ext cx="7863840" cy="3154680"/>
          </a:xfrm>
          <a:prstGeom prst="roundRect">
            <a:avLst>
              <a:gd name="adj" fmla="val 1739"/>
            </a:avLst>
          </a:prstGeom>
          <a:solidFill>
            <a:srgbClr val="F3F6F8"/>
          </a:solidFill>
          <a:ln w="12700">
            <a:solidFill>
              <a:srgbClr val="D8E0E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896112" y="2651760"/>
            <a:ext cx="7132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850" b="1" dirty="0">
                <a:solidFill>
                  <a:srgbClr val="1877B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diagnosis</a:t>
            </a:r>
            <a:endParaRPr lang="en-US" sz="850" dirty="0"/>
          </a:p>
        </p:txBody>
      </p:sp>
      <p:sp>
        <p:nvSpPr>
          <p:cNvPr id="12" name="Text 10"/>
          <p:cNvSpPr/>
          <p:nvPr/>
        </p:nvSpPr>
        <p:spPr>
          <a:xfrm>
            <a:off x="896112" y="2990088"/>
            <a:ext cx="7132320" cy="21488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800" dirty="0">
                <a:solidFill>
                  <a:srgbClr val="1821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server HTML -&gt; browser</a:t>
            </a:r>
            <a:endParaRPr lang="en-US" sz="1800" dirty="0"/>
          </a:p>
          <a:p>
            <a:pPr algn="l" indent="0" marL="0">
              <a:buNone/>
            </a:pPr>
            <a:r>
              <a:rPr lang="en-US" sz="1800" dirty="0">
                <a:solidFill>
                  <a:srgbClr val="1821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browser runs JavaScript</a:t>
            </a:r>
            <a:endParaRPr lang="en-US" sz="1800" dirty="0"/>
          </a:p>
          <a:p>
            <a:pPr algn="l" indent="0" marL="0">
              <a:buNone/>
            </a:pPr>
            <a:r>
              <a:rPr lang="en-US" sz="1800" dirty="0">
                <a:solidFill>
                  <a:srgbClr val="1821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JavaScript calls API</a:t>
            </a:r>
            <a:endParaRPr lang="en-US" sz="1800" dirty="0"/>
          </a:p>
          <a:p>
            <a:pPr algn="l" indent="0" marL="0">
              <a:buNone/>
            </a:pPr>
            <a:r>
              <a:rPr lang="en-US" sz="1800" dirty="0">
                <a:solidFill>
                  <a:srgbClr val="1821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DOM changes after load</a:t>
            </a:r>
            <a:endParaRPr lang="en-US" sz="1800" dirty="0"/>
          </a:p>
        </p:txBody>
      </p:sp>
      <p:sp>
        <p:nvSpPr>
          <p:cNvPr id="13" name="Text 11"/>
          <p:cNvSpPr/>
          <p:nvPr/>
        </p:nvSpPr>
        <p:spPr>
          <a:xfrm>
            <a:off x="8915400" y="2880360"/>
            <a:ext cx="201168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700" dirty="0">
                <a:solidFill>
                  <a:srgbClr val="5E6B7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Justify your answer first. Then run the code.</a:t>
            </a:r>
            <a:endParaRPr lang="en-US" sz="17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55448"/>
          </a:xfrm>
          <a:prstGeom prst="rect">
            <a:avLst/>
          </a:prstGeom>
          <a:solidFill>
            <a:srgbClr val="1877B9"/>
          </a:solidFill>
          <a:ln w="12700">
            <a:solidFill>
              <a:srgbClr val="1877B9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66928" y="320040"/>
            <a:ext cx="46634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900" b="1" spc="80" kern="0" dirty="0">
                <a:solidFill>
                  <a:srgbClr val="1877B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PROGRAMMING IN PYTHON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9829800" y="320040"/>
            <a:ext cx="1783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5E6B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LECTURE 08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566928" y="658368"/>
            <a:ext cx="11045952" cy="0"/>
          </a:xfrm>
          <a:prstGeom prst="line">
            <a:avLst/>
          </a:prstGeom>
          <a:noFill/>
          <a:ln w="12700">
            <a:solidFill>
              <a:srgbClr val="D8E0E6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66928" y="6419088"/>
            <a:ext cx="11045952" cy="0"/>
          </a:xfrm>
          <a:prstGeom prst="line">
            <a:avLst/>
          </a:prstGeom>
          <a:noFill/>
          <a:ln w="12700">
            <a:solidFill>
              <a:srgbClr val="D8E0E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1109960" y="6501384"/>
            <a:ext cx="45720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800" dirty="0">
                <a:solidFill>
                  <a:srgbClr val="5E6B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16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658368" y="932688"/>
            <a:ext cx="1078992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2900" b="1" dirty="0">
                <a:solidFill>
                  <a:srgbClr val="1632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DevTools Network before Playwright</a:t>
            </a:r>
            <a:endParaRPr lang="en-US" sz="2900" dirty="0"/>
          </a:p>
        </p:txBody>
      </p:sp>
      <p:sp>
        <p:nvSpPr>
          <p:cNvPr id="9" name="Text 7"/>
          <p:cNvSpPr/>
          <p:nvPr/>
        </p:nvSpPr>
        <p:spPr>
          <a:xfrm>
            <a:off x="685800" y="1719072"/>
            <a:ext cx="996696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800" dirty="0">
                <a:solidFill>
                  <a:srgbClr val="5E6B7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Browser automation is heavier and more fragile than a direct request. Look for the data endpoint first.</a:t>
            </a:r>
            <a:endParaRPr lang="en-US" sz="1800" dirty="0"/>
          </a:p>
        </p:txBody>
      </p:sp>
      <p:sp>
        <p:nvSpPr>
          <p:cNvPr id="10" name="Text 8"/>
          <p:cNvSpPr/>
          <p:nvPr/>
        </p:nvSpPr>
        <p:spPr>
          <a:xfrm>
            <a:off x="868680" y="2487168"/>
            <a:ext cx="9921240" cy="388620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</a:bodyPr>
          <a:lstStyle/>
          <a:p>
            <a:pPr marL="228600" indent="-228600">
              <a:buSzPct val="100000"/>
              <a:buChar char="•"/>
            </a:pPr>
            <a:r>
              <a:rPr lang="en-US" sz="1800" dirty="0">
                <a:solidFill>
                  <a:srgbClr val="18212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Network -&gt; Fetch/XHR</a:t>
            </a:r>
            <a:endParaRPr lang="en-US" sz="1800" dirty="0"/>
          </a:p>
          <a:p>
            <a:pPr marL="228600" indent="-228600">
              <a:buSzPct val="100000"/>
              <a:buChar char="•"/>
            </a:pPr>
            <a:r>
              <a:rPr lang="en-US" sz="1800" dirty="0">
                <a:solidFill>
                  <a:srgbClr val="18212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check request URL, method and headers</a:t>
            </a:r>
            <a:endParaRPr lang="en-US" sz="1800" dirty="0"/>
          </a:p>
          <a:p>
            <a:pPr marL="228600" indent="-228600">
              <a:buSzPct val="100000"/>
              <a:buChar char="•"/>
            </a:pPr>
            <a:r>
              <a:rPr lang="en-US" sz="1800" dirty="0">
                <a:solidFill>
                  <a:srgbClr val="18212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inspect preview/response JSON</a:t>
            </a:r>
            <a:endParaRPr lang="en-US" sz="1800" dirty="0"/>
          </a:p>
          <a:p>
            <a:pPr marL="228600" indent="-228600">
              <a:buSzPct val="100000"/>
              <a:buChar char="•"/>
            </a:pPr>
            <a:r>
              <a:rPr lang="en-US" sz="1800" dirty="0">
                <a:solidFill>
                  <a:srgbClr val="18212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verify usage rules and limits</a:t>
            </a:r>
            <a:endParaRPr lang="en-US" sz="18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55448"/>
          </a:xfrm>
          <a:prstGeom prst="rect">
            <a:avLst/>
          </a:prstGeom>
          <a:solidFill>
            <a:srgbClr val="1877B9"/>
          </a:solidFill>
          <a:ln w="12700">
            <a:solidFill>
              <a:srgbClr val="1877B9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66928" y="320040"/>
            <a:ext cx="46634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900" b="1" spc="80" kern="0" dirty="0">
                <a:solidFill>
                  <a:srgbClr val="1877B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PROGRAMMING IN PYTHON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9829800" y="320040"/>
            <a:ext cx="1783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5E6B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LECTURE 08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566928" y="658368"/>
            <a:ext cx="11045952" cy="0"/>
          </a:xfrm>
          <a:prstGeom prst="line">
            <a:avLst/>
          </a:prstGeom>
          <a:noFill/>
          <a:ln w="12700">
            <a:solidFill>
              <a:srgbClr val="D8E0E6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66928" y="6419088"/>
            <a:ext cx="11045952" cy="0"/>
          </a:xfrm>
          <a:prstGeom prst="line">
            <a:avLst/>
          </a:prstGeom>
          <a:noFill/>
          <a:ln w="12700">
            <a:solidFill>
              <a:srgbClr val="D8E0E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1109960" y="6501384"/>
            <a:ext cx="45720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800" dirty="0">
                <a:solidFill>
                  <a:srgbClr val="5E6B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17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713232" y="1353312"/>
            <a:ext cx="1280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1877B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04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713232" y="2011680"/>
            <a:ext cx="98755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3700" b="1" dirty="0">
                <a:solidFill>
                  <a:srgbClr val="1632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Playwright</a:t>
            </a:r>
            <a:endParaRPr lang="en-US" sz="3700" dirty="0"/>
          </a:p>
        </p:txBody>
      </p:sp>
      <p:sp>
        <p:nvSpPr>
          <p:cNvPr id="10" name="Text 8"/>
          <p:cNvSpPr/>
          <p:nvPr/>
        </p:nvSpPr>
        <p:spPr>
          <a:xfrm>
            <a:off x="749808" y="3063240"/>
            <a:ext cx="78638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2000" dirty="0">
                <a:solidFill>
                  <a:srgbClr val="5E6B7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When a real browser, interactions and state waiting are needed.</a:t>
            </a:r>
            <a:endParaRPr lang="en-US" sz="2000" dirty="0"/>
          </a:p>
        </p:txBody>
      </p:sp>
      <p:sp>
        <p:nvSpPr>
          <p:cNvPr id="11" name="Shape 9"/>
          <p:cNvSpPr/>
          <p:nvPr/>
        </p:nvSpPr>
        <p:spPr>
          <a:xfrm>
            <a:off x="731520" y="3977640"/>
            <a:ext cx="2834640" cy="128016"/>
          </a:xfrm>
          <a:prstGeom prst="rect">
            <a:avLst/>
          </a:prstGeom>
          <a:solidFill>
            <a:srgbClr val="1877B9"/>
          </a:solidFill>
          <a:ln w="12700">
            <a:solidFill>
              <a:srgbClr val="1877B9"/>
            </a:solidFill>
            <a:prstDash val="solid"/>
          </a:ln>
        </p:spPr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55448"/>
          </a:xfrm>
          <a:prstGeom prst="rect">
            <a:avLst/>
          </a:prstGeom>
          <a:solidFill>
            <a:srgbClr val="1877B9"/>
          </a:solidFill>
          <a:ln w="12700">
            <a:solidFill>
              <a:srgbClr val="1877B9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66928" y="320040"/>
            <a:ext cx="46634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900" b="1" spc="80" kern="0" dirty="0">
                <a:solidFill>
                  <a:srgbClr val="1877B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PROGRAMMING IN PYTHON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9829800" y="320040"/>
            <a:ext cx="1783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5E6B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LECTURE 08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566928" y="658368"/>
            <a:ext cx="11045952" cy="0"/>
          </a:xfrm>
          <a:prstGeom prst="line">
            <a:avLst/>
          </a:prstGeom>
          <a:noFill/>
          <a:ln w="12700">
            <a:solidFill>
              <a:srgbClr val="D8E0E6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66928" y="6419088"/>
            <a:ext cx="11045952" cy="0"/>
          </a:xfrm>
          <a:prstGeom prst="line">
            <a:avLst/>
          </a:prstGeom>
          <a:noFill/>
          <a:ln w="12700">
            <a:solidFill>
              <a:srgbClr val="D8E0E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1109960" y="6501384"/>
            <a:ext cx="45720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800" dirty="0">
                <a:solidFill>
                  <a:srgbClr val="5E6B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18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658368" y="932688"/>
            <a:ext cx="1078992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2900" b="1" dirty="0">
                <a:solidFill>
                  <a:srgbClr val="1632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The first Playwright script</a:t>
            </a:r>
            <a:endParaRPr lang="en-US" sz="2900" dirty="0"/>
          </a:p>
        </p:txBody>
      </p:sp>
      <p:sp>
        <p:nvSpPr>
          <p:cNvPr id="9" name="Shape 7"/>
          <p:cNvSpPr/>
          <p:nvPr/>
        </p:nvSpPr>
        <p:spPr>
          <a:xfrm>
            <a:off x="658368" y="1828800"/>
            <a:ext cx="6812280" cy="4069080"/>
          </a:xfrm>
          <a:prstGeom prst="roundRect">
            <a:avLst>
              <a:gd name="adj" fmla="val 1348"/>
            </a:avLst>
          </a:prstGeom>
          <a:solidFill>
            <a:srgbClr val="17212B"/>
          </a:solidFill>
          <a:ln w="12700">
            <a:solidFill>
              <a:srgbClr val="17212B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868680" y="2029968"/>
            <a:ext cx="63093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850" b="1" spc="70" kern="0" dirty="0">
                <a:solidFill>
                  <a:srgbClr val="8FD3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python</a:t>
            </a:r>
            <a:endParaRPr lang="en-US" sz="850" dirty="0"/>
          </a:p>
        </p:txBody>
      </p:sp>
      <p:sp>
        <p:nvSpPr>
          <p:cNvPr id="11" name="Text 9"/>
          <p:cNvSpPr/>
          <p:nvPr/>
        </p:nvSpPr>
        <p:spPr>
          <a:xfrm>
            <a:off x="877824" y="2395728"/>
            <a:ext cx="6327648" cy="32461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65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from playwright.sync_api import sync_playwright</a:t>
            </a:r>
            <a:endParaRPr lang="en-US" sz="1650" dirty="0"/>
          </a:p>
          <a:p>
            <a:pPr algn="l" indent="0" marL="0">
              <a:buNone/>
            </a:pPr>
            <a:endParaRPr lang="en-US" sz="1650" dirty="0"/>
          </a:p>
          <a:p>
            <a:pPr algn="l" indent="0" marL="0">
              <a:buNone/>
            </a:pPr>
            <a:r>
              <a:rPr lang="en-US" sz="165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with sync_playwright() as p:</a:t>
            </a:r>
            <a:endParaRPr lang="en-US" sz="1650" dirty="0"/>
          </a:p>
          <a:p>
            <a:pPr algn="l" indent="0" marL="0">
              <a:buNone/>
            </a:pPr>
            <a:r>
              <a:rPr lang="en-US" sz="165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browser = p.chromium.launch(headless=True)</a:t>
            </a:r>
            <a:endParaRPr lang="en-US" sz="1650" dirty="0"/>
          </a:p>
          <a:p>
            <a:pPr algn="l" indent="0" marL="0">
              <a:buNone/>
            </a:pPr>
            <a:r>
              <a:rPr lang="en-US" sz="165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page = browser.new_page()</a:t>
            </a:r>
            <a:endParaRPr lang="en-US" sz="1650" dirty="0"/>
          </a:p>
          <a:p>
            <a:pPr algn="l" indent="0" marL="0">
              <a:buNone/>
            </a:pPr>
            <a:r>
              <a:rPr lang="en-US" sz="165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page.goto("https://example.com/search")</a:t>
            </a:r>
            <a:endParaRPr lang="en-US" sz="1650" dirty="0"/>
          </a:p>
          <a:p>
            <a:pPr algn="l" indent="0" marL="0">
              <a:buNone/>
            </a:pPr>
            <a:r>
              <a:rPr lang="en-US" sz="165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print(page.title())</a:t>
            </a:r>
            <a:endParaRPr lang="en-US" sz="1650" dirty="0"/>
          </a:p>
          <a:p>
            <a:pPr algn="l" indent="0" marL="0">
              <a:buNone/>
            </a:pPr>
            <a:r>
              <a:rPr lang="en-US" sz="165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browser.close()</a:t>
            </a:r>
            <a:endParaRPr lang="en-US" sz="1650" dirty="0"/>
          </a:p>
        </p:txBody>
      </p:sp>
      <p:sp>
        <p:nvSpPr>
          <p:cNvPr id="12" name="Shape 10"/>
          <p:cNvSpPr/>
          <p:nvPr/>
        </p:nvSpPr>
        <p:spPr>
          <a:xfrm>
            <a:off x="7909560" y="1901952"/>
            <a:ext cx="0" cy="3566160"/>
          </a:xfrm>
          <a:prstGeom prst="line">
            <a:avLst/>
          </a:prstGeom>
          <a:noFill/>
          <a:ln w="12700">
            <a:solidFill>
              <a:srgbClr val="1877B9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8229600" y="2130552"/>
            <a:ext cx="2743200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800" dirty="0">
                <a:solidFill>
                  <a:srgbClr val="5E6B7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Playwright controls a real browser. Use it when the HTTP response alone is not enough.</a:t>
            </a:r>
            <a:endParaRPr lang="en-US" sz="18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55448"/>
          </a:xfrm>
          <a:prstGeom prst="rect">
            <a:avLst/>
          </a:prstGeom>
          <a:solidFill>
            <a:srgbClr val="1877B9"/>
          </a:solidFill>
          <a:ln w="12700">
            <a:solidFill>
              <a:srgbClr val="1877B9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66928" y="320040"/>
            <a:ext cx="46634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900" b="1" spc="80" kern="0" dirty="0">
                <a:solidFill>
                  <a:srgbClr val="1877B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PROGRAMMING IN PYTHON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9829800" y="320040"/>
            <a:ext cx="1783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5E6B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LECTURE 08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566928" y="658368"/>
            <a:ext cx="11045952" cy="0"/>
          </a:xfrm>
          <a:prstGeom prst="line">
            <a:avLst/>
          </a:prstGeom>
          <a:noFill/>
          <a:ln w="12700">
            <a:solidFill>
              <a:srgbClr val="D8E0E6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66928" y="6419088"/>
            <a:ext cx="11045952" cy="0"/>
          </a:xfrm>
          <a:prstGeom prst="line">
            <a:avLst/>
          </a:prstGeom>
          <a:noFill/>
          <a:ln w="12700">
            <a:solidFill>
              <a:srgbClr val="D8E0E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1109960" y="6501384"/>
            <a:ext cx="45720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800" dirty="0">
                <a:solidFill>
                  <a:srgbClr val="5E6B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19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658368" y="932688"/>
            <a:ext cx="1078992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2900" b="1" dirty="0">
                <a:solidFill>
                  <a:srgbClr val="1632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Locator instead of a fragile selector</a:t>
            </a:r>
            <a:endParaRPr lang="en-US" sz="2900" dirty="0"/>
          </a:p>
        </p:txBody>
      </p:sp>
      <p:sp>
        <p:nvSpPr>
          <p:cNvPr id="9" name="Shape 7"/>
          <p:cNvSpPr/>
          <p:nvPr/>
        </p:nvSpPr>
        <p:spPr>
          <a:xfrm>
            <a:off x="658368" y="1828800"/>
            <a:ext cx="6812280" cy="4069080"/>
          </a:xfrm>
          <a:prstGeom prst="roundRect">
            <a:avLst>
              <a:gd name="adj" fmla="val 1348"/>
            </a:avLst>
          </a:prstGeom>
          <a:solidFill>
            <a:srgbClr val="17212B"/>
          </a:solidFill>
          <a:ln w="12700">
            <a:solidFill>
              <a:srgbClr val="17212B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868680" y="2029968"/>
            <a:ext cx="63093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850" b="1" spc="70" kern="0" dirty="0">
                <a:solidFill>
                  <a:srgbClr val="8FD3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python</a:t>
            </a:r>
            <a:endParaRPr lang="en-US" sz="850" dirty="0"/>
          </a:p>
        </p:txBody>
      </p:sp>
      <p:sp>
        <p:nvSpPr>
          <p:cNvPr id="11" name="Text 9"/>
          <p:cNvSpPr/>
          <p:nvPr/>
        </p:nvSpPr>
        <p:spPr>
          <a:xfrm>
            <a:off x="877824" y="2395728"/>
            <a:ext cx="6327648" cy="32461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65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page.get_by_label("Search").fill("python")</a:t>
            </a:r>
            <a:endParaRPr lang="en-US" sz="1650" dirty="0"/>
          </a:p>
          <a:p>
            <a:pPr algn="l" indent="0" marL="0">
              <a:buNone/>
            </a:pPr>
            <a:r>
              <a:rPr lang="en-US" sz="165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page.get_by_role("button", name="Search").click()</a:t>
            </a:r>
            <a:endParaRPr lang="en-US" sz="1650" dirty="0"/>
          </a:p>
          <a:p>
            <a:pPr algn="l" indent="0" marL="0">
              <a:buNone/>
            </a:pPr>
            <a:endParaRPr lang="en-US" sz="1650" dirty="0"/>
          </a:p>
          <a:p>
            <a:pPr algn="l" indent="0" marL="0">
              <a:buNone/>
            </a:pPr>
            <a:r>
              <a:rPr lang="en-US" sz="165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results = page.locator("article.product")</a:t>
            </a:r>
            <a:endParaRPr lang="en-US" sz="1650" dirty="0"/>
          </a:p>
          <a:p>
            <a:pPr algn="l" indent="0" marL="0">
              <a:buNone/>
            </a:pPr>
            <a:r>
              <a:rPr lang="en-US" sz="165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expect(results.first()).to_be_visible()</a:t>
            </a:r>
            <a:endParaRPr lang="en-US" sz="1650" dirty="0"/>
          </a:p>
        </p:txBody>
      </p:sp>
      <p:sp>
        <p:nvSpPr>
          <p:cNvPr id="12" name="Shape 10"/>
          <p:cNvSpPr/>
          <p:nvPr/>
        </p:nvSpPr>
        <p:spPr>
          <a:xfrm>
            <a:off x="7909560" y="1901952"/>
            <a:ext cx="0" cy="3566160"/>
          </a:xfrm>
          <a:prstGeom prst="line">
            <a:avLst/>
          </a:prstGeom>
          <a:noFill/>
          <a:ln w="12700">
            <a:solidFill>
              <a:srgbClr val="1877B9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8229600" y="2130552"/>
            <a:ext cx="2743200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800" dirty="0">
                <a:solidFill>
                  <a:srgbClr val="5E6B7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 locator describes an element by user-facing text or role. It often survives small DOM changes better than a long CSS selector.</a:t>
            </a:r>
            <a:endParaRPr lang="en-US" sz="18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55448"/>
          </a:xfrm>
          <a:prstGeom prst="rect">
            <a:avLst/>
          </a:prstGeom>
          <a:solidFill>
            <a:srgbClr val="1877B9"/>
          </a:solidFill>
          <a:ln w="12700">
            <a:solidFill>
              <a:srgbClr val="1877B9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66928" y="320040"/>
            <a:ext cx="46634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900" b="1" spc="80" kern="0" dirty="0">
                <a:solidFill>
                  <a:srgbClr val="1877B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PROGRAMMING IN PYTHON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9829800" y="320040"/>
            <a:ext cx="1783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5E6B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LECTURE 08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566928" y="658368"/>
            <a:ext cx="11045952" cy="0"/>
          </a:xfrm>
          <a:prstGeom prst="line">
            <a:avLst/>
          </a:prstGeom>
          <a:noFill/>
          <a:ln w="12700">
            <a:solidFill>
              <a:srgbClr val="D8E0E6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66928" y="6419088"/>
            <a:ext cx="11045952" cy="0"/>
          </a:xfrm>
          <a:prstGeom prst="line">
            <a:avLst/>
          </a:prstGeom>
          <a:noFill/>
          <a:ln w="12700">
            <a:solidFill>
              <a:srgbClr val="D8E0E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1109960" y="6501384"/>
            <a:ext cx="45720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800" dirty="0">
                <a:solidFill>
                  <a:srgbClr val="5E6B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20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658368" y="932688"/>
            <a:ext cx="1078992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2900" b="1" dirty="0">
                <a:solidFill>
                  <a:srgbClr val="1632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time.sleep() is not a waiting strategy</a:t>
            </a:r>
            <a:endParaRPr lang="en-US" sz="2900" dirty="0"/>
          </a:p>
        </p:txBody>
      </p:sp>
      <p:sp>
        <p:nvSpPr>
          <p:cNvPr id="9" name="Shape 7"/>
          <p:cNvSpPr/>
          <p:nvPr/>
        </p:nvSpPr>
        <p:spPr>
          <a:xfrm>
            <a:off x="713232" y="1874520"/>
            <a:ext cx="5010912" cy="109728"/>
          </a:xfrm>
          <a:prstGeom prst="rect">
            <a:avLst/>
          </a:prstGeom>
          <a:solidFill>
            <a:srgbClr val="167C80"/>
          </a:solidFill>
          <a:ln w="12700">
            <a:solidFill>
              <a:srgbClr val="167C80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713232" y="2212848"/>
            <a:ext cx="501091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632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sleep</a:t>
            </a:r>
            <a:endParaRPr lang="en-US" sz="2000" dirty="0"/>
          </a:p>
        </p:txBody>
      </p:sp>
      <p:sp>
        <p:nvSpPr>
          <p:cNvPr id="11" name="Text 9"/>
          <p:cNvSpPr/>
          <p:nvPr/>
        </p:nvSpPr>
        <p:spPr>
          <a:xfrm>
            <a:off x="768096" y="2788920"/>
            <a:ext cx="4919472" cy="388620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</a:bodyPr>
          <a:lstStyle/>
          <a:p>
            <a:pPr marL="228600" indent="-228600">
              <a:buSzPct val="100000"/>
              <a:buChar char="•"/>
            </a:pPr>
            <a:r>
              <a:rPr lang="en-US" sz="1650" dirty="0">
                <a:solidFill>
                  <a:srgbClr val="18212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waits a fixed time</a:t>
            </a:r>
            <a:endParaRPr lang="en-US" sz="1650" dirty="0"/>
          </a:p>
          <a:p>
            <a:pPr marL="228600" indent="-228600">
              <a:buSzPct val="100000"/>
              <a:buChar char="•"/>
            </a:pPr>
            <a:r>
              <a:rPr lang="en-US" sz="1650" dirty="0">
                <a:solidFill>
                  <a:srgbClr val="18212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slows down fast cases</a:t>
            </a:r>
            <a:endParaRPr lang="en-US" sz="1650" dirty="0"/>
          </a:p>
          <a:p>
            <a:pPr marL="228600" indent="-228600">
              <a:buSzPct val="100000"/>
              <a:buChar char="•"/>
            </a:pPr>
            <a:r>
              <a:rPr lang="en-US" sz="1650" dirty="0">
                <a:solidFill>
                  <a:srgbClr val="18212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fails on slow loads</a:t>
            </a:r>
            <a:endParaRPr lang="en-US" sz="1650" dirty="0"/>
          </a:p>
          <a:p>
            <a:pPr marL="228600" indent="-228600">
              <a:buSzPct val="100000"/>
              <a:buChar char="•"/>
            </a:pPr>
            <a:r>
              <a:rPr lang="en-US" sz="1650" dirty="0">
                <a:solidFill>
                  <a:srgbClr val="18212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does not verify page state</a:t>
            </a:r>
            <a:endParaRPr lang="en-US" sz="1650" dirty="0"/>
          </a:p>
        </p:txBody>
      </p:sp>
      <p:sp>
        <p:nvSpPr>
          <p:cNvPr id="12" name="Shape 10"/>
          <p:cNvSpPr/>
          <p:nvPr/>
        </p:nvSpPr>
        <p:spPr>
          <a:xfrm>
            <a:off x="6373368" y="1874520"/>
            <a:ext cx="5010912" cy="109728"/>
          </a:xfrm>
          <a:prstGeom prst="rect">
            <a:avLst/>
          </a:prstGeom>
          <a:solidFill>
            <a:srgbClr val="E0A03A"/>
          </a:solidFill>
          <a:ln w="12700">
            <a:solidFill>
              <a:srgbClr val="E0A03A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373368" y="2212848"/>
            <a:ext cx="501091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632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auto-wait / expect</a:t>
            </a:r>
            <a:endParaRPr lang="en-US" sz="2000" dirty="0"/>
          </a:p>
        </p:txBody>
      </p:sp>
      <p:sp>
        <p:nvSpPr>
          <p:cNvPr id="14" name="Text 12"/>
          <p:cNvSpPr/>
          <p:nvPr/>
        </p:nvSpPr>
        <p:spPr>
          <a:xfrm>
            <a:off x="6428232" y="2788920"/>
            <a:ext cx="4919472" cy="388620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</a:bodyPr>
          <a:lstStyle/>
          <a:p>
            <a:pPr marL="228600" indent="-228600">
              <a:buSzPct val="100000"/>
              <a:buChar char="•"/>
            </a:pPr>
            <a:r>
              <a:rPr lang="en-US" sz="1650" dirty="0">
                <a:solidFill>
                  <a:srgbClr val="18212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waits for a concrete element or state</a:t>
            </a:r>
            <a:endParaRPr lang="en-US" sz="1650" dirty="0"/>
          </a:p>
          <a:p>
            <a:pPr marL="228600" indent="-228600">
              <a:buSzPct val="100000"/>
              <a:buChar char="•"/>
            </a:pPr>
            <a:r>
              <a:rPr lang="en-US" sz="1650" dirty="0">
                <a:solidFill>
                  <a:srgbClr val="18212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fails with a clearer cause</a:t>
            </a:r>
            <a:endParaRPr lang="en-US" sz="1650" dirty="0"/>
          </a:p>
          <a:p>
            <a:pPr marL="228600" indent="-228600">
              <a:buSzPct val="100000"/>
              <a:buChar char="•"/>
            </a:pPr>
            <a:r>
              <a:rPr lang="en-US" sz="1650" dirty="0">
                <a:solidFill>
                  <a:srgbClr val="18212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the script describes the expectation</a:t>
            </a:r>
            <a:endParaRPr lang="en-US" sz="1650" dirty="0"/>
          </a:p>
          <a:p>
            <a:pPr marL="228600" indent="-228600">
              <a:buSzPct val="100000"/>
              <a:buChar char="•"/>
            </a:pPr>
            <a:r>
              <a:rPr lang="en-US" sz="1650" dirty="0">
                <a:solidFill>
                  <a:srgbClr val="18212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better for tests and scraping</a:t>
            </a:r>
            <a:endParaRPr lang="en-US" sz="165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55448"/>
          </a:xfrm>
          <a:prstGeom prst="rect">
            <a:avLst/>
          </a:prstGeom>
          <a:solidFill>
            <a:srgbClr val="1877B9"/>
          </a:solidFill>
          <a:ln w="12700">
            <a:solidFill>
              <a:srgbClr val="1877B9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66928" y="320040"/>
            <a:ext cx="46634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900" b="1" spc="80" kern="0" dirty="0">
                <a:solidFill>
                  <a:srgbClr val="1877B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PROGRAMMING IN PYTHON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9829800" y="320040"/>
            <a:ext cx="1783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5E6B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LECTURE 08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566928" y="658368"/>
            <a:ext cx="11045952" cy="0"/>
          </a:xfrm>
          <a:prstGeom prst="line">
            <a:avLst/>
          </a:prstGeom>
          <a:noFill/>
          <a:ln w="12700">
            <a:solidFill>
              <a:srgbClr val="D8E0E6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66928" y="6419088"/>
            <a:ext cx="11045952" cy="0"/>
          </a:xfrm>
          <a:prstGeom prst="line">
            <a:avLst/>
          </a:prstGeom>
          <a:noFill/>
          <a:ln w="12700">
            <a:solidFill>
              <a:srgbClr val="D8E0E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1109960" y="6501384"/>
            <a:ext cx="45720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800" dirty="0">
                <a:solidFill>
                  <a:srgbClr val="5E6B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21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658368" y="932688"/>
            <a:ext cx="1078992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2900" b="1" dirty="0">
                <a:solidFill>
                  <a:srgbClr val="1632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Extraction after interaction</a:t>
            </a:r>
            <a:endParaRPr lang="en-US" sz="2900" dirty="0"/>
          </a:p>
        </p:txBody>
      </p:sp>
      <p:sp>
        <p:nvSpPr>
          <p:cNvPr id="9" name="Shape 7"/>
          <p:cNvSpPr/>
          <p:nvPr/>
        </p:nvSpPr>
        <p:spPr>
          <a:xfrm>
            <a:off x="658368" y="1828800"/>
            <a:ext cx="6812280" cy="4069080"/>
          </a:xfrm>
          <a:prstGeom prst="roundRect">
            <a:avLst>
              <a:gd name="adj" fmla="val 1348"/>
            </a:avLst>
          </a:prstGeom>
          <a:solidFill>
            <a:srgbClr val="17212B"/>
          </a:solidFill>
          <a:ln w="12700">
            <a:solidFill>
              <a:srgbClr val="17212B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868680" y="2029968"/>
            <a:ext cx="63093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850" b="1" spc="70" kern="0" dirty="0">
                <a:solidFill>
                  <a:srgbClr val="8FD3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python</a:t>
            </a:r>
            <a:endParaRPr lang="en-US" sz="850" dirty="0"/>
          </a:p>
        </p:txBody>
      </p:sp>
      <p:sp>
        <p:nvSpPr>
          <p:cNvPr id="11" name="Text 9"/>
          <p:cNvSpPr/>
          <p:nvPr/>
        </p:nvSpPr>
        <p:spPr>
          <a:xfrm>
            <a:off x="877824" y="2395728"/>
            <a:ext cx="6327648" cy="32461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65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cards = page.locator("article.product")</a:t>
            </a:r>
            <a:endParaRPr lang="en-US" sz="1650" dirty="0"/>
          </a:p>
          <a:p>
            <a:pPr algn="l" indent="0" marL="0">
              <a:buNone/>
            </a:pPr>
            <a:r>
              <a:rPr lang="en-US" sz="165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products = []</a:t>
            </a:r>
            <a:endParaRPr lang="en-US" sz="1650" dirty="0"/>
          </a:p>
          <a:p>
            <a:pPr algn="l" indent="0" marL="0">
              <a:buNone/>
            </a:pPr>
            <a:endParaRPr lang="en-US" sz="1650" dirty="0"/>
          </a:p>
          <a:p>
            <a:pPr algn="l" indent="0" marL="0">
              <a:buNone/>
            </a:pPr>
            <a:r>
              <a:rPr lang="en-US" sz="165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for index in range(cards.count()):</a:t>
            </a:r>
            <a:endParaRPr lang="en-US" sz="1650" dirty="0"/>
          </a:p>
          <a:p>
            <a:pPr algn="l" indent="0" marL="0">
              <a:buNone/>
            </a:pPr>
            <a:r>
              <a:rPr lang="en-US" sz="165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card = cards.nth(index)</a:t>
            </a:r>
            <a:endParaRPr lang="en-US" sz="1650" dirty="0"/>
          </a:p>
          <a:p>
            <a:pPr algn="l" indent="0" marL="0">
              <a:buNone/>
            </a:pPr>
            <a:r>
              <a:rPr lang="en-US" sz="165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products.append({</a:t>
            </a:r>
            <a:endParaRPr lang="en-US" sz="1650" dirty="0"/>
          </a:p>
          <a:p>
            <a:pPr algn="l" indent="0" marL="0">
              <a:buNone/>
            </a:pPr>
            <a:r>
              <a:rPr lang="en-US" sz="165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"title": card.locator(".product__link").inner_text(),</a:t>
            </a:r>
            <a:endParaRPr lang="en-US" sz="1650" dirty="0"/>
          </a:p>
          <a:p>
            <a:pPr algn="l" indent="0" marL="0">
              <a:buNone/>
            </a:pPr>
            <a:r>
              <a:rPr lang="en-US" sz="165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"url": card.locator("a").get_attribute("href"),</a:t>
            </a:r>
            <a:endParaRPr lang="en-US" sz="1650" dirty="0"/>
          </a:p>
          <a:p>
            <a:pPr algn="l" indent="0" marL="0">
              <a:buNone/>
            </a:pPr>
            <a:r>
              <a:rPr lang="en-US" sz="165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})</a:t>
            </a:r>
            <a:endParaRPr lang="en-US" sz="1650" dirty="0"/>
          </a:p>
        </p:txBody>
      </p:sp>
      <p:sp>
        <p:nvSpPr>
          <p:cNvPr id="12" name="Shape 10"/>
          <p:cNvSpPr/>
          <p:nvPr/>
        </p:nvSpPr>
        <p:spPr>
          <a:xfrm>
            <a:off x="7909560" y="1901952"/>
            <a:ext cx="0" cy="3566160"/>
          </a:xfrm>
          <a:prstGeom prst="line">
            <a:avLst/>
          </a:prstGeom>
          <a:noFill/>
          <a:ln w="12700">
            <a:solidFill>
              <a:srgbClr val="1877B9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8229600" y="2130552"/>
            <a:ext cx="2743200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800" dirty="0">
                <a:solidFill>
                  <a:srgbClr val="5E6B7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Even with Playwright, end with structured data, not random prints from the DOM.</a:t>
            </a:r>
            <a:endParaRPr lang="en-US" sz="18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55448"/>
          </a:xfrm>
          <a:prstGeom prst="rect">
            <a:avLst/>
          </a:prstGeom>
          <a:solidFill>
            <a:srgbClr val="1877B9"/>
          </a:solidFill>
          <a:ln w="12700">
            <a:solidFill>
              <a:srgbClr val="1877B9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66928" y="320040"/>
            <a:ext cx="46634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900" b="1" spc="80" kern="0" dirty="0">
                <a:solidFill>
                  <a:srgbClr val="1877B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PROGRAMMING IN PYTHON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9829800" y="320040"/>
            <a:ext cx="1783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5E6B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LECTURE 08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566928" y="658368"/>
            <a:ext cx="11045952" cy="0"/>
          </a:xfrm>
          <a:prstGeom prst="line">
            <a:avLst/>
          </a:prstGeom>
          <a:noFill/>
          <a:ln w="12700">
            <a:solidFill>
              <a:srgbClr val="D8E0E6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66928" y="6419088"/>
            <a:ext cx="11045952" cy="0"/>
          </a:xfrm>
          <a:prstGeom prst="line">
            <a:avLst/>
          </a:prstGeom>
          <a:noFill/>
          <a:ln w="12700">
            <a:solidFill>
              <a:srgbClr val="D8E0E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1109960" y="6501384"/>
            <a:ext cx="45720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800" dirty="0">
                <a:solidFill>
                  <a:srgbClr val="5E6B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22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658368" y="932688"/>
            <a:ext cx="1078992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2900" b="1" dirty="0">
                <a:solidFill>
                  <a:srgbClr val="1632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API vs BeautifulSoup vs Playwright</a:t>
            </a:r>
            <a:endParaRPr lang="en-US" sz="2900" dirty="0"/>
          </a:p>
        </p:txBody>
      </p:sp>
      <p:graphicFrame>
        <p:nvGraphicFramePr>
          <p:cNvPr id="2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58368" y="1847088"/>
          <a:ext cx="10899648" cy="3520440"/>
        </p:xfrm>
        <a:graphic>
          <a:graphicData uri="http://schemas.openxmlformats.org/drawingml/2006/table">
            <a:tbl>
              <a:tblPr/>
              <a:tblGrid>
                <a:gridCol w="1828800"/>
                <a:gridCol w="4846320"/>
                <a:gridCol w="4224528"/>
              </a:tblGrid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50" dirty="0">
                          <a:solidFill>
                            <a:srgbClr val="18212B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Tool</a:t>
                      </a:r>
                      <a:endParaRPr lang="en-US" sz="155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82296" marR="82296" marT="82296" marB="82296" anchor="mid">
                    <a:lnL w="7620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50" dirty="0">
                          <a:solidFill>
                            <a:srgbClr val="18212B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Use when</a:t>
                      </a:r>
                      <a:endParaRPr lang="en-US" sz="155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82296" marR="82296" marT="82296" marB="82296" anchor="mid">
                    <a:lnL w="7620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50" dirty="0">
                          <a:solidFill>
                            <a:srgbClr val="18212B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Risk</a:t>
                      </a:r>
                      <a:endParaRPr lang="en-US" sz="155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82296" marR="82296" marT="82296" marB="82296" anchor="mid">
                    <a:lnL w="7620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50" dirty="0">
                          <a:solidFill>
                            <a:srgbClr val="18212B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API</a:t>
                      </a:r>
                      <a:endParaRPr lang="en-US" sz="155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82296" marR="82296" marT="82296" marB="82296" anchor="mid">
                    <a:lnL w="7620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50" dirty="0">
                          <a:solidFill>
                            <a:srgbClr val="18212B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 documented data endpoint exists</a:t>
                      </a:r>
                      <a:endParaRPr lang="en-US" sz="155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82296" marR="82296" marT="82296" marB="82296" anchor="mid">
                    <a:lnL w="7620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50" dirty="0">
                          <a:solidFill>
                            <a:srgbClr val="18212B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limits, authentication, versioning</a:t>
                      </a:r>
                      <a:endParaRPr lang="en-US" sz="155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82296" marR="82296" marT="82296" marB="82296" anchor="mid">
                    <a:lnL w="7620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50" dirty="0">
                          <a:solidFill>
                            <a:srgbClr val="18212B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BeautifulSoup</a:t>
                      </a:r>
                      <a:endParaRPr lang="en-US" sz="155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82296" marR="82296" marT="82296" marB="82296" anchor="mid">
                    <a:lnL w="7620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50" dirty="0">
                          <a:solidFill>
                            <a:srgbClr val="18212B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data is in the HTML response</a:t>
                      </a:r>
                      <a:endParaRPr lang="en-US" sz="155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82296" marR="82296" marT="82296" marB="82296" anchor="mid">
                    <a:lnL w="7620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50" dirty="0">
                          <a:solidFill>
                            <a:srgbClr val="18212B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markup changes break parser</a:t>
                      </a:r>
                      <a:endParaRPr lang="en-US" sz="155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82296" marR="82296" marT="82296" marB="82296" anchor="mid">
                    <a:lnL w="7620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50" dirty="0">
                          <a:solidFill>
                            <a:srgbClr val="18212B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Playwright</a:t>
                      </a:r>
                      <a:endParaRPr lang="en-US" sz="155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82296" marR="82296" marT="82296" marB="82296" anchor="mid">
                    <a:lnL w="7620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50" dirty="0">
                          <a:solidFill>
                            <a:srgbClr val="18212B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interaction or JS rendering is needed</a:t>
                      </a:r>
                      <a:endParaRPr lang="en-US" sz="155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82296" marR="82296" marT="82296" marB="82296" anchor="mid">
                    <a:lnL w="7620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50" dirty="0">
                          <a:solidFill>
                            <a:srgbClr val="18212B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slower, more fragile, heavier</a:t>
                      </a:r>
                      <a:endParaRPr lang="en-US" sz="155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82296" marR="82296" marT="82296" marB="82296" anchor="mid">
                    <a:lnL w="7620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Shape 7"/>
          <p:cNvSpPr/>
          <p:nvPr/>
        </p:nvSpPr>
        <p:spPr>
          <a:xfrm>
            <a:off x="658368" y="1847088"/>
            <a:ext cx="10899648" cy="548640"/>
          </a:xfrm>
          <a:prstGeom prst="rect">
            <a:avLst/>
          </a:prstGeom>
          <a:solidFill>
            <a:srgbClr val="16324F"/>
          </a:solidFill>
          <a:ln w="12700">
            <a:solidFill>
              <a:srgbClr val="16324F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786384" y="1993392"/>
            <a:ext cx="15544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Tool</a:t>
            </a:r>
            <a:endParaRPr lang="en-US" sz="1400" dirty="0"/>
          </a:p>
        </p:txBody>
      </p:sp>
      <p:sp>
        <p:nvSpPr>
          <p:cNvPr id="12" name="Text 9"/>
          <p:cNvSpPr/>
          <p:nvPr/>
        </p:nvSpPr>
        <p:spPr>
          <a:xfrm>
            <a:off x="2615184" y="1993392"/>
            <a:ext cx="46177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Use when</a:t>
            </a:r>
            <a:endParaRPr lang="en-US" sz="1400" dirty="0"/>
          </a:p>
        </p:txBody>
      </p:sp>
      <p:sp>
        <p:nvSpPr>
          <p:cNvPr id="13" name="Text 10"/>
          <p:cNvSpPr/>
          <p:nvPr/>
        </p:nvSpPr>
        <p:spPr>
          <a:xfrm>
            <a:off x="7461504" y="1993392"/>
            <a:ext cx="38404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Risk</a:t>
            </a:r>
            <a:endParaRPr lang="en-US" sz="14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55448"/>
          </a:xfrm>
          <a:prstGeom prst="rect">
            <a:avLst/>
          </a:prstGeom>
          <a:solidFill>
            <a:srgbClr val="1877B9"/>
          </a:solidFill>
          <a:ln w="12700">
            <a:solidFill>
              <a:srgbClr val="1877B9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66928" y="320040"/>
            <a:ext cx="46634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900" b="1" spc="80" kern="0" dirty="0">
                <a:solidFill>
                  <a:srgbClr val="1877B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PROGRAMMING IN PYTHON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9829800" y="320040"/>
            <a:ext cx="1783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5E6B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LECTURE 08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566928" y="658368"/>
            <a:ext cx="11045952" cy="0"/>
          </a:xfrm>
          <a:prstGeom prst="line">
            <a:avLst/>
          </a:prstGeom>
          <a:noFill/>
          <a:ln w="12700">
            <a:solidFill>
              <a:srgbClr val="D8E0E6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66928" y="6419088"/>
            <a:ext cx="11045952" cy="0"/>
          </a:xfrm>
          <a:prstGeom prst="line">
            <a:avLst/>
          </a:prstGeom>
          <a:noFill/>
          <a:ln w="12700">
            <a:solidFill>
              <a:srgbClr val="D8E0E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1109960" y="6501384"/>
            <a:ext cx="45720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800" dirty="0">
                <a:solidFill>
                  <a:srgbClr val="5E6B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23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658368" y="932688"/>
            <a:ext cx="1078992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2900" b="1" dirty="0">
                <a:solidFill>
                  <a:srgbClr val="1632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Test the parser without the internet</a:t>
            </a:r>
            <a:endParaRPr lang="en-US" sz="2900" dirty="0"/>
          </a:p>
        </p:txBody>
      </p:sp>
      <p:sp>
        <p:nvSpPr>
          <p:cNvPr id="9" name="Shape 7"/>
          <p:cNvSpPr/>
          <p:nvPr/>
        </p:nvSpPr>
        <p:spPr>
          <a:xfrm>
            <a:off x="658368" y="1828800"/>
            <a:ext cx="6812280" cy="4069080"/>
          </a:xfrm>
          <a:prstGeom prst="roundRect">
            <a:avLst>
              <a:gd name="adj" fmla="val 1348"/>
            </a:avLst>
          </a:prstGeom>
          <a:solidFill>
            <a:srgbClr val="17212B"/>
          </a:solidFill>
          <a:ln w="12700">
            <a:solidFill>
              <a:srgbClr val="17212B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868680" y="2029968"/>
            <a:ext cx="63093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850" b="1" spc="70" kern="0" dirty="0">
                <a:solidFill>
                  <a:srgbClr val="8FD3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python</a:t>
            </a:r>
            <a:endParaRPr lang="en-US" sz="850" dirty="0"/>
          </a:p>
        </p:txBody>
      </p:sp>
      <p:sp>
        <p:nvSpPr>
          <p:cNvPr id="11" name="Text 9"/>
          <p:cNvSpPr/>
          <p:nvPr/>
        </p:nvSpPr>
        <p:spPr>
          <a:xfrm>
            <a:off x="877824" y="2395728"/>
            <a:ext cx="6327648" cy="32461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65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def test_parse_product_handles_missing_price():</a:t>
            </a:r>
            <a:endParaRPr lang="en-US" sz="1650" dirty="0"/>
          </a:p>
          <a:p>
            <a:pPr algn="l" indent="0" marL="0">
              <a:buNone/>
            </a:pPr>
            <a:r>
              <a:rPr lang="en-US" sz="165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html = """</a:t>
            </a:r>
            <a:endParaRPr lang="en-US" sz="1650" dirty="0"/>
          </a:p>
          <a:p>
            <a:pPr algn="l" indent="0" marL="0">
              <a:buNone/>
            </a:pPr>
            <a:r>
              <a:rPr lang="en-US" sz="165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&lt;article class="product"&gt;</a:t>
            </a:r>
            <a:endParaRPr lang="en-US" sz="1650" dirty="0"/>
          </a:p>
          <a:p>
            <a:pPr algn="l" indent="0" marL="0">
              <a:buNone/>
            </a:pPr>
            <a:r>
              <a:rPr lang="en-US" sz="165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&lt;a class="product__link" href="/p/1"&gt;Keyboard&lt;/a&gt;</a:t>
            </a:r>
            <a:endParaRPr lang="en-US" sz="1650" dirty="0"/>
          </a:p>
          <a:p>
            <a:pPr algn="l" indent="0" marL="0">
              <a:buNone/>
            </a:pPr>
            <a:r>
              <a:rPr lang="en-US" sz="165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&lt;/article&gt;</a:t>
            </a:r>
            <a:endParaRPr lang="en-US" sz="1650" dirty="0"/>
          </a:p>
          <a:p>
            <a:pPr algn="l" indent="0" marL="0">
              <a:buNone/>
            </a:pPr>
            <a:r>
              <a:rPr lang="en-US" sz="165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"""</a:t>
            </a:r>
            <a:endParaRPr lang="en-US" sz="1650" dirty="0"/>
          </a:p>
          <a:p>
            <a:pPr algn="l" indent="0" marL="0">
              <a:buNone/>
            </a:pPr>
            <a:r>
              <a:rPr lang="en-US" sz="165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soup = BeautifulSoup(html, "html.parser")</a:t>
            </a:r>
            <a:endParaRPr lang="en-US" sz="1650" dirty="0"/>
          </a:p>
          <a:p>
            <a:pPr algn="l" indent="0" marL="0">
              <a:buNone/>
            </a:pPr>
            <a:r>
              <a:rPr lang="en-US" sz="165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product = parse_product(soup.select_one(".product"))</a:t>
            </a:r>
            <a:endParaRPr lang="en-US" sz="1650" dirty="0"/>
          </a:p>
          <a:p>
            <a:pPr algn="l" indent="0" marL="0">
              <a:buNone/>
            </a:pPr>
            <a:r>
              <a:rPr lang="en-US" sz="165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assert product.price is None</a:t>
            </a:r>
            <a:endParaRPr lang="en-US" sz="1650" dirty="0"/>
          </a:p>
        </p:txBody>
      </p:sp>
      <p:sp>
        <p:nvSpPr>
          <p:cNvPr id="12" name="Shape 10"/>
          <p:cNvSpPr/>
          <p:nvPr/>
        </p:nvSpPr>
        <p:spPr>
          <a:xfrm>
            <a:off x="7909560" y="1901952"/>
            <a:ext cx="0" cy="3566160"/>
          </a:xfrm>
          <a:prstGeom prst="line">
            <a:avLst/>
          </a:prstGeom>
          <a:noFill/>
          <a:ln w="12700">
            <a:solidFill>
              <a:srgbClr val="1877B9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8229600" y="2130552"/>
            <a:ext cx="2743200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800" dirty="0">
                <a:solidFill>
                  <a:srgbClr val="5E6B7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 parser test does not need a live website. A small HTML fragment can represent expected and edge cases.</a:t>
            </a:r>
            <a:endParaRPr lang="en-US" sz="18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55448"/>
          </a:xfrm>
          <a:prstGeom prst="rect">
            <a:avLst/>
          </a:prstGeom>
          <a:solidFill>
            <a:srgbClr val="1877B9"/>
          </a:solidFill>
          <a:ln w="12700">
            <a:solidFill>
              <a:srgbClr val="1877B9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66928" y="320040"/>
            <a:ext cx="46634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900" b="1" spc="80" kern="0" dirty="0">
                <a:solidFill>
                  <a:srgbClr val="1877B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PROGRAMMING IN PYTHON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9829800" y="320040"/>
            <a:ext cx="1783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5E6B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LECTURE 08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566928" y="658368"/>
            <a:ext cx="11045952" cy="0"/>
          </a:xfrm>
          <a:prstGeom prst="line">
            <a:avLst/>
          </a:prstGeom>
          <a:noFill/>
          <a:ln w="12700">
            <a:solidFill>
              <a:srgbClr val="D8E0E6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66928" y="6419088"/>
            <a:ext cx="11045952" cy="0"/>
          </a:xfrm>
          <a:prstGeom prst="line">
            <a:avLst/>
          </a:prstGeom>
          <a:noFill/>
          <a:ln w="12700">
            <a:solidFill>
              <a:srgbClr val="D8E0E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1109960" y="6501384"/>
            <a:ext cx="45720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800" dirty="0">
                <a:solidFill>
                  <a:srgbClr val="5E6B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24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658368" y="932688"/>
            <a:ext cx="1078992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2900" b="1" dirty="0">
                <a:solidFill>
                  <a:srgbClr val="1632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Requests need a limit</a:t>
            </a:r>
            <a:endParaRPr lang="en-US" sz="2900" dirty="0"/>
          </a:p>
        </p:txBody>
      </p:sp>
      <p:sp>
        <p:nvSpPr>
          <p:cNvPr id="9" name="Text 7"/>
          <p:cNvSpPr/>
          <p:nvPr/>
        </p:nvSpPr>
        <p:spPr>
          <a:xfrm>
            <a:off x="685800" y="1719072"/>
            <a:ext cx="996696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800" dirty="0">
                <a:solidFill>
                  <a:srgbClr val="5E6B7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 scraper must not be an infinite loop that burdens another service or ignores its rules.</a:t>
            </a:r>
            <a:endParaRPr lang="en-US" sz="1800" dirty="0"/>
          </a:p>
        </p:txBody>
      </p:sp>
      <p:sp>
        <p:nvSpPr>
          <p:cNvPr id="10" name="Text 8"/>
          <p:cNvSpPr/>
          <p:nvPr/>
        </p:nvSpPr>
        <p:spPr>
          <a:xfrm>
            <a:off x="868680" y="2487168"/>
            <a:ext cx="9921240" cy="388620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</a:bodyPr>
          <a:lstStyle/>
          <a:p>
            <a:pPr marL="228600" indent="-228600">
              <a:buSzPct val="100000"/>
              <a:buChar char="•"/>
            </a:pPr>
            <a:r>
              <a:rPr lang="en-US" sz="1800" dirty="0">
                <a:solidFill>
                  <a:srgbClr val="18212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look for an official API and usage rules</a:t>
            </a:r>
            <a:endParaRPr lang="en-US" sz="1800" dirty="0"/>
          </a:p>
          <a:p>
            <a:pPr marL="228600" indent="-228600">
              <a:buSzPct val="100000"/>
              <a:buChar char="•"/>
            </a:pPr>
            <a:r>
              <a:rPr lang="en-US" sz="1800" dirty="0">
                <a:solidFill>
                  <a:srgbClr val="18212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set a timeout and maximum page count</a:t>
            </a:r>
            <a:endParaRPr lang="en-US" sz="1800" dirty="0"/>
          </a:p>
          <a:p>
            <a:pPr marL="228600" indent="-228600">
              <a:buSzPct val="100000"/>
              <a:buChar char="•"/>
            </a:pPr>
            <a:r>
              <a:rPr lang="en-US" sz="1800" dirty="0">
                <a:solidFill>
                  <a:srgbClr val="18212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use a reasonable pause between requests</a:t>
            </a:r>
            <a:endParaRPr lang="en-US" sz="1800" dirty="0"/>
          </a:p>
          <a:p>
            <a:pPr marL="228600" indent="-228600">
              <a:buSzPct val="100000"/>
              <a:buChar char="•"/>
            </a:pPr>
            <a:r>
              <a:rPr lang="en-US" sz="1800" dirty="0">
                <a:solidFill>
                  <a:srgbClr val="18212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cache or a saved HTML snapshot reduces repeated calls</a:t>
            </a:r>
            <a:endParaRPr lang="en-US" sz="18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55448"/>
          </a:xfrm>
          <a:prstGeom prst="rect">
            <a:avLst/>
          </a:prstGeom>
          <a:solidFill>
            <a:srgbClr val="1877B9"/>
          </a:solidFill>
          <a:ln w="12700">
            <a:solidFill>
              <a:srgbClr val="1877B9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66928" y="320040"/>
            <a:ext cx="46634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900" b="1" spc="80" kern="0" dirty="0">
                <a:solidFill>
                  <a:srgbClr val="1877B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PROGRAMMING IN PYTHON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9829800" y="320040"/>
            <a:ext cx="1783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5E6B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LECTURE 08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566928" y="658368"/>
            <a:ext cx="11045952" cy="0"/>
          </a:xfrm>
          <a:prstGeom prst="line">
            <a:avLst/>
          </a:prstGeom>
          <a:noFill/>
          <a:ln w="12700">
            <a:solidFill>
              <a:srgbClr val="D8E0E6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66928" y="6419088"/>
            <a:ext cx="11045952" cy="0"/>
          </a:xfrm>
          <a:prstGeom prst="line">
            <a:avLst/>
          </a:prstGeom>
          <a:noFill/>
          <a:ln w="12700">
            <a:solidFill>
              <a:srgbClr val="D8E0E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1109960" y="6501384"/>
            <a:ext cx="45720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800" dirty="0">
                <a:solidFill>
                  <a:srgbClr val="5E6B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25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749808" y="1554480"/>
            <a:ext cx="10424160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1632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 scraper is a contract with a page that was not written for you.</a:t>
            </a:r>
            <a:endParaRPr lang="en-US" sz="3400" dirty="0"/>
          </a:p>
        </p:txBody>
      </p:sp>
      <p:sp>
        <p:nvSpPr>
          <p:cNvPr id="9" name="Shape 7"/>
          <p:cNvSpPr/>
          <p:nvPr/>
        </p:nvSpPr>
        <p:spPr>
          <a:xfrm>
            <a:off x="768096" y="3456432"/>
            <a:ext cx="1417320" cy="109728"/>
          </a:xfrm>
          <a:prstGeom prst="rect">
            <a:avLst/>
          </a:prstGeom>
          <a:solidFill>
            <a:srgbClr val="E0A03A"/>
          </a:solidFill>
          <a:ln w="12700">
            <a:solidFill>
              <a:srgbClr val="E0A03A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768096" y="3913632"/>
            <a:ext cx="88696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2200" dirty="0">
                <a:solidFill>
                  <a:srgbClr val="5E6B7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That is why we look for an API first, then HTML data, then browser automation, while respecting service rules and reasonable request rates.</a:t>
            </a:r>
            <a:endParaRPr lang="en-US" sz="2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ptos Display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25</Slides>
  <Notes>25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25</vt:i4>
      </vt:variant>
    </vt:vector>
  </HeadingPairs>
  <TitlesOfParts>
    <vt:vector size="2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</vt:vector>
  </TitlesOfParts>
  <Company>Technická univerzita v Košiciach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Web Scraping and Browser Automation</dc:title>
  <dc:subject>Programming in Python</dc:subject>
  <dc:creator>TUKE FEI</dc:creator>
  <cp:lastModifiedBy>TUKE FEI</cp:lastModifiedBy>
  <cp:revision>1</cp:revision>
  <dcterms:created xsi:type="dcterms:W3CDTF">2026-09-15T21:39:10Z</dcterms:created>
  <dcterms:modified xsi:type="dcterms:W3CDTF">2026-09-15T21:39:10Z</dcterms:modified>
</cp:coreProperties>
</file>