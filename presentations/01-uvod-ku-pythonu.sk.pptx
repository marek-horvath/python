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829800" y="68580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20" dirty="0"/>
          </a:p>
        </p:txBody>
      </p:sp>
      <p:sp>
        <p:nvSpPr>
          <p:cNvPr id="5" name="Text 3"/>
          <p:cNvSpPr/>
          <p:nvPr/>
        </p:nvSpPr>
        <p:spPr>
          <a:xfrm>
            <a:off x="749808" y="2066544"/>
            <a:ext cx="9921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Úvod ku Pythonu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49808" y="5212080"/>
            <a:ext cx="224028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0680192" y="625449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35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Dynamické typovanie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nie je jazyk bez typov. Typ patrí objektu; meno na objekt iba odkazuje.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v rôznych oblastiach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822960" y="1901952"/>
            <a:ext cx="470916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AUTOMATIZÁCIA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67919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pathlib · subprocess · scripts</a:t>
            </a:r>
            <a:endParaRPr lang="en-US" sz="2300" dirty="0"/>
          </a:p>
        </p:txBody>
      </p:sp>
      <p:sp>
        <p:nvSpPr>
          <p:cNvPr id="12" name="Shape 10"/>
          <p:cNvSpPr/>
          <p:nvPr/>
        </p:nvSpPr>
        <p:spPr>
          <a:xfrm>
            <a:off x="6446520" y="1901952"/>
            <a:ext cx="4709160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DÁTA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46520" y="267919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NumPy · pandas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822960" y="3977640"/>
            <a:ext cx="470916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2702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 A API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7548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HTTPX · FastAPI</a:t>
            </a:r>
            <a:endParaRPr lang="en-US" sz="2300" dirty="0"/>
          </a:p>
        </p:txBody>
      </p:sp>
      <p:sp>
        <p:nvSpPr>
          <p:cNvPr id="18" name="Shape 16"/>
          <p:cNvSpPr/>
          <p:nvPr/>
        </p:nvSpPr>
        <p:spPr>
          <a:xfrm>
            <a:off x="6446520" y="3977640"/>
            <a:ext cx="4709160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42702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DESKTOP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46520" y="47548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Tkinter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Mená a objekty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700784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Priradenie vytvorí väzbu mena na objekt. Neskoršie priradenie zmení túto väzbu.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749808" y="248716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PÔVODNÁ VÄZBA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749808" y="2834640"/>
            <a:ext cx="1965960" cy="85953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3108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962656" y="3108960"/>
            <a:ext cx="347472" cy="274320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38728" y="2761488"/>
            <a:ext cx="1828800" cy="1024128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48456" y="2999232"/>
            <a:ext cx="1609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876288" y="248716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OPÄTOVNÉ PRIRADENIE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876288" y="2834640"/>
            <a:ext cx="1965960" cy="85953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86016" y="3108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089136" y="3108960"/>
            <a:ext cx="347472" cy="274320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65208" y="2761488"/>
            <a:ext cx="1828800" cy="1024128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74936" y="2999232"/>
            <a:ext cx="1609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"excellent"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768096" y="464515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Objekt 92 ďalej existuje; zmenila sa iba väzba mena score.</a:t>
            </a:r>
            <a:endParaRPr lang="en-US" sz="1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Rovnosť a identita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28800"/>
            <a:ext cx="4956048" cy="22402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1828800"/>
            <a:ext cx="49560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1947672"/>
            <a:ext cx="45171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2" name="Text 10"/>
          <p:cNvSpPr/>
          <p:nvPr/>
        </p:nvSpPr>
        <p:spPr>
          <a:xfrm>
            <a:off x="932688" y="2487168"/>
            <a:ext cx="448056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2]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[1, 2]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== b  # True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is b  # False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63640" y="213969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806440" y="26974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porovnáva hodnoty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263640" y="33101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7C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806440" y="38679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porovnáva identitu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183880" y="1828800"/>
            <a:ext cx="3246120" cy="22402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828800"/>
            <a:ext cx="32461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03336" y="1947672"/>
            <a:ext cx="280720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identity check</a:t>
            </a:r>
            <a:endParaRPr lang="en-US" sz="810" dirty="0"/>
          </a:p>
        </p:txBody>
      </p:sp>
      <p:sp>
        <p:nvSpPr>
          <p:cNvPr id="20" name="Text 18"/>
          <p:cNvSpPr/>
          <p:nvPr/>
        </p:nvSpPr>
        <p:spPr>
          <a:xfrm>
            <a:off x="8403336" y="2487168"/>
            <a:ext cx="277063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is None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49808" y="4956048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používame typicky pri kontrole singletonov, najmä None; nie na porovnávanie bežných hodnôt.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Priradenie a aliasing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[72, 91]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alias = results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alias.append(45)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print(results)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print(alias)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endParaRPr lang="en-US" sz="810" dirty="0"/>
          </a:p>
        </p:txBody>
      </p:sp>
      <p:sp>
        <p:nvSpPr>
          <p:cNvPr id="15" name="Text 13"/>
          <p:cNvSpPr/>
          <p:nvPr/>
        </p:nvSpPr>
        <p:spPr>
          <a:xfrm>
            <a:off x="8229600" y="239572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[72, 91, 45]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[72, 91, 45]</a:t>
            </a:r>
            <a:endParaRPr lang="en-US" sz="1520" dirty="0"/>
          </a:p>
        </p:txBody>
      </p:sp>
      <p:sp>
        <p:nvSpPr>
          <p:cNvPr id="16" name="Text 14"/>
          <p:cNvSpPr/>
          <p:nvPr/>
        </p:nvSpPr>
        <p:spPr>
          <a:xfrm>
            <a:off x="8229600" y="3255264"/>
            <a:ext cx="281635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Priradenie nevytvorilo kópiu listu. Obe mená odkazujú na rovnaký mutable objekt.</a:t>
            </a:r>
            <a:endParaRPr lang="en-US" sz="1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Argument funkcie a mutable objekt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add_score(scores: list[int]) -&gt; None: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scores.append(100)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[80, 90]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add_score(values)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print(values)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endParaRPr lang="en-US" sz="810" dirty="0"/>
          </a:p>
        </p:txBody>
      </p:sp>
      <p:sp>
        <p:nvSpPr>
          <p:cNvPr id="15" name="Text 13"/>
          <p:cNvSpPr/>
          <p:nvPr/>
        </p:nvSpPr>
        <p:spPr>
          <a:xfrm>
            <a:off x="8229600" y="239572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[80, 90, 100]</a:t>
            </a:r>
            <a:endParaRPr lang="en-US" sz="1520" dirty="0"/>
          </a:p>
        </p:txBody>
      </p:sp>
      <p:sp>
        <p:nvSpPr>
          <p:cNvPr id="16" name="Text 14"/>
          <p:cNvSpPr/>
          <p:nvPr/>
        </p:nvSpPr>
        <p:spPr>
          <a:xfrm>
            <a:off x="8229600" y="3255264"/>
            <a:ext cx="281635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 je ďalšie meno pre ten istý list. Python list pri volaní funkcie automaticky nekopíruje.</a:t>
            </a:r>
            <a:endParaRPr lang="en-US" sz="1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Mutabilita objektov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700784"/>
            <a:ext cx="982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Mutable objekt môžeme zmeniť na mieste. Pri immutable hodnote vznikne nový objekt.</a:t>
            </a:r>
            <a:endParaRPr lang="en-US" sz="1850" dirty="0"/>
          </a:p>
        </p:txBody>
      </p:sp>
      <p:sp>
        <p:nvSpPr>
          <p:cNvPr id="10" name="Shape 8"/>
          <p:cNvSpPr/>
          <p:nvPr/>
        </p:nvSpPr>
        <p:spPr>
          <a:xfrm>
            <a:off x="749808" y="2487168"/>
            <a:ext cx="4800600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715768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MUTABLE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9808" y="3163824"/>
            <a:ext cx="4709160" cy="80467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3163824"/>
            <a:ext cx="470916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82696"/>
            <a:ext cx="4270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5" name="Text 13"/>
          <p:cNvSpPr/>
          <p:nvPr/>
        </p:nvSpPr>
        <p:spPr>
          <a:xfrm>
            <a:off x="969264" y="355701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scores.append(100)</a:t>
            </a:r>
            <a:endParaRPr lang="en-US" sz="1680" dirty="0"/>
          </a:p>
        </p:txBody>
      </p:sp>
      <p:sp>
        <p:nvSpPr>
          <p:cNvPr id="16" name="Text 14"/>
          <p:cNvSpPr/>
          <p:nvPr/>
        </p:nvSpPr>
        <p:spPr>
          <a:xfrm>
            <a:off x="786384" y="435254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[80, 90, 100]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95528" y="490118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list, dict, set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meníme obsah objektu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6382512" y="2487168"/>
            <a:ext cx="4800600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715768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IMMUTABLE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82512" y="3163824"/>
            <a:ext cx="4709160" cy="80467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82512" y="3163824"/>
            <a:ext cx="470916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01968" y="3282696"/>
            <a:ext cx="4270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6601968" y="355701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 = grade + "+"</a:t>
            </a:r>
            <a:endParaRPr lang="en-US" sz="1680" dirty="0"/>
          </a:p>
        </p:txBody>
      </p:sp>
      <p:sp>
        <p:nvSpPr>
          <p:cNvPr id="24" name="Text 22"/>
          <p:cNvSpPr/>
          <p:nvPr/>
        </p:nvSpPr>
        <p:spPr>
          <a:xfrm>
            <a:off x="6419088" y="435254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"A+"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6428232" y="490118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str, tuple, int, float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vznikne nový objekt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Aliasing a shallow copy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13232" y="1901952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ALIASING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487168"/>
            <a:ext cx="4754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──┐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├──→ [72, 91]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──┘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13232" y="411480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3232" y="47091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Dve mená. Jeden objekt.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355080" y="1901952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SHALLOW COPY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55080" y="2487168"/>
            <a:ext cx="4754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───→ [72, 91]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───→ [72, 91]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55080" y="411480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a.copy()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355080" y="47091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Nový vonkajší objekt.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687568" y="1828800"/>
            <a:ext cx="0" cy="333756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Shallow copy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13232" y="1737360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Vonkajší slovník je nový. Vnorený list zostáva zdieľaný.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86384" y="304495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240280" y="3063240"/>
            <a:ext cx="256032" cy="237744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97480" y="2788920"/>
            <a:ext cx="1874520" cy="822960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0" y="3044952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 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800600" y="3063240"/>
            <a:ext cx="256032" cy="237744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57800" y="2788920"/>
            <a:ext cx="2240280" cy="822960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13248" y="29443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shared list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86384" y="45994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2240280" y="4617720"/>
            <a:ext cx="256032" cy="237744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97480" y="4343400"/>
            <a:ext cx="1874520" cy="822960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34640" y="4599432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 B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800600" y="4617720"/>
            <a:ext cx="256032" cy="237744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57800" y="4343400"/>
            <a:ext cx="2240280" cy="822960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13248" y="449884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shared list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7699248" y="3200400"/>
            <a:ext cx="502920" cy="137160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85632" y="320040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Dva slovníky, jeden zdieľaný vnorený list.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Deep copy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13232" y="1737360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deepcopy() vytvorí nezávislé vnorené objekty. Nie je to predvolené riešenie pre každú kópiu.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86384" y="304495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240280" y="3063240"/>
            <a:ext cx="256032" cy="237744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97480" y="2788920"/>
            <a:ext cx="1874520" cy="822960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0" y="3044952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 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800600" y="3063240"/>
            <a:ext cx="256032" cy="237744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57800" y="2788920"/>
            <a:ext cx="2240280" cy="822960"/>
          </a:xfrm>
          <a:prstGeom prst="rect">
            <a:avLst/>
          </a:prstGeom>
          <a:solidFill>
            <a:srgbClr val="EAF3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13248" y="29443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 A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86384" y="45994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2240280" y="4617720"/>
            <a:ext cx="256032" cy="237744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97480" y="4343400"/>
            <a:ext cx="1874520" cy="822960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34640" y="4599432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 B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800600" y="4617720"/>
            <a:ext cx="256032" cy="237744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57800" y="4343400"/>
            <a:ext cx="2240280" cy="822960"/>
          </a:xfrm>
          <a:prstGeom prst="rect">
            <a:avLst/>
          </a:prstGeom>
          <a:solidFill>
            <a:srgbClr val="EAF3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13248" y="449884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 B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8485632" y="320040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Dva slovníky, dva vnorené listy.</a:t>
            </a:r>
            <a:endParaRPr lang="en-US"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Výber kolekcie</a:t>
            </a:r>
            <a:endParaRPr lang="en-US" sz="2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359152"/>
          <a:ext cx="10899648" cy="301752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list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poradie, opakovania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spracované súbory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tuple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pevný záznam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(x, y) coordinates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set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unikátne hodnoty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email addresses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dict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hodnota pod kľúčom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user by id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Vlastnosť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Použitie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Rovnaké dáta, iná otázka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822960" y="17830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Potrebujem zachovať poradie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092440" y="17830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list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" y="2313432"/>
            <a:ext cx="9738360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770632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Potrebujem unikátne emaily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092440" y="277063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set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3300984"/>
            <a:ext cx="9738360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75818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Potrebujem user podľa id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092440" y="3758184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dict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4288536"/>
            <a:ext cx="9738360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745736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Potrebujem pevnú dvojicu coordinates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092440" y="474573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tuple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22960" y="5276088"/>
            <a:ext cx="9738360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Index často nepotrebujeme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5193792" cy="3255264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5193792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1947672"/>
            <a:ext cx="4754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INDEXOM</a:t>
            </a:r>
            <a:endParaRPr lang="en-US" sz="810" dirty="0"/>
          </a:p>
        </p:txBody>
      </p:sp>
      <p:sp>
        <p:nvSpPr>
          <p:cNvPr id="12" name="Text 10"/>
          <p:cNvSpPr/>
          <p:nvPr/>
        </p:nvSpPr>
        <p:spPr>
          <a:xfrm>
            <a:off x="877824" y="2487168"/>
            <a:ext cx="471830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range(len(names)):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print(names[i])</a:t>
            </a:r>
            <a:endParaRPr lang="en-US" sz="1720" dirty="0"/>
          </a:p>
        </p:txBody>
      </p:sp>
      <p:sp>
        <p:nvSpPr>
          <p:cNvPr id="13" name="Shape 11"/>
          <p:cNvSpPr/>
          <p:nvPr/>
        </p:nvSpPr>
        <p:spPr>
          <a:xfrm>
            <a:off x="6336792" y="1828800"/>
            <a:ext cx="5193792" cy="3255264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36792" y="1828800"/>
            <a:ext cx="5193792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56248" y="1947672"/>
            <a:ext cx="4754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PRIAMO CEZ HODNOTU</a:t>
            </a:r>
            <a:endParaRPr lang="en-US" sz="810" dirty="0"/>
          </a:p>
        </p:txBody>
      </p:sp>
      <p:sp>
        <p:nvSpPr>
          <p:cNvPr id="16" name="Text 14"/>
          <p:cNvSpPr/>
          <p:nvPr/>
        </p:nvSpPr>
        <p:spPr>
          <a:xfrm>
            <a:off x="6556248" y="2487168"/>
            <a:ext cx="471830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 in names: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print(name)</a:t>
            </a:r>
            <a:endParaRPr lang="en-US" sz="1720" dirty="0"/>
          </a:p>
        </p:txBody>
      </p:sp>
      <p:sp>
        <p:nvSpPr>
          <p:cNvPr id="17" name="Text 15"/>
          <p:cNvSpPr/>
          <p:nvPr/>
        </p:nvSpPr>
        <p:spPr>
          <a:xfrm>
            <a:off x="749808" y="54864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Index pridajte až vtedy, keď ho program naozaj používa.</a:t>
            </a:r>
            <a:endParaRPr lang="en-US" sz="1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items() a enumerate()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5193792" cy="3255264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5193792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1947672"/>
            <a:ext cx="4754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dict.items()</a:t>
            </a:r>
            <a:endParaRPr lang="en-US" sz="810" dirty="0"/>
          </a:p>
        </p:txBody>
      </p:sp>
      <p:sp>
        <p:nvSpPr>
          <p:cNvPr id="12" name="Text 10"/>
          <p:cNvSpPr/>
          <p:nvPr/>
        </p:nvSpPr>
        <p:spPr>
          <a:xfrm>
            <a:off x="877824" y="2487168"/>
            <a:ext cx="471830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name, score in scores.items():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print(name, score)</a:t>
            </a:r>
            <a:endParaRPr lang="en-US" sz="1720" dirty="0"/>
          </a:p>
        </p:txBody>
      </p:sp>
      <p:sp>
        <p:nvSpPr>
          <p:cNvPr id="13" name="Shape 11"/>
          <p:cNvSpPr/>
          <p:nvPr/>
        </p:nvSpPr>
        <p:spPr>
          <a:xfrm>
            <a:off x="6336792" y="1828800"/>
            <a:ext cx="5193792" cy="3255264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36792" y="1828800"/>
            <a:ext cx="5193792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56248" y="1947672"/>
            <a:ext cx="4754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enumerate()</a:t>
            </a:r>
            <a:endParaRPr lang="en-US" sz="810" dirty="0"/>
          </a:p>
        </p:txBody>
      </p:sp>
      <p:sp>
        <p:nvSpPr>
          <p:cNvPr id="16" name="Text 14"/>
          <p:cNvSpPr/>
          <p:nvPr/>
        </p:nvSpPr>
        <p:spPr>
          <a:xfrm>
            <a:off x="6556248" y="2487168"/>
            <a:ext cx="471830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index, name in enumerate(names, start=1):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print(index, name)</a:t>
            </a:r>
            <a:endParaRPr lang="en-US" sz="1720" dirty="0"/>
          </a:p>
        </p:txBody>
      </p:sp>
      <p:sp>
        <p:nvSpPr>
          <p:cNvPr id="17" name="Text 15"/>
          <p:cNvSpPr/>
          <p:nvPr/>
        </p:nvSpPr>
        <p:spPr>
          <a:xfrm>
            <a:off x="749808" y="54864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Rozbaľovanie pomenúva hodnoty, s ktorými pracujeme.</a:t>
            </a:r>
            <a:endParaRPr lang="en-US" sz="1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zip() spája súvisiace sekvencie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28800"/>
            <a:ext cx="5897880" cy="352044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1828800"/>
            <a:ext cx="589788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1947672"/>
            <a:ext cx="54589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2" name="Text 10"/>
          <p:cNvSpPr/>
          <p:nvPr/>
        </p:nvSpPr>
        <p:spPr>
          <a:xfrm>
            <a:off x="932688" y="2487168"/>
            <a:ext cx="5422392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["Anna", "Peter", "Lucia"]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 = [92, 67]</a:t>
            </a:r>
            <a:endParaRPr lang="en-US" sz="1720" dirty="0"/>
          </a:p>
          <a:p>
            <a:pPr algn="l" indent="0" marL="0">
              <a:buNone/>
            </a:pP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name, score in zip(names, points):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print(name, score)</a:t>
            </a:r>
            <a:endParaRPr lang="en-US" sz="1720" dirty="0"/>
          </a:p>
        </p:txBody>
      </p:sp>
      <p:sp>
        <p:nvSpPr>
          <p:cNvPr id="13" name="Text 11"/>
          <p:cNvSpPr/>
          <p:nvPr/>
        </p:nvSpPr>
        <p:spPr>
          <a:xfrm>
            <a:off x="7452360" y="20574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Anna 92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Peter 67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452360" y="32461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zip() štandardne skončí pri kratšom iterable. Hodnota Lucia sa nespracuje.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Slicing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[10, 20, 30, 40, 50, 60]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41248" y="2542032"/>
            <a:ext cx="1078992" cy="658368"/>
          </a:xfrm>
          <a:prstGeom prst="rect">
            <a:avLst/>
          </a:prstGeom>
          <a:solidFill>
            <a:srgbClr val="EAF3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743200"/>
            <a:ext cx="1078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2350008" y="2542032"/>
            <a:ext cx="1078992" cy="658368"/>
          </a:xfrm>
          <a:prstGeom prst="rect">
            <a:avLst/>
          </a:prstGeom>
          <a:solidFill>
            <a:srgbClr val="EAF3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50008" y="2743200"/>
            <a:ext cx="1078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3858768" y="2542032"/>
            <a:ext cx="1078992" cy="658368"/>
          </a:xfrm>
          <a:prstGeom prst="rect">
            <a:avLst/>
          </a:prstGeom>
          <a:solidFill>
            <a:srgbClr val="EAF3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58768" y="2743200"/>
            <a:ext cx="1078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367528" y="2542032"/>
            <a:ext cx="1078992" cy="658368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67528" y="2743200"/>
            <a:ext cx="1078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876288" y="2542032"/>
            <a:ext cx="1078992" cy="658368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76288" y="2743200"/>
            <a:ext cx="1078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8385048" y="2542032"/>
            <a:ext cx="1078992" cy="658368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85048" y="2743200"/>
            <a:ext cx="1078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841248" y="3767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values[:3]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3154680" y="3767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[10, 20, 30]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841248" y="4498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values[::2]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3154680" y="44988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[10, 30, 50]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841248" y="5230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values[::-1]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3154680" y="52303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[60, 50, 40, 30, 20, 10]</a:t>
            </a:r>
            <a:endParaRPr lang="en-US" sz="2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Unpacking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77240" y="17830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first, *middle, last = values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841248" y="2788920"/>
            <a:ext cx="1207008" cy="786384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063240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41248" y="4041648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2359152" y="2788920"/>
            <a:ext cx="5532120" cy="786384"/>
          </a:xfrm>
          <a:prstGeom prst="rect">
            <a:avLst/>
          </a:prstGeom>
          <a:solidFill>
            <a:srgbClr val="EAF3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59152" y="306324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20   30   40   50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359152" y="4041648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middle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202168" y="2788920"/>
            <a:ext cx="1207008" cy="786384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02168" y="3063240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02168" y="4041648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41248" y="5074920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Unpacking dáva názvy častiam sekvencie, keď majú v programe jasný význam.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Klasický cyklus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[72, 91, 45, 88]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 = []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score in scores: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score &gt;= 51: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passed.append(score)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Postup je priamy: prejdeme hodnoty, vyberieme úspešné a uložíme ich.</a:t>
            </a:r>
            <a:endParaRPr lang="en-US" sz="15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List comprehension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5193792" cy="3255264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5193792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1947672"/>
            <a:ext cx="4754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CYKLUS</a:t>
            </a:r>
            <a:endParaRPr lang="en-US" sz="810" dirty="0"/>
          </a:p>
        </p:txBody>
      </p:sp>
      <p:sp>
        <p:nvSpPr>
          <p:cNvPr id="12" name="Text 10"/>
          <p:cNvSpPr/>
          <p:nvPr/>
        </p:nvSpPr>
        <p:spPr>
          <a:xfrm>
            <a:off x="877824" y="2487168"/>
            <a:ext cx="471830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 = []</a:t>
            </a:r>
            <a:endParaRPr lang="en-US" sz="1620" dirty="0"/>
          </a:p>
          <a:p>
            <a:pPr algn="l" indent="0" marL="0">
              <a:buNone/>
            </a:pPr>
            <a:r>
              <a:rPr lang="en-US" sz="16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score in scores:</a:t>
            </a:r>
            <a:endParaRPr lang="en-US" sz="1620" dirty="0"/>
          </a:p>
          <a:p>
            <a:pPr algn="l" indent="0" marL="0">
              <a:buNone/>
            </a:pPr>
            <a:r>
              <a:rPr lang="en-US" sz="16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score &gt;= 51:</a:t>
            </a:r>
            <a:endParaRPr lang="en-US" sz="1620" dirty="0"/>
          </a:p>
          <a:p>
            <a:pPr algn="l" indent="0" marL="0">
              <a:buNone/>
            </a:pPr>
            <a:r>
              <a:rPr lang="en-US" sz="16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passed.append(score)</a:t>
            </a:r>
            <a:endParaRPr lang="en-US" sz="1620" dirty="0"/>
          </a:p>
        </p:txBody>
      </p:sp>
      <p:sp>
        <p:nvSpPr>
          <p:cNvPr id="13" name="Shape 11"/>
          <p:cNvSpPr/>
          <p:nvPr/>
        </p:nvSpPr>
        <p:spPr>
          <a:xfrm>
            <a:off x="6336792" y="1828800"/>
            <a:ext cx="5193792" cy="3255264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36792" y="1828800"/>
            <a:ext cx="5193792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56248" y="1947672"/>
            <a:ext cx="4754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COMPREHENSION</a:t>
            </a:r>
            <a:endParaRPr lang="en-US" sz="810" dirty="0"/>
          </a:p>
        </p:txBody>
      </p:sp>
      <p:sp>
        <p:nvSpPr>
          <p:cNvPr id="16" name="Text 14"/>
          <p:cNvSpPr/>
          <p:nvPr/>
        </p:nvSpPr>
        <p:spPr>
          <a:xfrm>
            <a:off x="6556248" y="2487168"/>
            <a:ext cx="471830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 = [</a:t>
            </a:r>
            <a:endParaRPr lang="en-US" sz="1620" dirty="0"/>
          </a:p>
          <a:p>
            <a:pPr algn="l" indent="0" marL="0">
              <a:buNone/>
            </a:pPr>
            <a:r>
              <a:rPr lang="en-US" sz="16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</a:t>
            </a:r>
            <a:endParaRPr lang="en-US" sz="1620" dirty="0"/>
          </a:p>
          <a:p>
            <a:pPr algn="l" indent="0" marL="0">
              <a:buNone/>
            </a:pPr>
            <a:r>
              <a:rPr lang="en-US" sz="16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score in scores</a:t>
            </a:r>
            <a:endParaRPr lang="en-US" sz="1620" dirty="0"/>
          </a:p>
          <a:p>
            <a:pPr algn="l" indent="0" marL="0">
              <a:buNone/>
            </a:pPr>
            <a:r>
              <a:rPr lang="en-US" sz="16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score &gt;= 51</a:t>
            </a:r>
            <a:endParaRPr lang="en-US" sz="1620" dirty="0"/>
          </a:p>
          <a:p>
            <a:pPr algn="l" indent="0" marL="0">
              <a:buNone/>
            </a:pPr>
            <a:r>
              <a:rPr lang="en-US" sz="16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620" dirty="0"/>
          </a:p>
        </p:txBody>
      </p:sp>
      <p:sp>
        <p:nvSpPr>
          <p:cNvPr id="17" name="Text 15"/>
          <p:cNvSpPr/>
          <p:nvPr/>
        </p:nvSpPr>
        <p:spPr>
          <a:xfrm>
            <a:off x="749808" y="54864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Comprehension je vhodný pre jednu krátku, čitateľnú transformáciu.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Kedy comprehension nepoužiť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804672" y="1783080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Použite radšej pomenované medzivýsledky a klasický cyklus, ak potrebujete: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859536" y="2606040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1298448" y="260604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viac vnorených iterácií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59536" y="3355848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1298448" y="335584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viac podmienok alebo vetvení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59536" y="4105656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1298448" y="4105656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side effects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59536" y="4855464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1298448" y="4855464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potreba pomenovaných medzivýsledkov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Rozhranie funkcie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700784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Podpis určuje očakávaný vstup, výsledok a spôsob zlyhania.</a:t>
            </a:r>
            <a:endParaRPr lang="en-US" sz="1850" dirty="0"/>
          </a:p>
        </p:txBody>
      </p:sp>
      <p:sp>
        <p:nvSpPr>
          <p:cNvPr id="10" name="Shape 8"/>
          <p:cNvSpPr/>
          <p:nvPr/>
        </p:nvSpPr>
        <p:spPr>
          <a:xfrm>
            <a:off x="731520" y="3017520"/>
            <a:ext cx="1920240" cy="786384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182112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parametre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2926080" y="3273552"/>
            <a:ext cx="182880" cy="256032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3017520"/>
            <a:ext cx="1920240" cy="786384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55848" y="3182112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validácia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440680" y="3273552"/>
            <a:ext cx="182880" cy="256032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60720" y="3017520"/>
            <a:ext cx="1920240" cy="786384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70448" y="3182112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spracovanie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366760" y="2395728"/>
            <a:ext cx="2423160" cy="786384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76488" y="2560320"/>
            <a:ext cx="2203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value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8366760" y="3877056"/>
            <a:ext cx="2423160" cy="786384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6488" y="4041648"/>
            <a:ext cx="2203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konkrétna výnimka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7936992" y="2670048"/>
            <a:ext cx="201168" cy="228600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36992" y="4151376"/>
            <a:ext cx="201168" cy="228600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Pozičné a keyword argumenty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5193792" cy="3255264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5193792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1947672"/>
            <a:ext cx="4754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POZÍCIA</a:t>
            </a:r>
            <a:endParaRPr lang="en-US" sz="810" dirty="0"/>
          </a:p>
        </p:txBody>
      </p:sp>
      <p:sp>
        <p:nvSpPr>
          <p:cNvPr id="12" name="Text 10"/>
          <p:cNvSpPr/>
          <p:nvPr/>
        </p:nvSpPr>
        <p:spPr>
          <a:xfrm>
            <a:off x="877824" y="2487168"/>
            <a:ext cx="471830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create_report(data,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"score",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True)</a:t>
            </a:r>
            <a:endParaRPr lang="en-US" sz="1720" dirty="0"/>
          </a:p>
        </p:txBody>
      </p:sp>
      <p:sp>
        <p:nvSpPr>
          <p:cNvPr id="13" name="Shape 11"/>
          <p:cNvSpPr/>
          <p:nvPr/>
        </p:nvSpPr>
        <p:spPr>
          <a:xfrm>
            <a:off x="6336792" y="1828800"/>
            <a:ext cx="5193792" cy="3255264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36792" y="1828800"/>
            <a:ext cx="5193792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56248" y="1947672"/>
            <a:ext cx="4754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KEYWORD</a:t>
            </a:r>
            <a:endParaRPr lang="en-US" sz="810" dirty="0"/>
          </a:p>
        </p:txBody>
      </p:sp>
      <p:sp>
        <p:nvSpPr>
          <p:cNvPr id="16" name="Text 14"/>
          <p:cNvSpPr/>
          <p:nvPr/>
        </p:nvSpPr>
        <p:spPr>
          <a:xfrm>
            <a:off x="6556248" y="2487168"/>
            <a:ext cx="471830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create_report(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data,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sort_by="score",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descending=True,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720" dirty="0"/>
          </a:p>
        </p:txBody>
      </p:sp>
      <p:sp>
        <p:nvSpPr>
          <p:cNvPr id="17" name="Text 15"/>
          <p:cNvSpPr/>
          <p:nvPr/>
        </p:nvSpPr>
        <p:spPr>
          <a:xfrm>
            <a:off x="749808" y="54864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Keyword argumenty robia význam volania viditeľný priamo na mieste použitia.</a:t>
            </a:r>
            <a:endParaRPr lang="en-US" sz="1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Type hints a statická kontrola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4114800" cy="320040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828800"/>
            <a:ext cx="411480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" y="1947672"/>
            <a:ext cx="3675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2" name="Text 10"/>
          <p:cNvSpPr/>
          <p:nvPr/>
        </p:nvSpPr>
        <p:spPr>
          <a:xfrm>
            <a:off x="950976" y="2487168"/>
            <a:ext cx="36393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average(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values: list[float]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float: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596128" y="257860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code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7141464" y="2944368"/>
            <a:ext cx="182880" cy="24688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70648" y="257860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 / type checker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9015984" y="2944368"/>
            <a:ext cx="182880" cy="24688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45168" y="257860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potenciálny problém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 spustením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5596128" y="42976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runtime type hints bežne nevynucuje.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Mutable default argument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5193792" cy="3255264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5193792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1947672"/>
            <a:ext cx="4754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ZLE</a:t>
            </a:r>
            <a:endParaRPr lang="en-US" sz="810" dirty="0"/>
          </a:p>
        </p:txBody>
      </p:sp>
      <p:sp>
        <p:nvSpPr>
          <p:cNvPr id="12" name="Text 10"/>
          <p:cNvSpPr/>
          <p:nvPr/>
        </p:nvSpPr>
        <p:spPr>
          <a:xfrm>
            <a:off x="877824" y="2487168"/>
            <a:ext cx="471830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add(name, students=[]):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students.append(name)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students</a:t>
            </a:r>
            <a:endParaRPr lang="en-US" sz="1720" dirty="0"/>
          </a:p>
        </p:txBody>
      </p:sp>
      <p:sp>
        <p:nvSpPr>
          <p:cNvPr id="13" name="Shape 11"/>
          <p:cNvSpPr/>
          <p:nvPr/>
        </p:nvSpPr>
        <p:spPr>
          <a:xfrm>
            <a:off x="6336792" y="1828800"/>
            <a:ext cx="5193792" cy="3255264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36792" y="1828800"/>
            <a:ext cx="5193792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56248" y="1947672"/>
            <a:ext cx="4754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SPRÁVNE</a:t>
            </a:r>
            <a:endParaRPr lang="en-US" sz="810" dirty="0"/>
          </a:p>
        </p:txBody>
      </p:sp>
      <p:sp>
        <p:nvSpPr>
          <p:cNvPr id="16" name="Text 14"/>
          <p:cNvSpPr/>
          <p:nvPr/>
        </p:nvSpPr>
        <p:spPr>
          <a:xfrm>
            <a:off x="6556248" y="2487168"/>
            <a:ext cx="471830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add(name, students=None):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students is None: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students = []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students.append(name)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students</a:t>
            </a:r>
            <a:endParaRPr lang="en-US" sz="1720" dirty="0"/>
          </a:p>
        </p:txBody>
      </p:sp>
      <p:sp>
        <p:nvSpPr>
          <p:cNvPr id="17" name="Text 15"/>
          <p:cNvSpPr/>
          <p:nvPr/>
        </p:nvSpPr>
        <p:spPr>
          <a:xfrm>
            <a:off x="749808" y="54864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 list vznikne pri definícii funkcie a potom sa zdieľa medzi volaniami.</a:t>
            </a:r>
            <a:endParaRPr lang="en-US" sz="1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Pomenovaný dátový záznam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8745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Tuple bez pomenovaných polí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49808" y="246888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("Anna", "Python", 92)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749808" y="32735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znamená index 1?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806440" y="1783080"/>
            <a:ext cx="0" cy="352044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8745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dataclass s pomenovanými poľami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355080" y="2395728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Result(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student="Anna",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course="Python",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points=92,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55080" y="43708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Význam dát je viditeľný priamo v kóde.</a:t>
            </a:r>
            <a:endParaRPr lang="en-US" sz="2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Definícia dataclass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Result: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student: str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course: str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points: int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passed(self) -&gt; bool: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self.points &gt;= 51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dataclass je vhodný, keď hodnoty spolu opisujú jednu doménovú vec.</a:t>
            </a:r>
            <a:endParaRPr lang="en-US" sz="172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Exception handling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700784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Volajúci kód má dostať konkrétnu chybu a rozhodnúť, ako na ňu zareaguje.</a:t>
            </a:r>
            <a:endParaRPr lang="en-US" sz="1850" dirty="0"/>
          </a:p>
        </p:txBody>
      </p:sp>
      <p:sp>
        <p:nvSpPr>
          <p:cNvPr id="10" name="Shape 8"/>
          <p:cNvSpPr/>
          <p:nvPr/>
        </p:nvSpPr>
        <p:spPr>
          <a:xfrm>
            <a:off x="777240" y="2880360"/>
            <a:ext cx="2606040" cy="1078992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3172968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operácia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int(raw)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721608" y="3255264"/>
            <a:ext cx="22860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60520" y="2880360"/>
            <a:ext cx="2606040" cy="1078992"/>
          </a:xfrm>
          <a:prstGeom prst="rect">
            <a:avLst/>
          </a:prstGeom>
          <a:solidFill>
            <a:srgbClr val="EAF3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3172968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104888" y="3255264"/>
            <a:ext cx="22860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43800" y="2880360"/>
            <a:ext cx="2606040" cy="1078992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08392" y="3172968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volajúci dostane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zmysluplnú chybu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86384" y="4828032"/>
            <a:ext cx="9921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Nie: broad except ani except: pass. Chyba sa nemá potichu stratiť.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Konkrétna výnimka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5193792" cy="3255264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5193792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1947672"/>
            <a:ext cx="4754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NEPRESNÉ</a:t>
            </a:r>
            <a:endParaRPr lang="en-US" sz="810" dirty="0"/>
          </a:p>
        </p:txBody>
      </p:sp>
      <p:sp>
        <p:nvSpPr>
          <p:cNvPr id="12" name="Text 10"/>
          <p:cNvSpPr/>
          <p:nvPr/>
        </p:nvSpPr>
        <p:spPr>
          <a:xfrm>
            <a:off x="877824" y="2487168"/>
            <a:ext cx="471830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 = int(raw)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except: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</a:t>
            </a:r>
            <a:endParaRPr lang="en-US" sz="1720" dirty="0"/>
          </a:p>
        </p:txBody>
      </p:sp>
      <p:sp>
        <p:nvSpPr>
          <p:cNvPr id="13" name="Shape 11"/>
          <p:cNvSpPr/>
          <p:nvPr/>
        </p:nvSpPr>
        <p:spPr>
          <a:xfrm>
            <a:off x="6336792" y="1828800"/>
            <a:ext cx="5193792" cy="3255264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36792" y="1828800"/>
            <a:ext cx="5193792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56248" y="1947672"/>
            <a:ext cx="4754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KONKRÉTNE</a:t>
            </a:r>
            <a:endParaRPr lang="en-US" sz="810" dirty="0"/>
          </a:p>
        </p:txBody>
      </p:sp>
      <p:sp>
        <p:nvSpPr>
          <p:cNvPr id="16" name="Text 14"/>
          <p:cNvSpPr/>
          <p:nvPr/>
        </p:nvSpPr>
        <p:spPr>
          <a:xfrm>
            <a:off x="6556248" y="2487168"/>
            <a:ext cx="471830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 = int(raw)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ValueError as error: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ValueError(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"score must be an integer"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from error</a:t>
            </a:r>
            <a:endParaRPr lang="en-US" sz="1720" dirty="0"/>
          </a:p>
        </p:txBody>
      </p:sp>
      <p:sp>
        <p:nvSpPr>
          <p:cNvPr id="17" name="Text 15"/>
          <p:cNvSpPr/>
          <p:nvPr/>
        </p:nvSpPr>
        <p:spPr>
          <a:xfrm>
            <a:off x="749808" y="54864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except: pass ukryje problém. Zachytávajte iba chybu, pri ktorej viete rozumne konať.</a:t>
            </a:r>
            <a:endParaRPr lang="en-US" sz="1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Modul a main()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841248" y="19019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41248" y="24505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sprístupní verejné funkcie modulu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37673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67C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execute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41248" y="431596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spustí program cez main()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806440" y="1828800"/>
            <a:ext cx="5349240" cy="356616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06440" y="1828800"/>
            <a:ext cx="534924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25896" y="1947672"/>
            <a:ext cx="49103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6" name="Text 14"/>
          <p:cNvSpPr/>
          <p:nvPr/>
        </p:nvSpPr>
        <p:spPr>
          <a:xfrm>
            <a:off x="6025896" y="2487168"/>
            <a:ext cx="4873752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report import build_summary</a:t>
            </a:r>
            <a:endParaRPr lang="en-US" sz="1660" dirty="0"/>
          </a:p>
          <a:p>
            <a:pPr algn="l" indent="0" marL="0">
              <a:buNone/>
            </a:pPr>
            <a:endParaRPr lang="en-US" sz="1660" dirty="0"/>
          </a:p>
          <a:p>
            <a:pPr algn="l" indent="0" marL="0">
              <a:buNone/>
            </a:pPr>
            <a:r>
              <a:rPr lang="en-US" sz="16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 -&gt; None:</a:t>
            </a:r>
            <a:endParaRPr lang="en-US" sz="1660" dirty="0"/>
          </a:p>
          <a:p>
            <a:pPr algn="l" indent="0" marL="0">
              <a:buNone/>
            </a:pPr>
            <a:r>
              <a:rPr lang="en-US" sz="16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print(build_summary("results.csv"))</a:t>
            </a:r>
            <a:endParaRPr lang="en-US" sz="1660" dirty="0"/>
          </a:p>
          <a:p>
            <a:pPr algn="l" indent="0" marL="0">
              <a:buNone/>
            </a:pPr>
            <a:endParaRPr lang="en-US" sz="1660" dirty="0"/>
          </a:p>
          <a:p>
            <a:pPr algn="l" indent="0" marL="0">
              <a:buNone/>
            </a:pPr>
            <a:r>
              <a:rPr lang="en-US" sz="16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660" dirty="0"/>
          </a:p>
          <a:p>
            <a:pPr algn="l" indent="0" marL="0">
              <a:buNone/>
            </a:pPr>
            <a:r>
              <a:rPr lang="en-US" sz="16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main()</a:t>
            </a:r>
            <a:endParaRPr lang="en-US" sz="166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Virtuálne prostredie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A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2423160" y="2487168"/>
            <a:ext cx="274320" cy="256032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88036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.venv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2423160" y="3474720"/>
            <a:ext cx="274320" cy="256032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8620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dependencies A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00800" y="1874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B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8001000" y="2487168"/>
            <a:ext cx="274320" cy="256032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288036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.venv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8001000" y="3474720"/>
            <a:ext cx="274320" cy="256032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388620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dependencies B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2960" y="5212080"/>
            <a:ext cx="9921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Každý projekt môže mať vlastné verzie knižníc bez zásahu do systémového Pythonu.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Projektové závislosti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28800"/>
            <a:ext cx="4937760" cy="32461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1828800"/>
            <a:ext cx="493776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1947672"/>
            <a:ext cx="44988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10" dirty="0"/>
          </a:p>
        </p:txBody>
      </p:sp>
      <p:sp>
        <p:nvSpPr>
          <p:cNvPr id="12" name="Text 10"/>
          <p:cNvSpPr/>
          <p:nvPr/>
        </p:nvSpPr>
        <p:spPr>
          <a:xfrm>
            <a:off x="932688" y="2487168"/>
            <a:ext cx="4462272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venv .venv</a:t>
            </a:r>
            <a:endParaRPr lang="en-US" sz="1740" dirty="0"/>
          </a:p>
          <a:p>
            <a:pPr algn="l" indent="0" marL="0">
              <a:buNone/>
            </a:pPr>
            <a:r>
              <a:rPr lang="en-US" sz="174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.venv\Scripts\activate</a:t>
            </a:r>
            <a:endParaRPr lang="en-US" sz="1740" dirty="0"/>
          </a:p>
          <a:p>
            <a:pPr algn="l" indent="0" marL="0">
              <a:buNone/>
            </a:pPr>
            <a:endParaRPr lang="en-US" sz="1740" dirty="0"/>
          </a:p>
          <a:p>
            <a:pPr algn="l" indent="0" marL="0">
              <a:buNone/>
            </a:pPr>
            <a:r>
              <a:rPr lang="en-US" sz="174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httpx</a:t>
            </a:r>
            <a:endParaRPr lang="en-US" sz="1740" dirty="0"/>
          </a:p>
        </p:txBody>
      </p:sp>
      <p:sp>
        <p:nvSpPr>
          <p:cNvPr id="13" name="Shape 11"/>
          <p:cNvSpPr/>
          <p:nvPr/>
        </p:nvSpPr>
        <p:spPr>
          <a:xfrm>
            <a:off x="6309360" y="1828800"/>
            <a:ext cx="4937760" cy="32461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828800"/>
            <a:ext cx="493776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28816" y="1947672"/>
            <a:ext cx="44988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pyproject.toml</a:t>
            </a:r>
            <a:endParaRPr lang="en-US" sz="810" dirty="0"/>
          </a:p>
        </p:txBody>
      </p:sp>
      <p:sp>
        <p:nvSpPr>
          <p:cNvPr id="16" name="Text 14"/>
          <p:cNvSpPr/>
          <p:nvPr/>
        </p:nvSpPr>
        <p:spPr>
          <a:xfrm>
            <a:off x="6528816" y="2487168"/>
            <a:ext cx="4462272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[project]</a:t>
            </a:r>
            <a:endParaRPr lang="en-US" sz="1740" dirty="0"/>
          </a:p>
          <a:p>
            <a:pPr algn="l" indent="0" marL="0">
              <a:buNone/>
            </a:pPr>
            <a:r>
              <a:rPr lang="en-US" sz="174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"course-report"</a:t>
            </a:r>
            <a:endParaRPr lang="en-US" sz="1740" dirty="0"/>
          </a:p>
          <a:p>
            <a:pPr algn="l" indent="0" marL="0">
              <a:buNone/>
            </a:pPr>
            <a:r>
              <a:rPr lang="en-US" sz="174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dependencies = [</a:t>
            </a:r>
            <a:endParaRPr lang="en-US" sz="1740" dirty="0"/>
          </a:p>
          <a:p>
            <a:pPr algn="l" indent="0" marL="0">
              <a:buNone/>
            </a:pPr>
            <a:r>
              <a:rPr lang="en-US" sz="174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"httpx&gt;=0.27",</a:t>
            </a:r>
            <a:endParaRPr lang="en-US" sz="1740" dirty="0"/>
          </a:p>
          <a:p>
            <a:pPr algn="l" indent="0" marL="0">
              <a:buNone/>
            </a:pPr>
            <a:r>
              <a:rPr lang="en-US" sz="174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740" dirty="0"/>
          </a:p>
        </p:txBody>
      </p:sp>
      <p:sp>
        <p:nvSpPr>
          <p:cNvPr id="17" name="Text 15"/>
          <p:cNvSpPr/>
          <p:nvPr/>
        </p:nvSpPr>
        <p:spPr>
          <a:xfrm>
            <a:off x="777240" y="5486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pyproject.toml opisuje závislosti potrebné na spustenie projektu na inom počítači.</a:t>
            </a:r>
            <a:endParaRPr lang="en-US" sz="2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Spracovanie výsledkov predmetu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passed_by_course(results: list[Result]) -&gt; dict[str, list[str]]: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grouped: dict[str, list[str]] = {}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result in results: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result.passed():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grouped.setdefault(result.course, []).append(result.student)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grouped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Kolekcie, dataclass, funkcia a type hints sú tu súčasťou jedného malého programu.</a:t>
            </a:r>
            <a:endParaRPr lang="en-US" sz="152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Výsledok spracovania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77240" y="1755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[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Result("Anna", "Python", 92),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Result("Peter", "Python", 67),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Result("Lucia", "Databázy", 45),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77240" y="41605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passed_by_course(results)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989320" y="1783080"/>
            <a:ext cx="0" cy="342900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7960" y="233172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2300" dirty="0"/>
          </a:p>
          <a:p>
            <a:pPr algn="l" indent="0" marL="0">
              <a:buNone/>
            </a:pPr>
            <a:r>
              <a:rPr lang="en-US" sz="23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"Python": ["Anna", "Peter"]</a:t>
            </a:r>
            <a:endParaRPr lang="en-US" sz="2300" dirty="0"/>
          </a:p>
          <a:p>
            <a:pPr algn="l" indent="0" marL="0">
              <a:buNone/>
            </a:pPr>
            <a:r>
              <a:rPr lang="en-US" sz="23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537960" y="416052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Výsledkom je obyčajný dict, ktorého štruktúru určuje otázka programu.</a:t>
            </a:r>
            <a:endParaRPr lang="en-US" sz="2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35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pre ďalšie týždne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248716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objekty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414016" y="2532888"/>
            <a:ext cx="201168" cy="219456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07792" y="248716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kolekcie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626864" y="2532888"/>
            <a:ext cx="201168" cy="219456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248716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funkcie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6839712" y="2532888"/>
            <a:ext cx="201168" cy="219456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33488" y="248716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moduly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052560" y="2532888"/>
            <a:ext cx="201168" cy="219456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46336" y="248716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aplikácia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68680" y="425196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Tieto princípy budeme používať pri automatizácii, GUI, HTTP, databázach a testovaní.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Úvod ku Pythonu</dc:title>
  <dc:subject>Programovanie v Pythone</dc:subject>
  <dc:creator>TUKE FEI</dc:creator>
  <cp:lastModifiedBy>TUKE FEI</cp:lastModifiedBy>
  <cp:revision>1</cp:revision>
  <dcterms:created xsi:type="dcterms:W3CDTF">2026-09-18T15:02:58Z</dcterms:created>
  <dcterms:modified xsi:type="dcterms:W3CDTF">2026-09-18T15:02:58Z</dcterms:modified>
</cp:coreProperties>
</file>