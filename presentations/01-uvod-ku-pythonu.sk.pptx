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829800" y="685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749808" y="2066544"/>
            <a:ext cx="99212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Úvod ku Pythonu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86384" y="3273552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Ako sa Python správa v rukách programátora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9808" y="5212080"/>
            <a:ext cx="224028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680192" y="62544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je dynamický jazyk. Nie je to jazyk bez typov.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 patrí objektu; meno iba odkazuje na objekt, ktorý môže neskôr nahradiť iný.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Jeden jazyk, rôzne druhy práce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6916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Rovnaké základy použijeme pri skriptoch, dátach, API aj desktopových nástrojoch.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494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automatizácia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324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645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dáta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4418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 API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559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3028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001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nástroje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Meno odkazuje na objekt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70078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 patrí objektu. Opätovné priradenie zmení väzbu mena, nie pôvodný objekt.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49808" y="2487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PÔVODNÁ VÄZBA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749808" y="2834640"/>
            <a:ext cx="1965960" cy="85953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108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962656" y="3108960"/>
            <a:ext cx="347472" cy="274320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38728" y="2761488"/>
            <a:ext cx="1828800" cy="1024128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48456" y="2999232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876288" y="2487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OPÄTOVNÉ PRIRADENIE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876288" y="2834640"/>
            <a:ext cx="1965960" cy="85953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86016" y="3108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89136" y="3108960"/>
            <a:ext cx="347472" cy="274320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65208" y="2761488"/>
            <a:ext cx="1828800" cy="1024128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74936" y="2999232"/>
            <a:ext cx="1609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"excellent"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68096" y="46451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Objekt 92 ďalej existuje; zmenila sa iba väzba mena score.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Priradenie a aliasing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[72, 91]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 = results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alias.append(45)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print(results)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print(alias)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[72, 91, 45]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[72, 91, 45]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Obe mená ukazujú na ten istý list objekt. Zmena sa nevykonala na mene, ale na objekte.</a:t>
            </a:r>
            <a:endParaRPr lang="en-US" sz="1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Kde vznikne nový objekt?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7007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Porovnajte priradenie, plytkú kópiu a vnorený list.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58368" y="2359152"/>
            <a:ext cx="5925312" cy="333756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359152"/>
            <a:ext cx="592531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478024"/>
            <a:ext cx="5486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877824" y="3017520"/>
            <a:ext cx="544982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= {"scores": [80, 90]}</a:t>
            </a:r>
            <a:endParaRPr lang="en-US" sz="1580" dirty="0"/>
          </a:p>
          <a:p>
            <a:pPr algn="l" indent="0" marL="0">
              <a:buNone/>
            </a:pPr>
            <a:r>
              <a:rPr lang="en-US" sz="15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= original.copy()</a:t>
            </a:r>
            <a:endParaRPr lang="en-US" sz="1580" dirty="0"/>
          </a:p>
          <a:p>
            <a:pPr algn="l" indent="0" marL="0">
              <a:buNone/>
            </a:pPr>
            <a:r>
              <a:rPr lang="en-US" sz="15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copy["scores"].append(100)</a:t>
            </a:r>
            <a:endParaRPr lang="en-US" sz="1580" dirty="0"/>
          </a:p>
          <a:p>
            <a:pPr algn="l" indent="0" marL="0">
              <a:buNone/>
            </a:pPr>
            <a:endParaRPr lang="en-US" sz="1580" dirty="0"/>
          </a:p>
          <a:p>
            <a:pPr algn="l" indent="0" marL="0">
              <a:buNone/>
            </a:pPr>
            <a:r>
              <a:rPr lang="en-US" sz="15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print(original["scores"])</a:t>
            </a:r>
            <a:endParaRPr lang="en-US" sz="1580" dirty="0"/>
          </a:p>
        </p:txBody>
      </p:sp>
      <p:sp>
        <p:nvSpPr>
          <p:cNvPr id="14" name="Text 12"/>
          <p:cNvSpPr/>
          <p:nvPr/>
        </p:nvSpPr>
        <p:spPr>
          <a:xfrm>
            <a:off x="7178040" y="243230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VÝSLEDOK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7178040" y="278892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[80, 90, 100]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50608" y="3401568"/>
            <a:ext cx="39776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assignment: nový objekt nevznikne</a:t>
            </a:r>
            <a:endParaRPr lang="en-US" sz="1470" dirty="0"/>
          </a:p>
          <a:p>
            <a:pPr marL="228600" indent="-228600">
              <a:buSzPct val="100000"/>
              <a:buChar char="•"/>
            </a:pPr>
            <a:r>
              <a:rPr lang="en-US" sz="14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shallow copy: nový je iba vonkajší objekt</a:t>
            </a:r>
            <a:endParaRPr lang="en-US" sz="1470" dirty="0"/>
          </a:p>
          <a:p>
            <a:pPr marL="228600" indent="-228600">
              <a:buSzPct val="100000"/>
              <a:buChar char="•"/>
            </a:pPr>
            <a:r>
              <a:rPr lang="en-US" sz="147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copy: nezávislé sú aj vnorené mutable objekty</a:t>
            </a:r>
            <a:endParaRPr lang="en-US" sz="14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Mutabilita mení objekt, nie väzbu mena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700784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 immutable hodnote vznikne nová hodnota. Pri mutable kolekcii môžeme zmeniť jej obsah na mieste.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749808" y="2487168"/>
            <a:ext cx="4800600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71576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3163824"/>
            <a:ext cx="4709160" cy="80467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163824"/>
            <a:ext cx="470916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3282696"/>
            <a:ext cx="4270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969264" y="3557016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scores.append(100)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786384" y="435254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[80, 90, 100]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95528" y="49011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list, dict, set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meníme obsah objektu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382512" y="2487168"/>
            <a:ext cx="4800600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715768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IMMUTABLE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82512" y="3163824"/>
            <a:ext cx="4709160" cy="80467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2512" y="3163824"/>
            <a:ext cx="470916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3282696"/>
            <a:ext cx="4270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6601968" y="3557016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= grade + "+"</a:t>
            </a:r>
            <a:endParaRPr lang="en-US" sz="1680" dirty="0"/>
          </a:p>
        </p:txBody>
      </p:sp>
      <p:sp>
        <p:nvSpPr>
          <p:cNvPr id="24" name="Text 22"/>
          <p:cNvSpPr/>
          <p:nvPr/>
        </p:nvSpPr>
        <p:spPr>
          <a:xfrm>
            <a:off x="6419088" y="435254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"A+"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428232" y="49011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str, tuple, int, float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vznikne nový objekt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Zdieľať alebo kopírovať?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Zdieľaný objekt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a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zmena cez b je viditeľná cez a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vhodné iba pri zámernom zdieľaní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Samostatná hodnota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a.copy()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nový vonkajší objekt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vnorené mutable objekty môžu zostať zdieľané</a:t>
            </a:r>
            <a:endParaRPr lang="en-US" sz="1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Plytká a hlboká kópia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dict.copy() kopíruje iba vonkajší slovník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deepcopy vytvorí nezávislú kópiu celého objektového grafu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deepcopy používajte iba vtedy, keď ho naozaj potrebujete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copy import deepcopy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= {"scores": [80, 90]}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shallow = original.copy()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 = deepcopy(original)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shallow["scores"].append(100)</a:t>
            </a:r>
            <a:endParaRPr lang="en-US" sz="15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Kolekciu vyberáme podľa operácie</a:t>
            </a:r>
            <a:endParaRPr lang="en-US" sz="2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poradie a opakovania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spracované súbory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tuple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pevný záznam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(x, y) súradnice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unikátne hodnoty alebo rýchly membership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oprávnenia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dict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hodnotu pod kľúčom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 → používateľ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Štruktúra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Keď potrebujeme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Príklad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Iterujte cez hodnoty, nie cez indexy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má význam iba vtedy, keď ho program naozaj používa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.items() pomenúva kľúč aj hodnotu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enumerate pridá poradové číslo bez range(len(...))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{"Anna": 92, "Peter": 67}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score in scores.items():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print(name, score)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index, name in enumerate(scores, start=1):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print(index, name)</a:t>
            </a:r>
            <a:endParaRPr lang="en-US" sz="15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zip spája súvisiace sekvencie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 = ["Anna", "Peter", "Lucia"]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 = [92, 67, 81]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score in zip(names, points):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print(f"{name}: {score}")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 majú hodnoty vlastnú identitu a pribúdajú ďalšie atribúty, zvyčajne je lepší dataclass než viac paralelných listov.</a:t>
            </a:r>
            <a:endParaRPr lang="en-US" sz="1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Slicing a unpacking vyjadrujú štruktúru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[10, 20, 30, 40, 50, 60]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first_three = values[:3]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every_second = values[::2]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reversed_copy = values[::-1]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first, *middle, last = values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print(first, middle, last)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Slicing vytvára novú sekvenciu. Unpacking je vhodný, keď majú časti záznamu jasný význam.</a:t>
            </a:r>
            <a:endParaRPr lang="en-US" sz="15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Comprehension skracuje jednu jasnú transformáciu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ČITATEĽNÝ CYKLUS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= []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score in scores: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score &gt;= 51: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passed.append(score ** 2)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JASNÝ COMPREHENSION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= [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** 2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score in scores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score &gt;= 51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 už musíme súčasne sledovať viac vnorených pravidiel, zvoľte pomenované medzivýsledky a cyklus.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Kratší zápis nemusí byť lepší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Čitateľ musí naraz sledovať tri vnorené kroky.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= 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course: sorted({result.student for result in results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if result.course == course and result.points &gt;= 51})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course in {result.course for result in results}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 zložitejšom pravidle radšej použite pomenované medzivýsledky a cyklus.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Comprehension nie je meradlo kvality Python kódu. Čitateľnosť má prednosť pred kompaktnosťou.</a:t>
            </a:r>
            <a:endParaRPr lang="en-US" sz="15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Funkcia je zmluva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70078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Dobrý podpis napovie, aké dáta funkcia prijíma, čo vracia a kedy môže zlyhať.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1920240" cy="786384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182112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parametre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2926080" y="3273552"/>
            <a:ext cx="182880" cy="256032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3017520"/>
            <a:ext cx="1920240" cy="786384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3182112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validácia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440680" y="3273552"/>
            <a:ext cx="182880" cy="256032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3017520"/>
            <a:ext cx="1920240" cy="786384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3182112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spracovanie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366760" y="2395728"/>
            <a:ext cx="2423160" cy="786384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76488" y="2560320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value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366760" y="3877056"/>
            <a:ext cx="2423160" cy="786384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76488" y="4041648"/>
            <a:ext cx="2203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konkrétna výnimka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936992" y="2670048"/>
            <a:ext cx="201168" cy="228600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6992" y="4151376"/>
            <a:ext cx="201168" cy="228600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 hints dopĺňajú kontrakt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average(values: list[float]) -&gt; float: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values: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ValueError("values must not be empty")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sum(values) / len(values)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hints pomáhajú čitateľovi, IDE a statickej kontrole. Samy osebe za behu nevynucujú typy.</a:t>
            </a:r>
            <a:endParaRPr lang="en-US" sz="1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Mutable default argument je zdieľaný stav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hodnota vznikne pri definícii funkcie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alebo dict sa potom zdieľa medzi volaniami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 vytvorí nový objekt až vo vnútri funkcie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add_student(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str, students: list[str] | None = None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list[str]: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students is None: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students = []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students.append(name)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students</a:t>
            </a:r>
            <a:endParaRPr lang="en-US" sz="15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Záznam bez mena alebo dátový model?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Tuple / dict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("Anna", "Python", 92)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význam pozícií si musíme pamätať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dáva zmysel pre malý lokálny záznam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dataclass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Result(student, course, points)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atribúty opisujú dáta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lepšie rozhranie vlastného programu</a:t>
            </a:r>
            <a:endParaRPr lang="en-US" sz="16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dataclass pomenúva doménový objekt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dataclasses import dataclass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Result: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student: str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course: str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points: int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passed(self) -&gt; bool: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self.points &gt;= 51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81635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Dataclass nie je povinný všade. Je užitočný tam, kde spolu hodnoty opisujú jednu vec.</a:t>
            </a:r>
            <a:endParaRPr lang="en-US" sz="17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Operácia môže zlyhať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700784"/>
            <a:ext cx="978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Zachytávame iba konkrétnu chybu, pri ktorej vieme volajúcemu kódu rozumne pomôcť.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777240" y="2880360"/>
            <a:ext cx="2606040" cy="1078992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17296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operácia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int(raw)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721608" y="3255264"/>
            <a:ext cx="22860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2880360"/>
            <a:ext cx="2606040" cy="1078992"/>
          </a:xfrm>
          <a:prstGeom prst="rect">
            <a:avLst/>
          </a:prstGeom>
          <a:solidFill>
            <a:srgbClr val="EAF3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5112" y="317296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104888" y="3255264"/>
            <a:ext cx="22860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2880360"/>
            <a:ext cx="2606040" cy="1078992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08392" y="3172968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volajúci dostane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zmysluplnú chybu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86384" y="4828032"/>
            <a:ext cx="9921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Nie: broad except ani except: pass. Chyba sa nemá potichu stratiť.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Konkrétna výnimka, konkrétna reakcia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int() môže zlyhať na nečíselnom vstupe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ValueError je súčasťou kontraktu tejto operácie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except: pass iba ukryje problém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read_score(raw: str) -&gt; int: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int(raw)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ValueError as error: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"score must be an integer"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 from error</a:t>
            </a:r>
            <a:endParaRPr lang="en-US" sz="15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 je rozhranie kódu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importujeme iba verejnú funkcionalitu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main() oddeľuje spustenie programu od importu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funkcie sa potom dajú testovať bez terminálu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report import build_summary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 -&gt; None: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 = build_summary("results.csv")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print(summary)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main()</a:t>
            </a:r>
            <a:endParaRPr lang="en-US" sz="15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Projekt potrebuje vlastné prostredie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145536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PRÍKAZY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1660" dirty="0"/>
          </a:p>
          <a:p>
            <a:pPr algn="l" indent="0" marL="0">
              <a:buNone/>
            </a:pPr>
            <a:r>
              <a:rPr lang="en-US" sz="16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</a:t>
            </a:r>
            <a:endParaRPr lang="en-US" sz="1660" dirty="0"/>
          </a:p>
          <a:p>
            <a:pPr algn="l" indent="0" marL="0">
              <a:buNone/>
            </a:pPr>
            <a:r>
              <a:rPr lang="en-US" sz="16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.venv\Scripts\activate</a:t>
            </a:r>
            <a:endParaRPr lang="en-US" sz="1660" dirty="0"/>
          </a:p>
          <a:p>
            <a:pPr algn="l" indent="0" marL="0">
              <a:buNone/>
            </a:pPr>
            <a:endParaRPr lang="en-US" sz="1660" dirty="0"/>
          </a:p>
          <a:p>
            <a:pPr algn="l" indent="0" marL="0">
              <a:buNone/>
            </a:pPr>
            <a:r>
              <a:rPr lang="en-US" sz="16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pip install httpx</a:t>
            </a:r>
            <a:endParaRPr lang="en-US" sz="166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145536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[project]</a:t>
            </a:r>
            <a:endParaRPr lang="en-US" sz="1660" dirty="0"/>
          </a:p>
          <a:p>
            <a:pPr algn="l" indent="0" marL="0">
              <a:buNone/>
            </a:pPr>
            <a:r>
              <a:rPr lang="en-US" sz="16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"course-report"</a:t>
            </a:r>
            <a:endParaRPr lang="en-US" sz="1660" dirty="0"/>
          </a:p>
          <a:p>
            <a:pPr algn="l" indent="0" marL="0">
              <a:buNone/>
            </a:pPr>
            <a:r>
              <a:rPr lang="en-US" sz="166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 = ["httpx&gt;=0.27"]</a:t>
            </a:r>
            <a:endParaRPr lang="en-US" sz="1660" dirty="0"/>
          </a:p>
        </p:txBody>
      </p:sp>
      <p:sp>
        <p:nvSpPr>
          <p:cNvPr id="17" name="Text 15"/>
          <p:cNvSpPr/>
          <p:nvPr/>
        </p:nvSpPr>
        <p:spPr>
          <a:xfrm>
            <a:off x="749808" y="5440680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Virtuálne prostredie izoluje dependencies. pyproject.toml popisuje, čo projekt potrebuje spustiť na inom počítači.</a:t>
            </a:r>
            <a:endParaRPr lang="en-US" sz="18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Malý program skladá známe časti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10899648" cy="4096512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55648"/>
            <a:ext cx="1089964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74520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96112" y="2304288"/>
            <a:ext cx="99212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passed_by_course(results: list[Result]) -&gt; dict[str, list[str]]: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grouped: dict[str, list[str]] = {}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result in results: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result.passed():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grouped.setdefault(result.course, []).append(result.student)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grouped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kolekcia + funkcia + dataclass + type hints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print(passed_by_course(results))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6053328"/>
            <a:ext cx="9921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Pythonic kód nevzniká jedným trikom. Vzniká z presných názvov, vhodných štruktúr a malých overiteľných častí.</a:t>
            </a:r>
            <a:endParaRPr lang="en-US" sz="15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PROGRAMOVANIE V PYTHONE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PREDNÁŠKA 01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26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Dobrý Python kód ukazuje zámer skôr než šikovnosť autora.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Tieto základy sa v ďalších týždňoch objavia pri súboroch, GUI, HTTP, databázach aj testovaní.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ku Pythonu</dc:title>
  <dc:subject>Programovanie v Pythone</dc:subject>
  <dc:creator>TUKE FEI</dc:creator>
  <cp:lastModifiedBy>TUKE FEI</cp:lastModifiedBy>
  <cp:revision>1</cp:revision>
  <dcterms:created xsi:type="dcterms:W3CDTF">2026-09-18T14:43:13Z</dcterms:created>
  <dcterms:modified xsi:type="dcterms:W3CDTF">2026-09-18T14:43:13Z</dcterms:modified>
</cp:coreProperties>
</file>